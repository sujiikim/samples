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i="1" u="sng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i="1" u="sng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i="1" u="sng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i="1" u="sng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i="1" u="sng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1" hangingPunct="1">
      <a:defRPr sz="2400" i="1" u="sng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1" hangingPunct="1">
      <a:defRPr sz="2400" i="1" u="sng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1" hangingPunct="1">
      <a:defRPr sz="2400" i="1" u="sng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1" hangingPunct="1">
      <a:defRPr sz="2400" i="1" u="sng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0946"/>
  </p:normalViewPr>
  <p:slideViewPr>
    <p:cSldViewPr showGuides="1">
      <p:cViewPr varScale="1">
        <p:scale>
          <a:sx n="112" d="100"/>
          <a:sy n="112" d="100"/>
        </p:scale>
        <p:origin x="728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09" name="Group 25">
            <a:extLst>
              <a:ext uri="{FF2B5EF4-FFF2-40B4-BE49-F238E27FC236}">
                <a16:creationId xmlns:a16="http://schemas.microsoft.com/office/drawing/2014/main" id="{205E9078-AEA4-4B13-7213-EAD1EA42E97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093200" cy="6856413"/>
            <a:chOff x="0" y="0"/>
            <a:chExt cx="5728" cy="4319"/>
          </a:xfrm>
        </p:grpSpPr>
        <p:grpSp>
          <p:nvGrpSpPr>
            <p:cNvPr id="16405" name="Group 21">
              <a:extLst>
                <a:ext uri="{FF2B5EF4-FFF2-40B4-BE49-F238E27FC236}">
                  <a16:creationId xmlns:a16="http://schemas.microsoft.com/office/drawing/2014/main" id="{47C13B16-32EF-7534-AF76-4A722C19F13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962" y="1947"/>
              <a:ext cx="4766" cy="119"/>
              <a:chOff x="993" y="1028"/>
              <a:chExt cx="4766" cy="119"/>
            </a:xfrm>
          </p:grpSpPr>
          <p:sp>
            <p:nvSpPr>
              <p:cNvPr id="16394" name="Rectangle 10">
                <a:extLst>
                  <a:ext uri="{FF2B5EF4-FFF2-40B4-BE49-F238E27FC236}">
                    <a16:creationId xmlns:a16="http://schemas.microsoft.com/office/drawing/2014/main" id="{D2BEB8C6-64FB-3FFC-2554-2A3C0D70DAA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>
                <a:off x="996" y="1035"/>
                <a:ext cx="4763" cy="106"/>
              </a:xfrm>
              <a:prstGeom prst="rect">
                <a:avLst/>
              </a:prstGeom>
              <a:gradFill rotWithShape="0">
                <a:gsLst>
                  <a:gs pos="0">
                    <a:srgbClr val="825600"/>
                  </a:gs>
                  <a:gs pos="13000">
                    <a:srgbClr val="FFA800"/>
                  </a:gs>
                  <a:gs pos="28000">
                    <a:srgbClr val="825600"/>
                  </a:gs>
                  <a:gs pos="42999">
                    <a:srgbClr val="FFA800"/>
                  </a:gs>
                  <a:gs pos="58000">
                    <a:srgbClr val="825600"/>
                  </a:gs>
                  <a:gs pos="72000">
                    <a:srgbClr val="FFA800"/>
                  </a:gs>
                  <a:gs pos="87000">
                    <a:srgbClr val="825600"/>
                  </a:gs>
                  <a:gs pos="100000">
                    <a:srgbClr val="FFA80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395" name="Line 11">
                <a:extLst>
                  <a:ext uri="{FF2B5EF4-FFF2-40B4-BE49-F238E27FC236}">
                    <a16:creationId xmlns:a16="http://schemas.microsoft.com/office/drawing/2014/main" id="{AA4C03ED-84C8-644F-4F26-8D1B0939708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999" y="1145"/>
                <a:ext cx="4760" cy="0"/>
              </a:xfrm>
              <a:prstGeom prst="line">
                <a:avLst/>
              </a:prstGeom>
              <a:noFill/>
              <a:ln w="12700">
                <a:solidFill>
                  <a:srgbClr val="996633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396" name="Line 12">
                <a:extLst>
                  <a:ext uri="{FF2B5EF4-FFF2-40B4-BE49-F238E27FC236}">
                    <a16:creationId xmlns:a16="http://schemas.microsoft.com/office/drawing/2014/main" id="{B501AF96-1C59-0391-3572-CBD607ACC7A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999" y="1121"/>
                <a:ext cx="4760" cy="0"/>
              </a:xfrm>
              <a:prstGeom prst="line">
                <a:avLst/>
              </a:prstGeom>
              <a:noFill/>
              <a:ln w="12700">
                <a:solidFill>
                  <a:srgbClr val="996633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397" name="Line 13">
                <a:extLst>
                  <a:ext uri="{FF2B5EF4-FFF2-40B4-BE49-F238E27FC236}">
                    <a16:creationId xmlns:a16="http://schemas.microsoft.com/office/drawing/2014/main" id="{0D9CF028-39B6-DD8A-4E22-6AFF1BEEDE4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999" y="1091"/>
                <a:ext cx="4760" cy="0"/>
              </a:xfrm>
              <a:prstGeom prst="line">
                <a:avLst/>
              </a:prstGeom>
              <a:noFill/>
              <a:ln w="12700">
                <a:solidFill>
                  <a:srgbClr val="996633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398" name="Line 14">
                <a:extLst>
                  <a:ext uri="{FF2B5EF4-FFF2-40B4-BE49-F238E27FC236}">
                    <a16:creationId xmlns:a16="http://schemas.microsoft.com/office/drawing/2014/main" id="{69234BDD-9B1E-60E2-484C-912207BF519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999" y="1057"/>
                <a:ext cx="4760" cy="0"/>
              </a:xfrm>
              <a:prstGeom prst="line">
                <a:avLst/>
              </a:prstGeom>
              <a:noFill/>
              <a:ln w="12700">
                <a:solidFill>
                  <a:srgbClr val="996633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399" name="Freeform 15">
                <a:extLst>
                  <a:ext uri="{FF2B5EF4-FFF2-40B4-BE49-F238E27FC236}">
                    <a16:creationId xmlns:a16="http://schemas.microsoft.com/office/drawing/2014/main" id="{5C6A28A3-2427-338F-902F-EDBB3B1A17F4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993" y="1028"/>
                <a:ext cx="4765" cy="119"/>
              </a:xfrm>
              <a:custGeom>
                <a:avLst/>
                <a:gdLst>
                  <a:gd name="T0" fmla="*/ 0 w 4765"/>
                  <a:gd name="T1" fmla="*/ 118 h 119"/>
                  <a:gd name="T2" fmla="*/ 0 w 4765"/>
                  <a:gd name="T3" fmla="*/ 0 h 119"/>
                  <a:gd name="T4" fmla="*/ 4764 w 4765"/>
                  <a:gd name="T5" fmla="*/ 0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765" h="119">
                    <a:moveTo>
                      <a:pt x="0" y="118"/>
                    </a:moveTo>
                    <a:lnTo>
                      <a:pt x="0" y="0"/>
                    </a:lnTo>
                    <a:lnTo>
                      <a:pt x="4764" y="0"/>
                    </a:lnTo>
                  </a:path>
                </a:pathLst>
              </a:custGeom>
              <a:noFill/>
              <a:ln w="12700" cap="rnd" cmpd="sng">
                <a:solidFill>
                  <a:srgbClr val="FFCC66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6407" name="Group 23">
              <a:extLst>
                <a:ext uri="{FF2B5EF4-FFF2-40B4-BE49-F238E27FC236}">
                  <a16:creationId xmlns:a16="http://schemas.microsoft.com/office/drawing/2014/main" id="{DE311A7A-2976-FCFA-E006-719A5DA6585E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0"/>
              <a:ext cx="928" cy="4319"/>
              <a:chOff x="0" y="0"/>
              <a:chExt cx="928" cy="4319"/>
            </a:xfrm>
          </p:grpSpPr>
          <p:sp>
            <p:nvSpPr>
              <p:cNvPr id="16388" name="Rectangle 4">
                <a:extLst>
                  <a:ext uri="{FF2B5EF4-FFF2-40B4-BE49-F238E27FC236}">
                    <a16:creationId xmlns:a16="http://schemas.microsoft.com/office/drawing/2014/main" id="{68F70153-4922-E802-E90B-3E652EB47F54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0" y="0"/>
                <a:ext cx="923" cy="43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grpSp>
            <p:nvGrpSpPr>
              <p:cNvPr id="16406" name="Group 22">
                <a:extLst>
                  <a:ext uri="{FF2B5EF4-FFF2-40B4-BE49-F238E27FC236}">
                    <a16:creationId xmlns:a16="http://schemas.microsoft.com/office/drawing/2014/main" id="{B8090663-1349-CD3B-8E00-0EB55C37FC06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0" y="41"/>
                <a:ext cx="928" cy="4035"/>
                <a:chOff x="0" y="41"/>
                <a:chExt cx="928" cy="4035"/>
              </a:xfrm>
            </p:grpSpPr>
            <p:pic>
              <p:nvPicPr>
                <p:cNvPr id="16389" name="Picture 5">
                  <a:extLst>
                    <a:ext uri="{FF2B5EF4-FFF2-40B4-BE49-F238E27FC236}">
                      <a16:creationId xmlns:a16="http://schemas.microsoft.com/office/drawing/2014/main" id="{70586815-B2EB-F0AD-991F-48A11388456E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ltGray">
                <a:xfrm>
                  <a:off x="0" y="1014"/>
                  <a:ext cx="920" cy="9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16390" name="Freeform 6">
                  <a:extLst>
                    <a:ext uri="{FF2B5EF4-FFF2-40B4-BE49-F238E27FC236}">
                      <a16:creationId xmlns:a16="http://schemas.microsoft.com/office/drawing/2014/main" id="{95B21365-AB49-C590-54C9-7B02F650A062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38" y="41"/>
                  <a:ext cx="890" cy="916"/>
                </a:xfrm>
                <a:custGeom>
                  <a:avLst/>
                  <a:gdLst>
                    <a:gd name="T0" fmla="*/ 307 w 890"/>
                    <a:gd name="T1" fmla="*/ 292 h 916"/>
                    <a:gd name="T2" fmla="*/ 307 w 890"/>
                    <a:gd name="T3" fmla="*/ 234 h 916"/>
                    <a:gd name="T4" fmla="*/ 261 w 890"/>
                    <a:gd name="T5" fmla="*/ 159 h 916"/>
                    <a:gd name="T6" fmla="*/ 247 w 890"/>
                    <a:gd name="T7" fmla="*/ 91 h 916"/>
                    <a:gd name="T8" fmla="*/ 225 w 890"/>
                    <a:gd name="T9" fmla="*/ 24 h 916"/>
                    <a:gd name="T10" fmla="*/ 259 w 890"/>
                    <a:gd name="T11" fmla="*/ 21 h 916"/>
                    <a:gd name="T12" fmla="*/ 298 w 890"/>
                    <a:gd name="T13" fmla="*/ 82 h 916"/>
                    <a:gd name="T14" fmla="*/ 322 w 890"/>
                    <a:gd name="T15" fmla="*/ 118 h 916"/>
                    <a:gd name="T16" fmla="*/ 358 w 890"/>
                    <a:gd name="T17" fmla="*/ 180 h 916"/>
                    <a:gd name="T18" fmla="*/ 406 w 890"/>
                    <a:gd name="T19" fmla="*/ 240 h 916"/>
                    <a:gd name="T20" fmla="*/ 505 w 890"/>
                    <a:gd name="T21" fmla="*/ 184 h 916"/>
                    <a:gd name="T22" fmla="*/ 514 w 890"/>
                    <a:gd name="T23" fmla="*/ 118 h 916"/>
                    <a:gd name="T24" fmla="*/ 552 w 890"/>
                    <a:gd name="T25" fmla="*/ 69 h 916"/>
                    <a:gd name="T26" fmla="*/ 589 w 890"/>
                    <a:gd name="T27" fmla="*/ 13 h 916"/>
                    <a:gd name="T28" fmla="*/ 615 w 890"/>
                    <a:gd name="T29" fmla="*/ 16 h 916"/>
                    <a:gd name="T30" fmla="*/ 600 w 890"/>
                    <a:gd name="T31" fmla="*/ 49 h 916"/>
                    <a:gd name="T32" fmla="*/ 592 w 890"/>
                    <a:gd name="T33" fmla="*/ 124 h 916"/>
                    <a:gd name="T34" fmla="*/ 574 w 890"/>
                    <a:gd name="T35" fmla="*/ 186 h 916"/>
                    <a:gd name="T36" fmla="*/ 568 w 890"/>
                    <a:gd name="T37" fmla="*/ 282 h 916"/>
                    <a:gd name="T38" fmla="*/ 645 w 890"/>
                    <a:gd name="T39" fmla="*/ 325 h 916"/>
                    <a:gd name="T40" fmla="*/ 720 w 890"/>
                    <a:gd name="T41" fmla="*/ 277 h 916"/>
                    <a:gd name="T42" fmla="*/ 816 w 890"/>
                    <a:gd name="T43" fmla="*/ 253 h 916"/>
                    <a:gd name="T44" fmla="*/ 861 w 890"/>
                    <a:gd name="T45" fmla="*/ 279 h 916"/>
                    <a:gd name="T46" fmla="*/ 796 w 890"/>
                    <a:gd name="T47" fmla="*/ 324 h 916"/>
                    <a:gd name="T48" fmla="*/ 735 w 890"/>
                    <a:gd name="T49" fmla="*/ 352 h 916"/>
                    <a:gd name="T50" fmla="*/ 669 w 890"/>
                    <a:gd name="T51" fmla="*/ 409 h 916"/>
                    <a:gd name="T52" fmla="*/ 673 w 890"/>
                    <a:gd name="T53" fmla="*/ 510 h 916"/>
                    <a:gd name="T54" fmla="*/ 751 w 890"/>
                    <a:gd name="T55" fmla="*/ 535 h 916"/>
                    <a:gd name="T56" fmla="*/ 819 w 890"/>
                    <a:gd name="T57" fmla="*/ 577 h 916"/>
                    <a:gd name="T58" fmla="*/ 874 w 890"/>
                    <a:gd name="T59" fmla="*/ 606 h 916"/>
                    <a:gd name="T60" fmla="*/ 867 w 890"/>
                    <a:gd name="T61" fmla="*/ 637 h 916"/>
                    <a:gd name="T62" fmla="*/ 807 w 890"/>
                    <a:gd name="T63" fmla="*/ 618 h 916"/>
                    <a:gd name="T64" fmla="*/ 736 w 890"/>
                    <a:gd name="T65" fmla="*/ 592 h 916"/>
                    <a:gd name="T66" fmla="*/ 615 w 890"/>
                    <a:gd name="T67" fmla="*/ 588 h 916"/>
                    <a:gd name="T68" fmla="*/ 576 w 890"/>
                    <a:gd name="T69" fmla="*/ 628 h 916"/>
                    <a:gd name="T70" fmla="*/ 618 w 890"/>
                    <a:gd name="T71" fmla="*/ 723 h 916"/>
                    <a:gd name="T72" fmla="*/ 640 w 890"/>
                    <a:gd name="T73" fmla="*/ 807 h 916"/>
                    <a:gd name="T74" fmla="*/ 664 w 890"/>
                    <a:gd name="T75" fmla="*/ 889 h 916"/>
                    <a:gd name="T76" fmla="*/ 624 w 890"/>
                    <a:gd name="T77" fmla="*/ 870 h 916"/>
                    <a:gd name="T78" fmla="*/ 568 w 890"/>
                    <a:gd name="T79" fmla="*/ 789 h 916"/>
                    <a:gd name="T80" fmla="*/ 513 w 890"/>
                    <a:gd name="T81" fmla="*/ 708 h 916"/>
                    <a:gd name="T82" fmla="*/ 390 w 890"/>
                    <a:gd name="T83" fmla="*/ 730 h 916"/>
                    <a:gd name="T84" fmla="*/ 339 w 890"/>
                    <a:gd name="T85" fmla="*/ 838 h 916"/>
                    <a:gd name="T86" fmla="*/ 285 w 890"/>
                    <a:gd name="T87" fmla="*/ 915 h 916"/>
                    <a:gd name="T88" fmla="*/ 276 w 890"/>
                    <a:gd name="T89" fmla="*/ 867 h 916"/>
                    <a:gd name="T90" fmla="*/ 298 w 890"/>
                    <a:gd name="T91" fmla="*/ 766 h 916"/>
                    <a:gd name="T92" fmla="*/ 324 w 890"/>
                    <a:gd name="T93" fmla="*/ 664 h 916"/>
                    <a:gd name="T94" fmla="*/ 283 w 890"/>
                    <a:gd name="T95" fmla="*/ 583 h 916"/>
                    <a:gd name="T96" fmla="*/ 201 w 890"/>
                    <a:gd name="T97" fmla="*/ 619 h 916"/>
                    <a:gd name="T98" fmla="*/ 88 w 890"/>
                    <a:gd name="T99" fmla="*/ 655 h 916"/>
                    <a:gd name="T100" fmla="*/ 16 w 890"/>
                    <a:gd name="T101" fmla="*/ 655 h 916"/>
                    <a:gd name="T102" fmla="*/ 94 w 890"/>
                    <a:gd name="T103" fmla="*/ 606 h 916"/>
                    <a:gd name="T104" fmla="*/ 162 w 890"/>
                    <a:gd name="T105" fmla="*/ 567 h 916"/>
                    <a:gd name="T106" fmla="*/ 247 w 890"/>
                    <a:gd name="T107" fmla="*/ 504 h 916"/>
                    <a:gd name="T108" fmla="*/ 190 w 890"/>
                    <a:gd name="T109" fmla="*/ 390 h 916"/>
                    <a:gd name="T110" fmla="*/ 81 w 890"/>
                    <a:gd name="T111" fmla="*/ 355 h 916"/>
                    <a:gd name="T112" fmla="*/ 3 w 890"/>
                    <a:gd name="T113" fmla="*/ 307 h 916"/>
                    <a:gd name="T114" fmla="*/ 39 w 890"/>
                    <a:gd name="T115" fmla="*/ 286 h 916"/>
                    <a:gd name="T116" fmla="*/ 115 w 890"/>
                    <a:gd name="T117" fmla="*/ 306 h 916"/>
                    <a:gd name="T118" fmla="*/ 226 w 890"/>
                    <a:gd name="T119" fmla="*/ 327 h 9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890" h="916">
                      <a:moveTo>
                        <a:pt x="279" y="334"/>
                      </a:moveTo>
                      <a:lnTo>
                        <a:pt x="292" y="312"/>
                      </a:lnTo>
                      <a:lnTo>
                        <a:pt x="307" y="292"/>
                      </a:lnTo>
                      <a:lnTo>
                        <a:pt x="324" y="276"/>
                      </a:lnTo>
                      <a:lnTo>
                        <a:pt x="313" y="255"/>
                      </a:lnTo>
                      <a:lnTo>
                        <a:pt x="307" y="234"/>
                      </a:lnTo>
                      <a:lnTo>
                        <a:pt x="288" y="202"/>
                      </a:lnTo>
                      <a:lnTo>
                        <a:pt x="274" y="181"/>
                      </a:lnTo>
                      <a:lnTo>
                        <a:pt x="261" y="159"/>
                      </a:lnTo>
                      <a:lnTo>
                        <a:pt x="256" y="139"/>
                      </a:lnTo>
                      <a:lnTo>
                        <a:pt x="256" y="118"/>
                      </a:lnTo>
                      <a:lnTo>
                        <a:pt x="247" y="91"/>
                      </a:lnTo>
                      <a:lnTo>
                        <a:pt x="237" y="70"/>
                      </a:lnTo>
                      <a:lnTo>
                        <a:pt x="226" y="46"/>
                      </a:lnTo>
                      <a:lnTo>
                        <a:pt x="225" y="24"/>
                      </a:lnTo>
                      <a:lnTo>
                        <a:pt x="232" y="10"/>
                      </a:lnTo>
                      <a:lnTo>
                        <a:pt x="247" y="9"/>
                      </a:lnTo>
                      <a:lnTo>
                        <a:pt x="259" y="21"/>
                      </a:lnTo>
                      <a:lnTo>
                        <a:pt x="270" y="46"/>
                      </a:lnTo>
                      <a:lnTo>
                        <a:pt x="280" y="61"/>
                      </a:lnTo>
                      <a:lnTo>
                        <a:pt x="298" y="82"/>
                      </a:lnTo>
                      <a:lnTo>
                        <a:pt x="309" y="88"/>
                      </a:lnTo>
                      <a:lnTo>
                        <a:pt x="315" y="99"/>
                      </a:lnTo>
                      <a:lnTo>
                        <a:pt x="322" y="118"/>
                      </a:lnTo>
                      <a:lnTo>
                        <a:pt x="330" y="141"/>
                      </a:lnTo>
                      <a:lnTo>
                        <a:pt x="339" y="160"/>
                      </a:lnTo>
                      <a:lnTo>
                        <a:pt x="358" y="180"/>
                      </a:lnTo>
                      <a:lnTo>
                        <a:pt x="379" y="205"/>
                      </a:lnTo>
                      <a:lnTo>
                        <a:pt x="399" y="225"/>
                      </a:lnTo>
                      <a:lnTo>
                        <a:pt x="406" y="240"/>
                      </a:lnTo>
                      <a:lnTo>
                        <a:pt x="474" y="241"/>
                      </a:lnTo>
                      <a:lnTo>
                        <a:pt x="495" y="208"/>
                      </a:lnTo>
                      <a:lnTo>
                        <a:pt x="505" y="184"/>
                      </a:lnTo>
                      <a:lnTo>
                        <a:pt x="507" y="160"/>
                      </a:lnTo>
                      <a:lnTo>
                        <a:pt x="510" y="141"/>
                      </a:lnTo>
                      <a:lnTo>
                        <a:pt x="514" y="118"/>
                      </a:lnTo>
                      <a:lnTo>
                        <a:pt x="529" y="94"/>
                      </a:lnTo>
                      <a:lnTo>
                        <a:pt x="540" y="85"/>
                      </a:lnTo>
                      <a:lnTo>
                        <a:pt x="552" y="69"/>
                      </a:lnTo>
                      <a:lnTo>
                        <a:pt x="561" y="45"/>
                      </a:lnTo>
                      <a:lnTo>
                        <a:pt x="571" y="27"/>
                      </a:lnTo>
                      <a:lnTo>
                        <a:pt x="589" y="13"/>
                      </a:lnTo>
                      <a:lnTo>
                        <a:pt x="604" y="0"/>
                      </a:lnTo>
                      <a:lnTo>
                        <a:pt x="613" y="6"/>
                      </a:lnTo>
                      <a:lnTo>
                        <a:pt x="615" y="16"/>
                      </a:lnTo>
                      <a:lnTo>
                        <a:pt x="606" y="27"/>
                      </a:lnTo>
                      <a:lnTo>
                        <a:pt x="603" y="34"/>
                      </a:lnTo>
                      <a:lnTo>
                        <a:pt x="600" y="49"/>
                      </a:lnTo>
                      <a:lnTo>
                        <a:pt x="600" y="79"/>
                      </a:lnTo>
                      <a:lnTo>
                        <a:pt x="600" y="103"/>
                      </a:lnTo>
                      <a:lnTo>
                        <a:pt x="592" y="124"/>
                      </a:lnTo>
                      <a:lnTo>
                        <a:pt x="583" y="145"/>
                      </a:lnTo>
                      <a:lnTo>
                        <a:pt x="576" y="162"/>
                      </a:lnTo>
                      <a:lnTo>
                        <a:pt x="574" y="186"/>
                      </a:lnTo>
                      <a:lnTo>
                        <a:pt x="574" y="216"/>
                      </a:lnTo>
                      <a:lnTo>
                        <a:pt x="568" y="244"/>
                      </a:lnTo>
                      <a:lnTo>
                        <a:pt x="568" y="282"/>
                      </a:lnTo>
                      <a:lnTo>
                        <a:pt x="588" y="300"/>
                      </a:lnTo>
                      <a:lnTo>
                        <a:pt x="607" y="325"/>
                      </a:lnTo>
                      <a:lnTo>
                        <a:pt x="645" y="325"/>
                      </a:lnTo>
                      <a:lnTo>
                        <a:pt x="678" y="312"/>
                      </a:lnTo>
                      <a:lnTo>
                        <a:pt x="697" y="292"/>
                      </a:lnTo>
                      <a:lnTo>
                        <a:pt x="720" y="277"/>
                      </a:lnTo>
                      <a:lnTo>
                        <a:pt x="777" y="274"/>
                      </a:lnTo>
                      <a:lnTo>
                        <a:pt x="801" y="265"/>
                      </a:lnTo>
                      <a:lnTo>
                        <a:pt x="816" y="253"/>
                      </a:lnTo>
                      <a:lnTo>
                        <a:pt x="859" y="252"/>
                      </a:lnTo>
                      <a:lnTo>
                        <a:pt x="865" y="265"/>
                      </a:lnTo>
                      <a:lnTo>
                        <a:pt x="861" y="279"/>
                      </a:lnTo>
                      <a:lnTo>
                        <a:pt x="843" y="288"/>
                      </a:lnTo>
                      <a:lnTo>
                        <a:pt x="819" y="300"/>
                      </a:lnTo>
                      <a:lnTo>
                        <a:pt x="796" y="324"/>
                      </a:lnTo>
                      <a:lnTo>
                        <a:pt x="786" y="334"/>
                      </a:lnTo>
                      <a:lnTo>
                        <a:pt x="765" y="343"/>
                      </a:lnTo>
                      <a:lnTo>
                        <a:pt x="735" y="352"/>
                      </a:lnTo>
                      <a:lnTo>
                        <a:pt x="714" y="367"/>
                      </a:lnTo>
                      <a:lnTo>
                        <a:pt x="687" y="390"/>
                      </a:lnTo>
                      <a:lnTo>
                        <a:pt x="669" y="409"/>
                      </a:lnTo>
                      <a:lnTo>
                        <a:pt x="649" y="420"/>
                      </a:lnTo>
                      <a:lnTo>
                        <a:pt x="648" y="481"/>
                      </a:lnTo>
                      <a:lnTo>
                        <a:pt x="673" y="510"/>
                      </a:lnTo>
                      <a:lnTo>
                        <a:pt x="703" y="526"/>
                      </a:lnTo>
                      <a:lnTo>
                        <a:pt x="730" y="531"/>
                      </a:lnTo>
                      <a:lnTo>
                        <a:pt x="751" y="535"/>
                      </a:lnTo>
                      <a:lnTo>
                        <a:pt x="777" y="549"/>
                      </a:lnTo>
                      <a:lnTo>
                        <a:pt x="795" y="567"/>
                      </a:lnTo>
                      <a:lnTo>
                        <a:pt x="819" y="577"/>
                      </a:lnTo>
                      <a:lnTo>
                        <a:pt x="846" y="583"/>
                      </a:lnTo>
                      <a:lnTo>
                        <a:pt x="861" y="592"/>
                      </a:lnTo>
                      <a:lnTo>
                        <a:pt x="874" y="606"/>
                      </a:lnTo>
                      <a:lnTo>
                        <a:pt x="889" y="621"/>
                      </a:lnTo>
                      <a:lnTo>
                        <a:pt x="888" y="634"/>
                      </a:lnTo>
                      <a:lnTo>
                        <a:pt x="867" y="637"/>
                      </a:lnTo>
                      <a:lnTo>
                        <a:pt x="853" y="631"/>
                      </a:lnTo>
                      <a:lnTo>
                        <a:pt x="832" y="618"/>
                      </a:lnTo>
                      <a:lnTo>
                        <a:pt x="807" y="618"/>
                      </a:lnTo>
                      <a:lnTo>
                        <a:pt x="780" y="618"/>
                      </a:lnTo>
                      <a:lnTo>
                        <a:pt x="759" y="615"/>
                      </a:lnTo>
                      <a:lnTo>
                        <a:pt x="736" y="592"/>
                      </a:lnTo>
                      <a:lnTo>
                        <a:pt x="718" y="588"/>
                      </a:lnTo>
                      <a:lnTo>
                        <a:pt x="684" y="588"/>
                      </a:lnTo>
                      <a:lnTo>
                        <a:pt x="615" y="588"/>
                      </a:lnTo>
                      <a:lnTo>
                        <a:pt x="604" y="606"/>
                      </a:lnTo>
                      <a:lnTo>
                        <a:pt x="589" y="621"/>
                      </a:lnTo>
                      <a:lnTo>
                        <a:pt x="576" y="628"/>
                      </a:lnTo>
                      <a:lnTo>
                        <a:pt x="580" y="666"/>
                      </a:lnTo>
                      <a:lnTo>
                        <a:pt x="600" y="702"/>
                      </a:lnTo>
                      <a:lnTo>
                        <a:pt x="618" y="723"/>
                      </a:lnTo>
                      <a:lnTo>
                        <a:pt x="630" y="753"/>
                      </a:lnTo>
                      <a:lnTo>
                        <a:pt x="631" y="787"/>
                      </a:lnTo>
                      <a:lnTo>
                        <a:pt x="640" y="807"/>
                      </a:lnTo>
                      <a:lnTo>
                        <a:pt x="654" y="838"/>
                      </a:lnTo>
                      <a:lnTo>
                        <a:pt x="664" y="862"/>
                      </a:lnTo>
                      <a:lnTo>
                        <a:pt x="664" y="889"/>
                      </a:lnTo>
                      <a:lnTo>
                        <a:pt x="654" y="898"/>
                      </a:lnTo>
                      <a:lnTo>
                        <a:pt x="642" y="898"/>
                      </a:lnTo>
                      <a:lnTo>
                        <a:pt x="624" y="870"/>
                      </a:lnTo>
                      <a:lnTo>
                        <a:pt x="612" y="837"/>
                      </a:lnTo>
                      <a:lnTo>
                        <a:pt x="583" y="808"/>
                      </a:lnTo>
                      <a:lnTo>
                        <a:pt x="568" y="789"/>
                      </a:lnTo>
                      <a:lnTo>
                        <a:pt x="556" y="760"/>
                      </a:lnTo>
                      <a:lnTo>
                        <a:pt x="549" y="738"/>
                      </a:lnTo>
                      <a:lnTo>
                        <a:pt x="513" y="708"/>
                      </a:lnTo>
                      <a:lnTo>
                        <a:pt x="489" y="682"/>
                      </a:lnTo>
                      <a:lnTo>
                        <a:pt x="415" y="684"/>
                      </a:lnTo>
                      <a:lnTo>
                        <a:pt x="390" y="730"/>
                      </a:lnTo>
                      <a:lnTo>
                        <a:pt x="372" y="759"/>
                      </a:lnTo>
                      <a:lnTo>
                        <a:pt x="361" y="798"/>
                      </a:lnTo>
                      <a:lnTo>
                        <a:pt x="339" y="838"/>
                      </a:lnTo>
                      <a:lnTo>
                        <a:pt x="316" y="874"/>
                      </a:lnTo>
                      <a:lnTo>
                        <a:pt x="294" y="907"/>
                      </a:lnTo>
                      <a:lnTo>
                        <a:pt x="285" y="915"/>
                      </a:lnTo>
                      <a:lnTo>
                        <a:pt x="268" y="909"/>
                      </a:lnTo>
                      <a:lnTo>
                        <a:pt x="268" y="894"/>
                      </a:lnTo>
                      <a:lnTo>
                        <a:pt x="276" y="867"/>
                      </a:lnTo>
                      <a:lnTo>
                        <a:pt x="291" y="837"/>
                      </a:lnTo>
                      <a:lnTo>
                        <a:pt x="294" y="790"/>
                      </a:lnTo>
                      <a:lnTo>
                        <a:pt x="298" y="766"/>
                      </a:lnTo>
                      <a:lnTo>
                        <a:pt x="313" y="744"/>
                      </a:lnTo>
                      <a:lnTo>
                        <a:pt x="319" y="699"/>
                      </a:lnTo>
                      <a:lnTo>
                        <a:pt x="324" y="664"/>
                      </a:lnTo>
                      <a:lnTo>
                        <a:pt x="336" y="637"/>
                      </a:lnTo>
                      <a:lnTo>
                        <a:pt x="309" y="609"/>
                      </a:lnTo>
                      <a:lnTo>
                        <a:pt x="283" y="583"/>
                      </a:lnTo>
                      <a:lnTo>
                        <a:pt x="271" y="577"/>
                      </a:lnTo>
                      <a:lnTo>
                        <a:pt x="231" y="601"/>
                      </a:lnTo>
                      <a:lnTo>
                        <a:pt x="201" y="619"/>
                      </a:lnTo>
                      <a:lnTo>
                        <a:pt x="162" y="633"/>
                      </a:lnTo>
                      <a:lnTo>
                        <a:pt x="118" y="640"/>
                      </a:lnTo>
                      <a:lnTo>
                        <a:pt x="88" y="655"/>
                      </a:lnTo>
                      <a:lnTo>
                        <a:pt x="63" y="666"/>
                      </a:lnTo>
                      <a:lnTo>
                        <a:pt x="27" y="666"/>
                      </a:lnTo>
                      <a:lnTo>
                        <a:pt x="16" y="655"/>
                      </a:lnTo>
                      <a:lnTo>
                        <a:pt x="30" y="642"/>
                      </a:lnTo>
                      <a:lnTo>
                        <a:pt x="67" y="628"/>
                      </a:lnTo>
                      <a:lnTo>
                        <a:pt x="94" y="606"/>
                      </a:lnTo>
                      <a:lnTo>
                        <a:pt x="120" y="588"/>
                      </a:lnTo>
                      <a:lnTo>
                        <a:pt x="136" y="576"/>
                      </a:lnTo>
                      <a:lnTo>
                        <a:pt x="162" y="567"/>
                      </a:lnTo>
                      <a:lnTo>
                        <a:pt x="204" y="531"/>
                      </a:lnTo>
                      <a:lnTo>
                        <a:pt x="231" y="510"/>
                      </a:lnTo>
                      <a:lnTo>
                        <a:pt x="247" y="504"/>
                      </a:lnTo>
                      <a:lnTo>
                        <a:pt x="250" y="429"/>
                      </a:lnTo>
                      <a:lnTo>
                        <a:pt x="204" y="396"/>
                      </a:lnTo>
                      <a:lnTo>
                        <a:pt x="190" y="390"/>
                      </a:lnTo>
                      <a:lnTo>
                        <a:pt x="129" y="385"/>
                      </a:lnTo>
                      <a:lnTo>
                        <a:pt x="105" y="369"/>
                      </a:lnTo>
                      <a:lnTo>
                        <a:pt x="81" y="355"/>
                      </a:lnTo>
                      <a:lnTo>
                        <a:pt x="63" y="345"/>
                      </a:lnTo>
                      <a:lnTo>
                        <a:pt x="34" y="339"/>
                      </a:lnTo>
                      <a:lnTo>
                        <a:pt x="3" y="307"/>
                      </a:lnTo>
                      <a:lnTo>
                        <a:pt x="0" y="291"/>
                      </a:lnTo>
                      <a:lnTo>
                        <a:pt x="9" y="285"/>
                      </a:lnTo>
                      <a:lnTo>
                        <a:pt x="39" y="286"/>
                      </a:lnTo>
                      <a:lnTo>
                        <a:pt x="67" y="301"/>
                      </a:lnTo>
                      <a:lnTo>
                        <a:pt x="85" y="304"/>
                      </a:lnTo>
                      <a:lnTo>
                        <a:pt x="115" y="306"/>
                      </a:lnTo>
                      <a:lnTo>
                        <a:pt x="148" y="318"/>
                      </a:lnTo>
                      <a:lnTo>
                        <a:pt x="165" y="324"/>
                      </a:lnTo>
                      <a:lnTo>
                        <a:pt x="226" y="327"/>
                      </a:lnTo>
                      <a:lnTo>
                        <a:pt x="258" y="334"/>
                      </a:lnTo>
                      <a:lnTo>
                        <a:pt x="279" y="334"/>
                      </a:lnTo>
                    </a:path>
                  </a:pathLst>
                </a:custGeom>
                <a:solidFill>
                  <a:schemeClr val="hlink">
                    <a:alpha val="50000"/>
                  </a:scheme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6391" name="Freeform 7">
                  <a:extLst>
                    <a:ext uri="{FF2B5EF4-FFF2-40B4-BE49-F238E27FC236}">
                      <a16:creationId xmlns:a16="http://schemas.microsoft.com/office/drawing/2014/main" id="{38707274-DA6B-8FCC-0CB7-91540FE3B3DE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6" y="2087"/>
                  <a:ext cx="890" cy="916"/>
                </a:xfrm>
                <a:custGeom>
                  <a:avLst/>
                  <a:gdLst>
                    <a:gd name="T0" fmla="*/ 307 w 890"/>
                    <a:gd name="T1" fmla="*/ 292 h 916"/>
                    <a:gd name="T2" fmla="*/ 307 w 890"/>
                    <a:gd name="T3" fmla="*/ 234 h 916"/>
                    <a:gd name="T4" fmla="*/ 261 w 890"/>
                    <a:gd name="T5" fmla="*/ 159 h 916"/>
                    <a:gd name="T6" fmla="*/ 247 w 890"/>
                    <a:gd name="T7" fmla="*/ 91 h 916"/>
                    <a:gd name="T8" fmla="*/ 225 w 890"/>
                    <a:gd name="T9" fmla="*/ 24 h 916"/>
                    <a:gd name="T10" fmla="*/ 259 w 890"/>
                    <a:gd name="T11" fmla="*/ 21 h 916"/>
                    <a:gd name="T12" fmla="*/ 298 w 890"/>
                    <a:gd name="T13" fmla="*/ 82 h 916"/>
                    <a:gd name="T14" fmla="*/ 322 w 890"/>
                    <a:gd name="T15" fmla="*/ 118 h 916"/>
                    <a:gd name="T16" fmla="*/ 358 w 890"/>
                    <a:gd name="T17" fmla="*/ 180 h 916"/>
                    <a:gd name="T18" fmla="*/ 406 w 890"/>
                    <a:gd name="T19" fmla="*/ 240 h 916"/>
                    <a:gd name="T20" fmla="*/ 505 w 890"/>
                    <a:gd name="T21" fmla="*/ 184 h 916"/>
                    <a:gd name="T22" fmla="*/ 514 w 890"/>
                    <a:gd name="T23" fmla="*/ 118 h 916"/>
                    <a:gd name="T24" fmla="*/ 552 w 890"/>
                    <a:gd name="T25" fmla="*/ 69 h 916"/>
                    <a:gd name="T26" fmla="*/ 589 w 890"/>
                    <a:gd name="T27" fmla="*/ 13 h 916"/>
                    <a:gd name="T28" fmla="*/ 615 w 890"/>
                    <a:gd name="T29" fmla="*/ 16 h 916"/>
                    <a:gd name="T30" fmla="*/ 600 w 890"/>
                    <a:gd name="T31" fmla="*/ 49 h 916"/>
                    <a:gd name="T32" fmla="*/ 592 w 890"/>
                    <a:gd name="T33" fmla="*/ 124 h 916"/>
                    <a:gd name="T34" fmla="*/ 574 w 890"/>
                    <a:gd name="T35" fmla="*/ 186 h 916"/>
                    <a:gd name="T36" fmla="*/ 568 w 890"/>
                    <a:gd name="T37" fmla="*/ 282 h 916"/>
                    <a:gd name="T38" fmla="*/ 645 w 890"/>
                    <a:gd name="T39" fmla="*/ 325 h 916"/>
                    <a:gd name="T40" fmla="*/ 720 w 890"/>
                    <a:gd name="T41" fmla="*/ 277 h 916"/>
                    <a:gd name="T42" fmla="*/ 816 w 890"/>
                    <a:gd name="T43" fmla="*/ 253 h 916"/>
                    <a:gd name="T44" fmla="*/ 861 w 890"/>
                    <a:gd name="T45" fmla="*/ 279 h 916"/>
                    <a:gd name="T46" fmla="*/ 796 w 890"/>
                    <a:gd name="T47" fmla="*/ 324 h 916"/>
                    <a:gd name="T48" fmla="*/ 735 w 890"/>
                    <a:gd name="T49" fmla="*/ 352 h 916"/>
                    <a:gd name="T50" fmla="*/ 669 w 890"/>
                    <a:gd name="T51" fmla="*/ 409 h 916"/>
                    <a:gd name="T52" fmla="*/ 673 w 890"/>
                    <a:gd name="T53" fmla="*/ 510 h 916"/>
                    <a:gd name="T54" fmla="*/ 751 w 890"/>
                    <a:gd name="T55" fmla="*/ 535 h 916"/>
                    <a:gd name="T56" fmla="*/ 819 w 890"/>
                    <a:gd name="T57" fmla="*/ 577 h 916"/>
                    <a:gd name="T58" fmla="*/ 874 w 890"/>
                    <a:gd name="T59" fmla="*/ 606 h 916"/>
                    <a:gd name="T60" fmla="*/ 867 w 890"/>
                    <a:gd name="T61" fmla="*/ 637 h 916"/>
                    <a:gd name="T62" fmla="*/ 807 w 890"/>
                    <a:gd name="T63" fmla="*/ 618 h 916"/>
                    <a:gd name="T64" fmla="*/ 736 w 890"/>
                    <a:gd name="T65" fmla="*/ 592 h 916"/>
                    <a:gd name="T66" fmla="*/ 615 w 890"/>
                    <a:gd name="T67" fmla="*/ 588 h 916"/>
                    <a:gd name="T68" fmla="*/ 576 w 890"/>
                    <a:gd name="T69" fmla="*/ 628 h 916"/>
                    <a:gd name="T70" fmla="*/ 618 w 890"/>
                    <a:gd name="T71" fmla="*/ 723 h 916"/>
                    <a:gd name="T72" fmla="*/ 640 w 890"/>
                    <a:gd name="T73" fmla="*/ 807 h 916"/>
                    <a:gd name="T74" fmla="*/ 664 w 890"/>
                    <a:gd name="T75" fmla="*/ 889 h 916"/>
                    <a:gd name="T76" fmla="*/ 624 w 890"/>
                    <a:gd name="T77" fmla="*/ 870 h 916"/>
                    <a:gd name="T78" fmla="*/ 568 w 890"/>
                    <a:gd name="T79" fmla="*/ 789 h 916"/>
                    <a:gd name="T80" fmla="*/ 513 w 890"/>
                    <a:gd name="T81" fmla="*/ 708 h 916"/>
                    <a:gd name="T82" fmla="*/ 390 w 890"/>
                    <a:gd name="T83" fmla="*/ 730 h 916"/>
                    <a:gd name="T84" fmla="*/ 339 w 890"/>
                    <a:gd name="T85" fmla="*/ 838 h 916"/>
                    <a:gd name="T86" fmla="*/ 285 w 890"/>
                    <a:gd name="T87" fmla="*/ 915 h 916"/>
                    <a:gd name="T88" fmla="*/ 276 w 890"/>
                    <a:gd name="T89" fmla="*/ 867 h 916"/>
                    <a:gd name="T90" fmla="*/ 298 w 890"/>
                    <a:gd name="T91" fmla="*/ 766 h 916"/>
                    <a:gd name="T92" fmla="*/ 324 w 890"/>
                    <a:gd name="T93" fmla="*/ 664 h 916"/>
                    <a:gd name="T94" fmla="*/ 283 w 890"/>
                    <a:gd name="T95" fmla="*/ 583 h 916"/>
                    <a:gd name="T96" fmla="*/ 201 w 890"/>
                    <a:gd name="T97" fmla="*/ 619 h 916"/>
                    <a:gd name="T98" fmla="*/ 88 w 890"/>
                    <a:gd name="T99" fmla="*/ 655 h 916"/>
                    <a:gd name="T100" fmla="*/ 16 w 890"/>
                    <a:gd name="T101" fmla="*/ 655 h 916"/>
                    <a:gd name="T102" fmla="*/ 94 w 890"/>
                    <a:gd name="T103" fmla="*/ 606 h 916"/>
                    <a:gd name="T104" fmla="*/ 162 w 890"/>
                    <a:gd name="T105" fmla="*/ 567 h 916"/>
                    <a:gd name="T106" fmla="*/ 247 w 890"/>
                    <a:gd name="T107" fmla="*/ 504 h 916"/>
                    <a:gd name="T108" fmla="*/ 190 w 890"/>
                    <a:gd name="T109" fmla="*/ 390 h 916"/>
                    <a:gd name="T110" fmla="*/ 81 w 890"/>
                    <a:gd name="T111" fmla="*/ 355 h 916"/>
                    <a:gd name="T112" fmla="*/ 3 w 890"/>
                    <a:gd name="T113" fmla="*/ 307 h 916"/>
                    <a:gd name="T114" fmla="*/ 39 w 890"/>
                    <a:gd name="T115" fmla="*/ 286 h 916"/>
                    <a:gd name="T116" fmla="*/ 115 w 890"/>
                    <a:gd name="T117" fmla="*/ 306 h 916"/>
                    <a:gd name="T118" fmla="*/ 226 w 890"/>
                    <a:gd name="T119" fmla="*/ 327 h 9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890" h="916">
                      <a:moveTo>
                        <a:pt x="279" y="334"/>
                      </a:moveTo>
                      <a:lnTo>
                        <a:pt x="292" y="312"/>
                      </a:lnTo>
                      <a:lnTo>
                        <a:pt x="307" y="292"/>
                      </a:lnTo>
                      <a:lnTo>
                        <a:pt x="324" y="276"/>
                      </a:lnTo>
                      <a:lnTo>
                        <a:pt x="313" y="255"/>
                      </a:lnTo>
                      <a:lnTo>
                        <a:pt x="307" y="234"/>
                      </a:lnTo>
                      <a:lnTo>
                        <a:pt x="288" y="202"/>
                      </a:lnTo>
                      <a:lnTo>
                        <a:pt x="274" y="181"/>
                      </a:lnTo>
                      <a:lnTo>
                        <a:pt x="261" y="159"/>
                      </a:lnTo>
                      <a:lnTo>
                        <a:pt x="256" y="139"/>
                      </a:lnTo>
                      <a:lnTo>
                        <a:pt x="256" y="118"/>
                      </a:lnTo>
                      <a:lnTo>
                        <a:pt x="247" y="91"/>
                      </a:lnTo>
                      <a:lnTo>
                        <a:pt x="237" y="70"/>
                      </a:lnTo>
                      <a:lnTo>
                        <a:pt x="226" y="46"/>
                      </a:lnTo>
                      <a:lnTo>
                        <a:pt x="225" y="24"/>
                      </a:lnTo>
                      <a:lnTo>
                        <a:pt x="232" y="10"/>
                      </a:lnTo>
                      <a:lnTo>
                        <a:pt x="247" y="9"/>
                      </a:lnTo>
                      <a:lnTo>
                        <a:pt x="259" y="21"/>
                      </a:lnTo>
                      <a:lnTo>
                        <a:pt x="270" y="46"/>
                      </a:lnTo>
                      <a:lnTo>
                        <a:pt x="280" y="61"/>
                      </a:lnTo>
                      <a:lnTo>
                        <a:pt x="298" y="82"/>
                      </a:lnTo>
                      <a:lnTo>
                        <a:pt x="309" y="88"/>
                      </a:lnTo>
                      <a:lnTo>
                        <a:pt x="315" y="99"/>
                      </a:lnTo>
                      <a:lnTo>
                        <a:pt x="322" y="118"/>
                      </a:lnTo>
                      <a:lnTo>
                        <a:pt x="330" y="141"/>
                      </a:lnTo>
                      <a:lnTo>
                        <a:pt x="339" y="160"/>
                      </a:lnTo>
                      <a:lnTo>
                        <a:pt x="358" y="180"/>
                      </a:lnTo>
                      <a:lnTo>
                        <a:pt x="379" y="205"/>
                      </a:lnTo>
                      <a:lnTo>
                        <a:pt x="399" y="225"/>
                      </a:lnTo>
                      <a:lnTo>
                        <a:pt x="406" y="240"/>
                      </a:lnTo>
                      <a:lnTo>
                        <a:pt x="474" y="241"/>
                      </a:lnTo>
                      <a:lnTo>
                        <a:pt x="495" y="208"/>
                      </a:lnTo>
                      <a:lnTo>
                        <a:pt x="505" y="184"/>
                      </a:lnTo>
                      <a:lnTo>
                        <a:pt x="507" y="160"/>
                      </a:lnTo>
                      <a:lnTo>
                        <a:pt x="510" y="141"/>
                      </a:lnTo>
                      <a:lnTo>
                        <a:pt x="514" y="118"/>
                      </a:lnTo>
                      <a:lnTo>
                        <a:pt x="529" y="94"/>
                      </a:lnTo>
                      <a:lnTo>
                        <a:pt x="540" y="85"/>
                      </a:lnTo>
                      <a:lnTo>
                        <a:pt x="552" y="69"/>
                      </a:lnTo>
                      <a:lnTo>
                        <a:pt x="561" y="45"/>
                      </a:lnTo>
                      <a:lnTo>
                        <a:pt x="571" y="27"/>
                      </a:lnTo>
                      <a:lnTo>
                        <a:pt x="589" y="13"/>
                      </a:lnTo>
                      <a:lnTo>
                        <a:pt x="604" y="0"/>
                      </a:lnTo>
                      <a:lnTo>
                        <a:pt x="613" y="6"/>
                      </a:lnTo>
                      <a:lnTo>
                        <a:pt x="615" y="16"/>
                      </a:lnTo>
                      <a:lnTo>
                        <a:pt x="606" y="27"/>
                      </a:lnTo>
                      <a:lnTo>
                        <a:pt x="603" y="34"/>
                      </a:lnTo>
                      <a:lnTo>
                        <a:pt x="600" y="49"/>
                      </a:lnTo>
                      <a:lnTo>
                        <a:pt x="600" y="79"/>
                      </a:lnTo>
                      <a:lnTo>
                        <a:pt x="600" y="103"/>
                      </a:lnTo>
                      <a:lnTo>
                        <a:pt x="592" y="124"/>
                      </a:lnTo>
                      <a:lnTo>
                        <a:pt x="583" y="145"/>
                      </a:lnTo>
                      <a:lnTo>
                        <a:pt x="576" y="162"/>
                      </a:lnTo>
                      <a:lnTo>
                        <a:pt x="574" y="186"/>
                      </a:lnTo>
                      <a:lnTo>
                        <a:pt x="574" y="216"/>
                      </a:lnTo>
                      <a:lnTo>
                        <a:pt x="568" y="244"/>
                      </a:lnTo>
                      <a:lnTo>
                        <a:pt x="568" y="282"/>
                      </a:lnTo>
                      <a:lnTo>
                        <a:pt x="588" y="300"/>
                      </a:lnTo>
                      <a:lnTo>
                        <a:pt x="607" y="325"/>
                      </a:lnTo>
                      <a:lnTo>
                        <a:pt x="645" y="325"/>
                      </a:lnTo>
                      <a:lnTo>
                        <a:pt x="678" y="312"/>
                      </a:lnTo>
                      <a:lnTo>
                        <a:pt x="697" y="292"/>
                      </a:lnTo>
                      <a:lnTo>
                        <a:pt x="720" y="277"/>
                      </a:lnTo>
                      <a:lnTo>
                        <a:pt x="777" y="274"/>
                      </a:lnTo>
                      <a:lnTo>
                        <a:pt x="801" y="265"/>
                      </a:lnTo>
                      <a:lnTo>
                        <a:pt x="816" y="253"/>
                      </a:lnTo>
                      <a:lnTo>
                        <a:pt x="859" y="252"/>
                      </a:lnTo>
                      <a:lnTo>
                        <a:pt x="865" y="265"/>
                      </a:lnTo>
                      <a:lnTo>
                        <a:pt x="861" y="279"/>
                      </a:lnTo>
                      <a:lnTo>
                        <a:pt x="843" y="288"/>
                      </a:lnTo>
                      <a:lnTo>
                        <a:pt x="819" y="300"/>
                      </a:lnTo>
                      <a:lnTo>
                        <a:pt x="796" y="324"/>
                      </a:lnTo>
                      <a:lnTo>
                        <a:pt x="786" y="334"/>
                      </a:lnTo>
                      <a:lnTo>
                        <a:pt x="765" y="343"/>
                      </a:lnTo>
                      <a:lnTo>
                        <a:pt x="735" y="352"/>
                      </a:lnTo>
                      <a:lnTo>
                        <a:pt x="714" y="367"/>
                      </a:lnTo>
                      <a:lnTo>
                        <a:pt x="687" y="390"/>
                      </a:lnTo>
                      <a:lnTo>
                        <a:pt x="669" y="409"/>
                      </a:lnTo>
                      <a:lnTo>
                        <a:pt x="649" y="420"/>
                      </a:lnTo>
                      <a:lnTo>
                        <a:pt x="648" y="481"/>
                      </a:lnTo>
                      <a:lnTo>
                        <a:pt x="673" y="510"/>
                      </a:lnTo>
                      <a:lnTo>
                        <a:pt x="703" y="526"/>
                      </a:lnTo>
                      <a:lnTo>
                        <a:pt x="730" y="531"/>
                      </a:lnTo>
                      <a:lnTo>
                        <a:pt x="751" y="535"/>
                      </a:lnTo>
                      <a:lnTo>
                        <a:pt x="777" y="549"/>
                      </a:lnTo>
                      <a:lnTo>
                        <a:pt x="795" y="567"/>
                      </a:lnTo>
                      <a:lnTo>
                        <a:pt x="819" y="577"/>
                      </a:lnTo>
                      <a:lnTo>
                        <a:pt x="846" y="583"/>
                      </a:lnTo>
                      <a:lnTo>
                        <a:pt x="861" y="592"/>
                      </a:lnTo>
                      <a:lnTo>
                        <a:pt x="874" y="606"/>
                      </a:lnTo>
                      <a:lnTo>
                        <a:pt x="889" y="621"/>
                      </a:lnTo>
                      <a:lnTo>
                        <a:pt x="888" y="634"/>
                      </a:lnTo>
                      <a:lnTo>
                        <a:pt x="867" y="637"/>
                      </a:lnTo>
                      <a:lnTo>
                        <a:pt x="853" y="631"/>
                      </a:lnTo>
                      <a:lnTo>
                        <a:pt x="832" y="618"/>
                      </a:lnTo>
                      <a:lnTo>
                        <a:pt x="807" y="618"/>
                      </a:lnTo>
                      <a:lnTo>
                        <a:pt x="780" y="618"/>
                      </a:lnTo>
                      <a:lnTo>
                        <a:pt x="759" y="615"/>
                      </a:lnTo>
                      <a:lnTo>
                        <a:pt x="736" y="592"/>
                      </a:lnTo>
                      <a:lnTo>
                        <a:pt x="718" y="588"/>
                      </a:lnTo>
                      <a:lnTo>
                        <a:pt x="684" y="588"/>
                      </a:lnTo>
                      <a:lnTo>
                        <a:pt x="615" y="588"/>
                      </a:lnTo>
                      <a:lnTo>
                        <a:pt x="604" y="606"/>
                      </a:lnTo>
                      <a:lnTo>
                        <a:pt x="589" y="621"/>
                      </a:lnTo>
                      <a:lnTo>
                        <a:pt x="576" y="628"/>
                      </a:lnTo>
                      <a:lnTo>
                        <a:pt x="580" y="666"/>
                      </a:lnTo>
                      <a:lnTo>
                        <a:pt x="600" y="702"/>
                      </a:lnTo>
                      <a:lnTo>
                        <a:pt x="618" y="723"/>
                      </a:lnTo>
                      <a:lnTo>
                        <a:pt x="630" y="753"/>
                      </a:lnTo>
                      <a:lnTo>
                        <a:pt x="631" y="787"/>
                      </a:lnTo>
                      <a:lnTo>
                        <a:pt x="640" y="807"/>
                      </a:lnTo>
                      <a:lnTo>
                        <a:pt x="654" y="838"/>
                      </a:lnTo>
                      <a:lnTo>
                        <a:pt x="664" y="862"/>
                      </a:lnTo>
                      <a:lnTo>
                        <a:pt x="664" y="889"/>
                      </a:lnTo>
                      <a:lnTo>
                        <a:pt x="654" y="898"/>
                      </a:lnTo>
                      <a:lnTo>
                        <a:pt x="642" y="898"/>
                      </a:lnTo>
                      <a:lnTo>
                        <a:pt x="624" y="870"/>
                      </a:lnTo>
                      <a:lnTo>
                        <a:pt x="612" y="837"/>
                      </a:lnTo>
                      <a:lnTo>
                        <a:pt x="583" y="808"/>
                      </a:lnTo>
                      <a:lnTo>
                        <a:pt x="568" y="789"/>
                      </a:lnTo>
                      <a:lnTo>
                        <a:pt x="556" y="760"/>
                      </a:lnTo>
                      <a:lnTo>
                        <a:pt x="549" y="738"/>
                      </a:lnTo>
                      <a:lnTo>
                        <a:pt x="513" y="708"/>
                      </a:lnTo>
                      <a:lnTo>
                        <a:pt x="489" y="682"/>
                      </a:lnTo>
                      <a:lnTo>
                        <a:pt x="415" y="684"/>
                      </a:lnTo>
                      <a:lnTo>
                        <a:pt x="390" y="730"/>
                      </a:lnTo>
                      <a:lnTo>
                        <a:pt x="372" y="759"/>
                      </a:lnTo>
                      <a:lnTo>
                        <a:pt x="361" y="798"/>
                      </a:lnTo>
                      <a:lnTo>
                        <a:pt x="339" y="838"/>
                      </a:lnTo>
                      <a:lnTo>
                        <a:pt x="316" y="874"/>
                      </a:lnTo>
                      <a:lnTo>
                        <a:pt x="294" y="907"/>
                      </a:lnTo>
                      <a:lnTo>
                        <a:pt x="285" y="915"/>
                      </a:lnTo>
                      <a:lnTo>
                        <a:pt x="268" y="909"/>
                      </a:lnTo>
                      <a:lnTo>
                        <a:pt x="268" y="894"/>
                      </a:lnTo>
                      <a:lnTo>
                        <a:pt x="276" y="867"/>
                      </a:lnTo>
                      <a:lnTo>
                        <a:pt x="291" y="837"/>
                      </a:lnTo>
                      <a:lnTo>
                        <a:pt x="294" y="790"/>
                      </a:lnTo>
                      <a:lnTo>
                        <a:pt x="298" y="766"/>
                      </a:lnTo>
                      <a:lnTo>
                        <a:pt x="313" y="744"/>
                      </a:lnTo>
                      <a:lnTo>
                        <a:pt x="319" y="699"/>
                      </a:lnTo>
                      <a:lnTo>
                        <a:pt x="324" y="664"/>
                      </a:lnTo>
                      <a:lnTo>
                        <a:pt x="336" y="637"/>
                      </a:lnTo>
                      <a:lnTo>
                        <a:pt x="309" y="609"/>
                      </a:lnTo>
                      <a:lnTo>
                        <a:pt x="283" y="583"/>
                      </a:lnTo>
                      <a:lnTo>
                        <a:pt x="271" y="577"/>
                      </a:lnTo>
                      <a:lnTo>
                        <a:pt x="231" y="601"/>
                      </a:lnTo>
                      <a:lnTo>
                        <a:pt x="201" y="619"/>
                      </a:lnTo>
                      <a:lnTo>
                        <a:pt x="162" y="633"/>
                      </a:lnTo>
                      <a:lnTo>
                        <a:pt x="118" y="640"/>
                      </a:lnTo>
                      <a:lnTo>
                        <a:pt x="88" y="655"/>
                      </a:lnTo>
                      <a:lnTo>
                        <a:pt x="63" y="666"/>
                      </a:lnTo>
                      <a:lnTo>
                        <a:pt x="27" y="666"/>
                      </a:lnTo>
                      <a:lnTo>
                        <a:pt x="16" y="655"/>
                      </a:lnTo>
                      <a:lnTo>
                        <a:pt x="30" y="642"/>
                      </a:lnTo>
                      <a:lnTo>
                        <a:pt x="67" y="628"/>
                      </a:lnTo>
                      <a:lnTo>
                        <a:pt x="94" y="606"/>
                      </a:lnTo>
                      <a:lnTo>
                        <a:pt x="120" y="588"/>
                      </a:lnTo>
                      <a:lnTo>
                        <a:pt x="136" y="576"/>
                      </a:lnTo>
                      <a:lnTo>
                        <a:pt x="162" y="567"/>
                      </a:lnTo>
                      <a:lnTo>
                        <a:pt x="204" y="531"/>
                      </a:lnTo>
                      <a:lnTo>
                        <a:pt x="231" y="510"/>
                      </a:lnTo>
                      <a:lnTo>
                        <a:pt x="247" y="504"/>
                      </a:lnTo>
                      <a:lnTo>
                        <a:pt x="250" y="429"/>
                      </a:lnTo>
                      <a:lnTo>
                        <a:pt x="204" y="396"/>
                      </a:lnTo>
                      <a:lnTo>
                        <a:pt x="190" y="390"/>
                      </a:lnTo>
                      <a:lnTo>
                        <a:pt x="129" y="385"/>
                      </a:lnTo>
                      <a:lnTo>
                        <a:pt x="105" y="369"/>
                      </a:lnTo>
                      <a:lnTo>
                        <a:pt x="81" y="355"/>
                      </a:lnTo>
                      <a:lnTo>
                        <a:pt x="63" y="345"/>
                      </a:lnTo>
                      <a:lnTo>
                        <a:pt x="34" y="339"/>
                      </a:lnTo>
                      <a:lnTo>
                        <a:pt x="3" y="307"/>
                      </a:lnTo>
                      <a:lnTo>
                        <a:pt x="0" y="291"/>
                      </a:lnTo>
                      <a:lnTo>
                        <a:pt x="9" y="285"/>
                      </a:lnTo>
                      <a:lnTo>
                        <a:pt x="39" y="286"/>
                      </a:lnTo>
                      <a:lnTo>
                        <a:pt x="67" y="301"/>
                      </a:lnTo>
                      <a:lnTo>
                        <a:pt x="85" y="304"/>
                      </a:lnTo>
                      <a:lnTo>
                        <a:pt x="115" y="306"/>
                      </a:lnTo>
                      <a:lnTo>
                        <a:pt x="148" y="318"/>
                      </a:lnTo>
                      <a:lnTo>
                        <a:pt x="165" y="324"/>
                      </a:lnTo>
                      <a:lnTo>
                        <a:pt x="226" y="327"/>
                      </a:lnTo>
                      <a:lnTo>
                        <a:pt x="258" y="334"/>
                      </a:lnTo>
                      <a:lnTo>
                        <a:pt x="279" y="334"/>
                      </a:lnTo>
                    </a:path>
                  </a:pathLst>
                </a:custGeom>
                <a:solidFill>
                  <a:schemeClr val="hlink">
                    <a:alpha val="50000"/>
                  </a:scheme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6392" name="Freeform 8">
                  <a:extLst>
                    <a:ext uri="{FF2B5EF4-FFF2-40B4-BE49-F238E27FC236}">
                      <a16:creationId xmlns:a16="http://schemas.microsoft.com/office/drawing/2014/main" id="{21F0FE04-75FF-3D34-CDD7-45E7E6917406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6" y="3160"/>
                  <a:ext cx="890" cy="916"/>
                </a:xfrm>
                <a:custGeom>
                  <a:avLst/>
                  <a:gdLst>
                    <a:gd name="T0" fmla="*/ 307 w 890"/>
                    <a:gd name="T1" fmla="*/ 292 h 916"/>
                    <a:gd name="T2" fmla="*/ 307 w 890"/>
                    <a:gd name="T3" fmla="*/ 234 h 916"/>
                    <a:gd name="T4" fmla="*/ 261 w 890"/>
                    <a:gd name="T5" fmla="*/ 159 h 916"/>
                    <a:gd name="T6" fmla="*/ 247 w 890"/>
                    <a:gd name="T7" fmla="*/ 91 h 916"/>
                    <a:gd name="T8" fmla="*/ 225 w 890"/>
                    <a:gd name="T9" fmla="*/ 24 h 916"/>
                    <a:gd name="T10" fmla="*/ 259 w 890"/>
                    <a:gd name="T11" fmla="*/ 21 h 916"/>
                    <a:gd name="T12" fmla="*/ 298 w 890"/>
                    <a:gd name="T13" fmla="*/ 82 h 916"/>
                    <a:gd name="T14" fmla="*/ 322 w 890"/>
                    <a:gd name="T15" fmla="*/ 118 h 916"/>
                    <a:gd name="T16" fmla="*/ 358 w 890"/>
                    <a:gd name="T17" fmla="*/ 180 h 916"/>
                    <a:gd name="T18" fmla="*/ 406 w 890"/>
                    <a:gd name="T19" fmla="*/ 240 h 916"/>
                    <a:gd name="T20" fmla="*/ 505 w 890"/>
                    <a:gd name="T21" fmla="*/ 184 h 916"/>
                    <a:gd name="T22" fmla="*/ 514 w 890"/>
                    <a:gd name="T23" fmla="*/ 118 h 916"/>
                    <a:gd name="T24" fmla="*/ 552 w 890"/>
                    <a:gd name="T25" fmla="*/ 69 h 916"/>
                    <a:gd name="T26" fmla="*/ 589 w 890"/>
                    <a:gd name="T27" fmla="*/ 13 h 916"/>
                    <a:gd name="T28" fmla="*/ 615 w 890"/>
                    <a:gd name="T29" fmla="*/ 16 h 916"/>
                    <a:gd name="T30" fmla="*/ 600 w 890"/>
                    <a:gd name="T31" fmla="*/ 49 h 916"/>
                    <a:gd name="T32" fmla="*/ 592 w 890"/>
                    <a:gd name="T33" fmla="*/ 124 h 916"/>
                    <a:gd name="T34" fmla="*/ 574 w 890"/>
                    <a:gd name="T35" fmla="*/ 186 h 916"/>
                    <a:gd name="T36" fmla="*/ 568 w 890"/>
                    <a:gd name="T37" fmla="*/ 282 h 916"/>
                    <a:gd name="T38" fmla="*/ 645 w 890"/>
                    <a:gd name="T39" fmla="*/ 325 h 916"/>
                    <a:gd name="T40" fmla="*/ 720 w 890"/>
                    <a:gd name="T41" fmla="*/ 277 h 916"/>
                    <a:gd name="T42" fmla="*/ 816 w 890"/>
                    <a:gd name="T43" fmla="*/ 253 h 916"/>
                    <a:gd name="T44" fmla="*/ 861 w 890"/>
                    <a:gd name="T45" fmla="*/ 279 h 916"/>
                    <a:gd name="T46" fmla="*/ 796 w 890"/>
                    <a:gd name="T47" fmla="*/ 324 h 916"/>
                    <a:gd name="T48" fmla="*/ 735 w 890"/>
                    <a:gd name="T49" fmla="*/ 352 h 916"/>
                    <a:gd name="T50" fmla="*/ 669 w 890"/>
                    <a:gd name="T51" fmla="*/ 409 h 916"/>
                    <a:gd name="T52" fmla="*/ 673 w 890"/>
                    <a:gd name="T53" fmla="*/ 510 h 916"/>
                    <a:gd name="T54" fmla="*/ 751 w 890"/>
                    <a:gd name="T55" fmla="*/ 535 h 916"/>
                    <a:gd name="T56" fmla="*/ 819 w 890"/>
                    <a:gd name="T57" fmla="*/ 577 h 916"/>
                    <a:gd name="T58" fmla="*/ 874 w 890"/>
                    <a:gd name="T59" fmla="*/ 606 h 916"/>
                    <a:gd name="T60" fmla="*/ 867 w 890"/>
                    <a:gd name="T61" fmla="*/ 637 h 916"/>
                    <a:gd name="T62" fmla="*/ 807 w 890"/>
                    <a:gd name="T63" fmla="*/ 618 h 916"/>
                    <a:gd name="T64" fmla="*/ 736 w 890"/>
                    <a:gd name="T65" fmla="*/ 592 h 916"/>
                    <a:gd name="T66" fmla="*/ 615 w 890"/>
                    <a:gd name="T67" fmla="*/ 588 h 916"/>
                    <a:gd name="T68" fmla="*/ 576 w 890"/>
                    <a:gd name="T69" fmla="*/ 628 h 916"/>
                    <a:gd name="T70" fmla="*/ 618 w 890"/>
                    <a:gd name="T71" fmla="*/ 723 h 916"/>
                    <a:gd name="T72" fmla="*/ 640 w 890"/>
                    <a:gd name="T73" fmla="*/ 807 h 916"/>
                    <a:gd name="T74" fmla="*/ 664 w 890"/>
                    <a:gd name="T75" fmla="*/ 889 h 916"/>
                    <a:gd name="T76" fmla="*/ 624 w 890"/>
                    <a:gd name="T77" fmla="*/ 870 h 916"/>
                    <a:gd name="T78" fmla="*/ 568 w 890"/>
                    <a:gd name="T79" fmla="*/ 789 h 916"/>
                    <a:gd name="T80" fmla="*/ 513 w 890"/>
                    <a:gd name="T81" fmla="*/ 708 h 916"/>
                    <a:gd name="T82" fmla="*/ 390 w 890"/>
                    <a:gd name="T83" fmla="*/ 730 h 916"/>
                    <a:gd name="T84" fmla="*/ 339 w 890"/>
                    <a:gd name="T85" fmla="*/ 838 h 916"/>
                    <a:gd name="T86" fmla="*/ 285 w 890"/>
                    <a:gd name="T87" fmla="*/ 915 h 916"/>
                    <a:gd name="T88" fmla="*/ 276 w 890"/>
                    <a:gd name="T89" fmla="*/ 867 h 916"/>
                    <a:gd name="T90" fmla="*/ 298 w 890"/>
                    <a:gd name="T91" fmla="*/ 766 h 916"/>
                    <a:gd name="T92" fmla="*/ 324 w 890"/>
                    <a:gd name="T93" fmla="*/ 664 h 916"/>
                    <a:gd name="T94" fmla="*/ 283 w 890"/>
                    <a:gd name="T95" fmla="*/ 583 h 916"/>
                    <a:gd name="T96" fmla="*/ 201 w 890"/>
                    <a:gd name="T97" fmla="*/ 619 h 916"/>
                    <a:gd name="T98" fmla="*/ 88 w 890"/>
                    <a:gd name="T99" fmla="*/ 655 h 916"/>
                    <a:gd name="T100" fmla="*/ 16 w 890"/>
                    <a:gd name="T101" fmla="*/ 655 h 916"/>
                    <a:gd name="T102" fmla="*/ 94 w 890"/>
                    <a:gd name="T103" fmla="*/ 606 h 916"/>
                    <a:gd name="T104" fmla="*/ 162 w 890"/>
                    <a:gd name="T105" fmla="*/ 567 h 916"/>
                    <a:gd name="T106" fmla="*/ 247 w 890"/>
                    <a:gd name="T107" fmla="*/ 504 h 916"/>
                    <a:gd name="T108" fmla="*/ 190 w 890"/>
                    <a:gd name="T109" fmla="*/ 390 h 916"/>
                    <a:gd name="T110" fmla="*/ 81 w 890"/>
                    <a:gd name="T111" fmla="*/ 355 h 916"/>
                    <a:gd name="T112" fmla="*/ 3 w 890"/>
                    <a:gd name="T113" fmla="*/ 307 h 916"/>
                    <a:gd name="T114" fmla="*/ 39 w 890"/>
                    <a:gd name="T115" fmla="*/ 286 h 916"/>
                    <a:gd name="T116" fmla="*/ 115 w 890"/>
                    <a:gd name="T117" fmla="*/ 306 h 916"/>
                    <a:gd name="T118" fmla="*/ 226 w 890"/>
                    <a:gd name="T119" fmla="*/ 327 h 9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890" h="916">
                      <a:moveTo>
                        <a:pt x="279" y="334"/>
                      </a:moveTo>
                      <a:lnTo>
                        <a:pt x="292" y="312"/>
                      </a:lnTo>
                      <a:lnTo>
                        <a:pt x="307" y="292"/>
                      </a:lnTo>
                      <a:lnTo>
                        <a:pt x="324" y="276"/>
                      </a:lnTo>
                      <a:lnTo>
                        <a:pt x="313" y="255"/>
                      </a:lnTo>
                      <a:lnTo>
                        <a:pt x="307" y="234"/>
                      </a:lnTo>
                      <a:lnTo>
                        <a:pt x="288" y="202"/>
                      </a:lnTo>
                      <a:lnTo>
                        <a:pt x="274" y="181"/>
                      </a:lnTo>
                      <a:lnTo>
                        <a:pt x="261" y="159"/>
                      </a:lnTo>
                      <a:lnTo>
                        <a:pt x="256" y="139"/>
                      </a:lnTo>
                      <a:lnTo>
                        <a:pt x="256" y="118"/>
                      </a:lnTo>
                      <a:lnTo>
                        <a:pt x="247" y="91"/>
                      </a:lnTo>
                      <a:lnTo>
                        <a:pt x="237" y="70"/>
                      </a:lnTo>
                      <a:lnTo>
                        <a:pt x="226" y="46"/>
                      </a:lnTo>
                      <a:lnTo>
                        <a:pt x="225" y="24"/>
                      </a:lnTo>
                      <a:lnTo>
                        <a:pt x="232" y="10"/>
                      </a:lnTo>
                      <a:lnTo>
                        <a:pt x="247" y="9"/>
                      </a:lnTo>
                      <a:lnTo>
                        <a:pt x="259" y="21"/>
                      </a:lnTo>
                      <a:lnTo>
                        <a:pt x="270" y="46"/>
                      </a:lnTo>
                      <a:lnTo>
                        <a:pt x="280" y="61"/>
                      </a:lnTo>
                      <a:lnTo>
                        <a:pt x="298" y="82"/>
                      </a:lnTo>
                      <a:lnTo>
                        <a:pt x="309" y="88"/>
                      </a:lnTo>
                      <a:lnTo>
                        <a:pt x="315" y="99"/>
                      </a:lnTo>
                      <a:lnTo>
                        <a:pt x="322" y="118"/>
                      </a:lnTo>
                      <a:lnTo>
                        <a:pt x="330" y="141"/>
                      </a:lnTo>
                      <a:lnTo>
                        <a:pt x="339" y="160"/>
                      </a:lnTo>
                      <a:lnTo>
                        <a:pt x="358" y="180"/>
                      </a:lnTo>
                      <a:lnTo>
                        <a:pt x="379" y="205"/>
                      </a:lnTo>
                      <a:lnTo>
                        <a:pt x="399" y="225"/>
                      </a:lnTo>
                      <a:lnTo>
                        <a:pt x="406" y="240"/>
                      </a:lnTo>
                      <a:lnTo>
                        <a:pt x="474" y="241"/>
                      </a:lnTo>
                      <a:lnTo>
                        <a:pt x="495" y="208"/>
                      </a:lnTo>
                      <a:lnTo>
                        <a:pt x="505" y="184"/>
                      </a:lnTo>
                      <a:lnTo>
                        <a:pt x="507" y="160"/>
                      </a:lnTo>
                      <a:lnTo>
                        <a:pt x="510" y="141"/>
                      </a:lnTo>
                      <a:lnTo>
                        <a:pt x="514" y="118"/>
                      </a:lnTo>
                      <a:lnTo>
                        <a:pt x="529" y="94"/>
                      </a:lnTo>
                      <a:lnTo>
                        <a:pt x="540" y="85"/>
                      </a:lnTo>
                      <a:lnTo>
                        <a:pt x="552" y="69"/>
                      </a:lnTo>
                      <a:lnTo>
                        <a:pt x="561" y="45"/>
                      </a:lnTo>
                      <a:lnTo>
                        <a:pt x="571" y="27"/>
                      </a:lnTo>
                      <a:lnTo>
                        <a:pt x="589" y="13"/>
                      </a:lnTo>
                      <a:lnTo>
                        <a:pt x="604" y="0"/>
                      </a:lnTo>
                      <a:lnTo>
                        <a:pt x="613" y="6"/>
                      </a:lnTo>
                      <a:lnTo>
                        <a:pt x="615" y="16"/>
                      </a:lnTo>
                      <a:lnTo>
                        <a:pt x="606" y="27"/>
                      </a:lnTo>
                      <a:lnTo>
                        <a:pt x="603" y="34"/>
                      </a:lnTo>
                      <a:lnTo>
                        <a:pt x="600" y="49"/>
                      </a:lnTo>
                      <a:lnTo>
                        <a:pt x="600" y="79"/>
                      </a:lnTo>
                      <a:lnTo>
                        <a:pt x="600" y="103"/>
                      </a:lnTo>
                      <a:lnTo>
                        <a:pt x="592" y="124"/>
                      </a:lnTo>
                      <a:lnTo>
                        <a:pt x="583" y="145"/>
                      </a:lnTo>
                      <a:lnTo>
                        <a:pt x="576" y="162"/>
                      </a:lnTo>
                      <a:lnTo>
                        <a:pt x="574" y="186"/>
                      </a:lnTo>
                      <a:lnTo>
                        <a:pt x="574" y="216"/>
                      </a:lnTo>
                      <a:lnTo>
                        <a:pt x="568" y="244"/>
                      </a:lnTo>
                      <a:lnTo>
                        <a:pt x="568" y="282"/>
                      </a:lnTo>
                      <a:lnTo>
                        <a:pt x="588" y="300"/>
                      </a:lnTo>
                      <a:lnTo>
                        <a:pt x="607" y="325"/>
                      </a:lnTo>
                      <a:lnTo>
                        <a:pt x="645" y="325"/>
                      </a:lnTo>
                      <a:lnTo>
                        <a:pt x="678" y="312"/>
                      </a:lnTo>
                      <a:lnTo>
                        <a:pt x="697" y="292"/>
                      </a:lnTo>
                      <a:lnTo>
                        <a:pt x="720" y="277"/>
                      </a:lnTo>
                      <a:lnTo>
                        <a:pt x="777" y="274"/>
                      </a:lnTo>
                      <a:lnTo>
                        <a:pt x="801" y="265"/>
                      </a:lnTo>
                      <a:lnTo>
                        <a:pt x="816" y="253"/>
                      </a:lnTo>
                      <a:lnTo>
                        <a:pt x="859" y="252"/>
                      </a:lnTo>
                      <a:lnTo>
                        <a:pt x="865" y="265"/>
                      </a:lnTo>
                      <a:lnTo>
                        <a:pt x="861" y="279"/>
                      </a:lnTo>
                      <a:lnTo>
                        <a:pt x="843" y="288"/>
                      </a:lnTo>
                      <a:lnTo>
                        <a:pt x="819" y="300"/>
                      </a:lnTo>
                      <a:lnTo>
                        <a:pt x="796" y="324"/>
                      </a:lnTo>
                      <a:lnTo>
                        <a:pt x="786" y="334"/>
                      </a:lnTo>
                      <a:lnTo>
                        <a:pt x="765" y="343"/>
                      </a:lnTo>
                      <a:lnTo>
                        <a:pt x="735" y="352"/>
                      </a:lnTo>
                      <a:lnTo>
                        <a:pt x="714" y="367"/>
                      </a:lnTo>
                      <a:lnTo>
                        <a:pt x="687" y="390"/>
                      </a:lnTo>
                      <a:lnTo>
                        <a:pt x="669" y="409"/>
                      </a:lnTo>
                      <a:lnTo>
                        <a:pt x="649" y="420"/>
                      </a:lnTo>
                      <a:lnTo>
                        <a:pt x="648" y="481"/>
                      </a:lnTo>
                      <a:lnTo>
                        <a:pt x="673" y="510"/>
                      </a:lnTo>
                      <a:lnTo>
                        <a:pt x="703" y="526"/>
                      </a:lnTo>
                      <a:lnTo>
                        <a:pt x="730" y="531"/>
                      </a:lnTo>
                      <a:lnTo>
                        <a:pt x="751" y="535"/>
                      </a:lnTo>
                      <a:lnTo>
                        <a:pt x="777" y="549"/>
                      </a:lnTo>
                      <a:lnTo>
                        <a:pt x="795" y="567"/>
                      </a:lnTo>
                      <a:lnTo>
                        <a:pt x="819" y="577"/>
                      </a:lnTo>
                      <a:lnTo>
                        <a:pt x="846" y="583"/>
                      </a:lnTo>
                      <a:lnTo>
                        <a:pt x="861" y="592"/>
                      </a:lnTo>
                      <a:lnTo>
                        <a:pt x="874" y="606"/>
                      </a:lnTo>
                      <a:lnTo>
                        <a:pt x="889" y="621"/>
                      </a:lnTo>
                      <a:lnTo>
                        <a:pt x="888" y="634"/>
                      </a:lnTo>
                      <a:lnTo>
                        <a:pt x="867" y="637"/>
                      </a:lnTo>
                      <a:lnTo>
                        <a:pt x="853" y="631"/>
                      </a:lnTo>
                      <a:lnTo>
                        <a:pt x="832" y="618"/>
                      </a:lnTo>
                      <a:lnTo>
                        <a:pt x="807" y="618"/>
                      </a:lnTo>
                      <a:lnTo>
                        <a:pt x="780" y="618"/>
                      </a:lnTo>
                      <a:lnTo>
                        <a:pt x="759" y="615"/>
                      </a:lnTo>
                      <a:lnTo>
                        <a:pt x="736" y="592"/>
                      </a:lnTo>
                      <a:lnTo>
                        <a:pt x="718" y="588"/>
                      </a:lnTo>
                      <a:lnTo>
                        <a:pt x="684" y="588"/>
                      </a:lnTo>
                      <a:lnTo>
                        <a:pt x="615" y="588"/>
                      </a:lnTo>
                      <a:lnTo>
                        <a:pt x="604" y="606"/>
                      </a:lnTo>
                      <a:lnTo>
                        <a:pt x="589" y="621"/>
                      </a:lnTo>
                      <a:lnTo>
                        <a:pt x="576" y="628"/>
                      </a:lnTo>
                      <a:lnTo>
                        <a:pt x="580" y="666"/>
                      </a:lnTo>
                      <a:lnTo>
                        <a:pt x="600" y="702"/>
                      </a:lnTo>
                      <a:lnTo>
                        <a:pt x="618" y="723"/>
                      </a:lnTo>
                      <a:lnTo>
                        <a:pt x="630" y="753"/>
                      </a:lnTo>
                      <a:lnTo>
                        <a:pt x="631" y="787"/>
                      </a:lnTo>
                      <a:lnTo>
                        <a:pt x="640" y="807"/>
                      </a:lnTo>
                      <a:lnTo>
                        <a:pt x="654" y="838"/>
                      </a:lnTo>
                      <a:lnTo>
                        <a:pt x="664" y="862"/>
                      </a:lnTo>
                      <a:lnTo>
                        <a:pt x="664" y="889"/>
                      </a:lnTo>
                      <a:lnTo>
                        <a:pt x="654" y="898"/>
                      </a:lnTo>
                      <a:lnTo>
                        <a:pt x="642" y="898"/>
                      </a:lnTo>
                      <a:lnTo>
                        <a:pt x="624" y="870"/>
                      </a:lnTo>
                      <a:lnTo>
                        <a:pt x="612" y="837"/>
                      </a:lnTo>
                      <a:lnTo>
                        <a:pt x="583" y="808"/>
                      </a:lnTo>
                      <a:lnTo>
                        <a:pt x="568" y="789"/>
                      </a:lnTo>
                      <a:lnTo>
                        <a:pt x="556" y="760"/>
                      </a:lnTo>
                      <a:lnTo>
                        <a:pt x="549" y="738"/>
                      </a:lnTo>
                      <a:lnTo>
                        <a:pt x="513" y="708"/>
                      </a:lnTo>
                      <a:lnTo>
                        <a:pt x="489" y="682"/>
                      </a:lnTo>
                      <a:lnTo>
                        <a:pt x="415" y="684"/>
                      </a:lnTo>
                      <a:lnTo>
                        <a:pt x="390" y="730"/>
                      </a:lnTo>
                      <a:lnTo>
                        <a:pt x="372" y="759"/>
                      </a:lnTo>
                      <a:lnTo>
                        <a:pt x="361" y="798"/>
                      </a:lnTo>
                      <a:lnTo>
                        <a:pt x="339" y="838"/>
                      </a:lnTo>
                      <a:lnTo>
                        <a:pt x="316" y="874"/>
                      </a:lnTo>
                      <a:lnTo>
                        <a:pt x="294" y="907"/>
                      </a:lnTo>
                      <a:lnTo>
                        <a:pt x="285" y="915"/>
                      </a:lnTo>
                      <a:lnTo>
                        <a:pt x="268" y="909"/>
                      </a:lnTo>
                      <a:lnTo>
                        <a:pt x="268" y="894"/>
                      </a:lnTo>
                      <a:lnTo>
                        <a:pt x="276" y="867"/>
                      </a:lnTo>
                      <a:lnTo>
                        <a:pt x="291" y="837"/>
                      </a:lnTo>
                      <a:lnTo>
                        <a:pt x="294" y="790"/>
                      </a:lnTo>
                      <a:lnTo>
                        <a:pt x="298" y="766"/>
                      </a:lnTo>
                      <a:lnTo>
                        <a:pt x="313" y="744"/>
                      </a:lnTo>
                      <a:lnTo>
                        <a:pt x="319" y="699"/>
                      </a:lnTo>
                      <a:lnTo>
                        <a:pt x="324" y="664"/>
                      </a:lnTo>
                      <a:lnTo>
                        <a:pt x="336" y="637"/>
                      </a:lnTo>
                      <a:lnTo>
                        <a:pt x="309" y="609"/>
                      </a:lnTo>
                      <a:lnTo>
                        <a:pt x="283" y="583"/>
                      </a:lnTo>
                      <a:lnTo>
                        <a:pt x="271" y="577"/>
                      </a:lnTo>
                      <a:lnTo>
                        <a:pt x="231" y="601"/>
                      </a:lnTo>
                      <a:lnTo>
                        <a:pt x="201" y="619"/>
                      </a:lnTo>
                      <a:lnTo>
                        <a:pt x="162" y="633"/>
                      </a:lnTo>
                      <a:lnTo>
                        <a:pt x="118" y="640"/>
                      </a:lnTo>
                      <a:lnTo>
                        <a:pt x="88" y="655"/>
                      </a:lnTo>
                      <a:lnTo>
                        <a:pt x="63" y="666"/>
                      </a:lnTo>
                      <a:lnTo>
                        <a:pt x="27" y="666"/>
                      </a:lnTo>
                      <a:lnTo>
                        <a:pt x="16" y="655"/>
                      </a:lnTo>
                      <a:lnTo>
                        <a:pt x="30" y="642"/>
                      </a:lnTo>
                      <a:lnTo>
                        <a:pt x="67" y="628"/>
                      </a:lnTo>
                      <a:lnTo>
                        <a:pt x="94" y="606"/>
                      </a:lnTo>
                      <a:lnTo>
                        <a:pt x="120" y="588"/>
                      </a:lnTo>
                      <a:lnTo>
                        <a:pt x="136" y="576"/>
                      </a:lnTo>
                      <a:lnTo>
                        <a:pt x="162" y="567"/>
                      </a:lnTo>
                      <a:lnTo>
                        <a:pt x="204" y="531"/>
                      </a:lnTo>
                      <a:lnTo>
                        <a:pt x="231" y="510"/>
                      </a:lnTo>
                      <a:lnTo>
                        <a:pt x="247" y="504"/>
                      </a:lnTo>
                      <a:lnTo>
                        <a:pt x="250" y="429"/>
                      </a:lnTo>
                      <a:lnTo>
                        <a:pt x="204" y="396"/>
                      </a:lnTo>
                      <a:lnTo>
                        <a:pt x="190" y="390"/>
                      </a:lnTo>
                      <a:lnTo>
                        <a:pt x="129" y="385"/>
                      </a:lnTo>
                      <a:lnTo>
                        <a:pt x="105" y="369"/>
                      </a:lnTo>
                      <a:lnTo>
                        <a:pt x="81" y="355"/>
                      </a:lnTo>
                      <a:lnTo>
                        <a:pt x="63" y="345"/>
                      </a:lnTo>
                      <a:lnTo>
                        <a:pt x="34" y="339"/>
                      </a:lnTo>
                      <a:lnTo>
                        <a:pt x="3" y="307"/>
                      </a:lnTo>
                      <a:lnTo>
                        <a:pt x="0" y="291"/>
                      </a:lnTo>
                      <a:lnTo>
                        <a:pt x="9" y="285"/>
                      </a:lnTo>
                      <a:lnTo>
                        <a:pt x="39" y="286"/>
                      </a:lnTo>
                      <a:lnTo>
                        <a:pt x="67" y="301"/>
                      </a:lnTo>
                      <a:lnTo>
                        <a:pt x="85" y="304"/>
                      </a:lnTo>
                      <a:lnTo>
                        <a:pt x="115" y="306"/>
                      </a:lnTo>
                      <a:lnTo>
                        <a:pt x="148" y="318"/>
                      </a:lnTo>
                      <a:lnTo>
                        <a:pt x="165" y="324"/>
                      </a:lnTo>
                      <a:lnTo>
                        <a:pt x="226" y="327"/>
                      </a:lnTo>
                      <a:lnTo>
                        <a:pt x="258" y="334"/>
                      </a:lnTo>
                      <a:lnTo>
                        <a:pt x="279" y="334"/>
                      </a:lnTo>
                    </a:path>
                  </a:pathLst>
                </a:custGeom>
                <a:solidFill>
                  <a:schemeClr val="hlink">
                    <a:alpha val="50000"/>
                  </a:scheme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</p:grpSp>
      </p:grpSp>
      <p:sp>
        <p:nvSpPr>
          <p:cNvPr id="16400" name="Rectangle 16">
            <a:extLst>
              <a:ext uri="{FF2B5EF4-FFF2-40B4-BE49-F238E27FC236}">
                <a16:creationId xmlns:a16="http://schemas.microsoft.com/office/drawing/2014/main" id="{587D8461-E4BA-BCD7-ADFB-8953BB65230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52588" y="1806575"/>
            <a:ext cx="7391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ko-KR" noProof="0"/>
              <a:t>Click to edit Master title style</a:t>
            </a:r>
          </a:p>
        </p:txBody>
      </p:sp>
      <p:sp>
        <p:nvSpPr>
          <p:cNvPr id="16401" name="Rectangle 17">
            <a:extLst>
              <a:ext uri="{FF2B5EF4-FFF2-40B4-BE49-F238E27FC236}">
                <a16:creationId xmlns:a16="http://schemas.microsoft.com/office/drawing/2014/main" id="{96ABEF11-2AE2-189F-3689-258BF93EC8A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590800" y="3559175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ko-KR" noProof="0"/>
              <a:t>Click to edit Master subtitle style</a:t>
            </a:r>
          </a:p>
        </p:txBody>
      </p:sp>
      <p:sp>
        <p:nvSpPr>
          <p:cNvPr id="16402" name="Rectangle 18">
            <a:extLst>
              <a:ext uri="{FF2B5EF4-FFF2-40B4-BE49-F238E27FC236}">
                <a16:creationId xmlns:a16="http://schemas.microsoft.com/office/drawing/2014/main" id="{FF15F34C-1C7E-8788-2C74-D005C22760C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1524000" y="6350000"/>
            <a:ext cx="1724025" cy="457200"/>
          </a:xfrm>
        </p:spPr>
        <p:txBody>
          <a:bodyPr anchor="b"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16403" name="Rectangle 19">
            <a:extLst>
              <a:ext uri="{FF2B5EF4-FFF2-40B4-BE49-F238E27FC236}">
                <a16:creationId xmlns:a16="http://schemas.microsoft.com/office/drawing/2014/main" id="{D9C3830B-C0EB-6545-512C-1F90D6CA18C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643313" y="6350000"/>
            <a:ext cx="3449637" cy="457200"/>
          </a:xfrm>
        </p:spPr>
        <p:txBody>
          <a:bodyPr anchor="b"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16404" name="Rectangle 20">
            <a:extLst>
              <a:ext uri="{FF2B5EF4-FFF2-40B4-BE49-F238E27FC236}">
                <a16:creationId xmlns:a16="http://schemas.microsoft.com/office/drawing/2014/main" id="{A6396DD2-B359-ABF8-1EC9-9418AD3534B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7391400" y="6350000"/>
            <a:ext cx="1724025" cy="457200"/>
          </a:xfrm>
        </p:spPr>
        <p:txBody>
          <a:bodyPr anchor="b"/>
          <a:lstStyle>
            <a:lvl1pPr>
              <a:defRPr/>
            </a:lvl1pPr>
          </a:lstStyle>
          <a:p>
            <a:fld id="{EE45DB66-3C69-6E43-814E-B5BFD5E12C8C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0C4B6-852A-64B9-174E-CAE2389E2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CAB307-4826-9237-1501-63CFF3AA2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0A7BEA-012C-1A49-2469-ED771517B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7D464A-2058-C5A5-A9C1-D0C326E9A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94503C-4E76-FA12-8827-922F6B621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A28BED-D23D-174C-8D65-5B5A6BE9F47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95295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6ECEFA-7692-2162-2ECC-FA1EFAF54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215489-7614-BFEA-6CA1-219ADE0A4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00EDD5-E94C-DA06-C163-98F83F839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4CD1D1-856F-EF34-EE31-524450FE6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0FC262-BA98-DE3E-8ABC-B97F96120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D8E68B-4667-354E-9C37-8015ADEB5CA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3502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7047C5-E6EA-0627-FB8A-285C57BB6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3A4EFD-9651-F71F-B651-504A1A60BB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79550" y="1981200"/>
            <a:ext cx="3736975" cy="4114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C67970-32AB-32FE-4BB4-A8CCA755BC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68925" y="1981200"/>
            <a:ext cx="3736975" cy="4114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D8D6D5-55E1-ACB7-A400-67D3A49D6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6899A2-54E5-7C98-5CFE-6BBC436C1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3BCB488-F811-EAA3-C837-F055538E2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D99AF7-EB84-1148-8A3C-68A1067FB2A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1536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6E329E-EEE3-B4D6-E623-D6A0D0089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F7C265-6D1E-2B50-DCAD-9EB1BA277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14B651F-5DEA-A5E2-A60F-62DC500459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6ED66A1-1F15-617C-108D-A4343B668B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C55588F-EAB5-A4AE-F79B-96B0D896F9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5172FF9-D285-7B55-C9B4-D488A2548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9E4290B-B10A-8E15-8D9F-728D87EFC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C880CDA-8E2B-1BF2-7279-646A8F97A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370207-FA9F-A34D-B744-7BAD0D67124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85088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C2EC19-4ECC-8953-7038-F6DB58B00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86120B9-BD6E-D026-D9B9-A312E177C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0927FA6-7C07-93CB-C257-CD162148A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0520E2-6270-C703-C03D-BC99BC4BB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F395BB-503F-1546-B6DA-801D2629269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28196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3139A47-7D3A-5B2D-6E79-1776BF803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01D974-28E8-6C5F-DEEB-C7A72AC1A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71867A-1DCF-82C1-43A7-94877BE7B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B2E741-D700-8E47-B7B5-699B2FF9397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7746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7EFE5-EC34-E570-55FB-8E4E69D6F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81F759-C1AA-DD47-BF52-6B25E0E01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D95FAA-AEDE-81B0-F72D-DBA1A7D9D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BB5AF6-EDA5-674F-A392-E5A08FE92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77C437-7E69-B233-4B58-9C2A5A73C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386A8C-95AA-1332-6E8E-ECCB3A6A0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868AD6-4CF6-2649-83E8-2D9C70F6B29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42353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264574-A8F1-06F2-9E2F-BEC1036BA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45ECD76-D9AE-E6F0-C212-378A1FEAD9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D31026-103B-775A-A3E0-D4085337F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C0631B-93E6-2518-306E-A2BA697F6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F37CD5-8A4A-87D7-AD2B-FC2570C6E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C8B999-1071-BE85-52A8-5F6C5D8FC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3CDEDA-748B-724A-AC85-8675A286090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86948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39E088-C74C-5E81-7118-0B699439E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F784FE4-CADD-BF54-423D-21E20770C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0B2113-F271-64F7-6B8A-6BC29C441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695CF7-CD9F-308B-CDDC-218E442C0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AD310D-5C6C-3184-09E5-5ADF2B503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CACF97-66B7-0C40-B647-AB293AE6241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11322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BD6A021-3707-7183-72FD-E4D4487B4A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199313" y="304800"/>
            <a:ext cx="1906587" cy="57912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2BC6D02-F0CB-1B36-8610-FB53D94BDE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79550" y="304800"/>
            <a:ext cx="5567363" cy="57912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9FDDE1-C494-4F30-7F72-223AA3A3F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4FACF5-2F9D-FA46-6EC2-3D7F9064C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C8AEEF-5C0A-F5A8-32BD-10A3FBCCC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0E7DEB-83E3-A64E-AC8C-8929D949079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39625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accent2"/>
            </a:gs>
          </a:gsLst>
          <a:path path="rect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1026">
            <a:extLst>
              <a:ext uri="{FF2B5EF4-FFF2-40B4-BE49-F238E27FC236}">
                <a16:creationId xmlns:a16="http://schemas.microsoft.com/office/drawing/2014/main" id="{467B156C-41E6-37F9-0DAA-267D71F96189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2413" cy="6856413"/>
            <a:chOff x="0" y="0"/>
            <a:chExt cx="5759" cy="4319"/>
          </a:xfrm>
        </p:grpSpPr>
        <p:grpSp>
          <p:nvGrpSpPr>
            <p:cNvPr id="3072" name="Group 1024">
              <a:extLst>
                <a:ext uri="{FF2B5EF4-FFF2-40B4-BE49-F238E27FC236}">
                  <a16:creationId xmlns:a16="http://schemas.microsoft.com/office/drawing/2014/main" id="{962DE090-AFA5-E316-75EA-D95D0565B8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926" cy="4319"/>
              <a:chOff x="0" y="0"/>
              <a:chExt cx="926" cy="4319"/>
            </a:xfrm>
          </p:grpSpPr>
          <p:sp>
            <p:nvSpPr>
              <p:cNvPr id="1026" name="Rectangle 2">
                <a:extLst>
                  <a:ext uri="{FF2B5EF4-FFF2-40B4-BE49-F238E27FC236}">
                    <a16:creationId xmlns:a16="http://schemas.microsoft.com/office/drawing/2014/main" id="{9D96838B-22C7-F73C-E058-B266269B4445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0" y="0"/>
                <a:ext cx="923" cy="43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pic>
            <p:nvPicPr>
              <p:cNvPr id="1027" name="Picture 3">
                <a:extLst>
                  <a:ext uri="{FF2B5EF4-FFF2-40B4-BE49-F238E27FC236}">
                    <a16:creationId xmlns:a16="http://schemas.microsoft.com/office/drawing/2014/main" id="{CE9668AB-2B8F-4F2B-9356-D11EC88EC918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ltGray">
              <a:xfrm>
                <a:off x="6" y="31"/>
                <a:ext cx="920" cy="9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028" name="Freeform 4">
                <a:extLst>
                  <a:ext uri="{FF2B5EF4-FFF2-40B4-BE49-F238E27FC236}">
                    <a16:creationId xmlns:a16="http://schemas.microsoft.com/office/drawing/2014/main" id="{83DB9FBF-00F7-BA55-2B46-401D9C961E01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6" y="1023"/>
                <a:ext cx="890" cy="916"/>
              </a:xfrm>
              <a:custGeom>
                <a:avLst/>
                <a:gdLst>
                  <a:gd name="T0" fmla="*/ 307 w 890"/>
                  <a:gd name="T1" fmla="*/ 292 h 916"/>
                  <a:gd name="T2" fmla="*/ 307 w 890"/>
                  <a:gd name="T3" fmla="*/ 234 h 916"/>
                  <a:gd name="T4" fmla="*/ 261 w 890"/>
                  <a:gd name="T5" fmla="*/ 159 h 916"/>
                  <a:gd name="T6" fmla="*/ 247 w 890"/>
                  <a:gd name="T7" fmla="*/ 91 h 916"/>
                  <a:gd name="T8" fmla="*/ 225 w 890"/>
                  <a:gd name="T9" fmla="*/ 24 h 916"/>
                  <a:gd name="T10" fmla="*/ 259 w 890"/>
                  <a:gd name="T11" fmla="*/ 21 h 916"/>
                  <a:gd name="T12" fmla="*/ 298 w 890"/>
                  <a:gd name="T13" fmla="*/ 82 h 916"/>
                  <a:gd name="T14" fmla="*/ 322 w 890"/>
                  <a:gd name="T15" fmla="*/ 118 h 916"/>
                  <a:gd name="T16" fmla="*/ 358 w 890"/>
                  <a:gd name="T17" fmla="*/ 180 h 916"/>
                  <a:gd name="T18" fmla="*/ 406 w 890"/>
                  <a:gd name="T19" fmla="*/ 240 h 916"/>
                  <a:gd name="T20" fmla="*/ 505 w 890"/>
                  <a:gd name="T21" fmla="*/ 184 h 916"/>
                  <a:gd name="T22" fmla="*/ 514 w 890"/>
                  <a:gd name="T23" fmla="*/ 118 h 916"/>
                  <a:gd name="T24" fmla="*/ 552 w 890"/>
                  <a:gd name="T25" fmla="*/ 69 h 916"/>
                  <a:gd name="T26" fmla="*/ 589 w 890"/>
                  <a:gd name="T27" fmla="*/ 13 h 916"/>
                  <a:gd name="T28" fmla="*/ 615 w 890"/>
                  <a:gd name="T29" fmla="*/ 16 h 916"/>
                  <a:gd name="T30" fmla="*/ 600 w 890"/>
                  <a:gd name="T31" fmla="*/ 49 h 916"/>
                  <a:gd name="T32" fmla="*/ 592 w 890"/>
                  <a:gd name="T33" fmla="*/ 124 h 916"/>
                  <a:gd name="T34" fmla="*/ 574 w 890"/>
                  <a:gd name="T35" fmla="*/ 186 h 916"/>
                  <a:gd name="T36" fmla="*/ 568 w 890"/>
                  <a:gd name="T37" fmla="*/ 282 h 916"/>
                  <a:gd name="T38" fmla="*/ 645 w 890"/>
                  <a:gd name="T39" fmla="*/ 325 h 916"/>
                  <a:gd name="T40" fmla="*/ 720 w 890"/>
                  <a:gd name="T41" fmla="*/ 277 h 916"/>
                  <a:gd name="T42" fmla="*/ 816 w 890"/>
                  <a:gd name="T43" fmla="*/ 253 h 916"/>
                  <a:gd name="T44" fmla="*/ 861 w 890"/>
                  <a:gd name="T45" fmla="*/ 279 h 916"/>
                  <a:gd name="T46" fmla="*/ 796 w 890"/>
                  <a:gd name="T47" fmla="*/ 324 h 916"/>
                  <a:gd name="T48" fmla="*/ 735 w 890"/>
                  <a:gd name="T49" fmla="*/ 352 h 916"/>
                  <a:gd name="T50" fmla="*/ 669 w 890"/>
                  <a:gd name="T51" fmla="*/ 409 h 916"/>
                  <a:gd name="T52" fmla="*/ 673 w 890"/>
                  <a:gd name="T53" fmla="*/ 510 h 916"/>
                  <a:gd name="T54" fmla="*/ 751 w 890"/>
                  <a:gd name="T55" fmla="*/ 535 h 916"/>
                  <a:gd name="T56" fmla="*/ 819 w 890"/>
                  <a:gd name="T57" fmla="*/ 577 h 916"/>
                  <a:gd name="T58" fmla="*/ 874 w 890"/>
                  <a:gd name="T59" fmla="*/ 606 h 916"/>
                  <a:gd name="T60" fmla="*/ 867 w 890"/>
                  <a:gd name="T61" fmla="*/ 637 h 916"/>
                  <a:gd name="T62" fmla="*/ 807 w 890"/>
                  <a:gd name="T63" fmla="*/ 618 h 916"/>
                  <a:gd name="T64" fmla="*/ 736 w 890"/>
                  <a:gd name="T65" fmla="*/ 592 h 916"/>
                  <a:gd name="T66" fmla="*/ 615 w 890"/>
                  <a:gd name="T67" fmla="*/ 588 h 916"/>
                  <a:gd name="T68" fmla="*/ 576 w 890"/>
                  <a:gd name="T69" fmla="*/ 628 h 916"/>
                  <a:gd name="T70" fmla="*/ 618 w 890"/>
                  <a:gd name="T71" fmla="*/ 723 h 916"/>
                  <a:gd name="T72" fmla="*/ 640 w 890"/>
                  <a:gd name="T73" fmla="*/ 807 h 916"/>
                  <a:gd name="T74" fmla="*/ 664 w 890"/>
                  <a:gd name="T75" fmla="*/ 889 h 916"/>
                  <a:gd name="T76" fmla="*/ 624 w 890"/>
                  <a:gd name="T77" fmla="*/ 870 h 916"/>
                  <a:gd name="T78" fmla="*/ 568 w 890"/>
                  <a:gd name="T79" fmla="*/ 789 h 916"/>
                  <a:gd name="T80" fmla="*/ 513 w 890"/>
                  <a:gd name="T81" fmla="*/ 708 h 916"/>
                  <a:gd name="T82" fmla="*/ 390 w 890"/>
                  <a:gd name="T83" fmla="*/ 730 h 916"/>
                  <a:gd name="T84" fmla="*/ 339 w 890"/>
                  <a:gd name="T85" fmla="*/ 838 h 916"/>
                  <a:gd name="T86" fmla="*/ 285 w 890"/>
                  <a:gd name="T87" fmla="*/ 915 h 916"/>
                  <a:gd name="T88" fmla="*/ 276 w 890"/>
                  <a:gd name="T89" fmla="*/ 867 h 916"/>
                  <a:gd name="T90" fmla="*/ 298 w 890"/>
                  <a:gd name="T91" fmla="*/ 766 h 916"/>
                  <a:gd name="T92" fmla="*/ 324 w 890"/>
                  <a:gd name="T93" fmla="*/ 664 h 916"/>
                  <a:gd name="T94" fmla="*/ 283 w 890"/>
                  <a:gd name="T95" fmla="*/ 583 h 916"/>
                  <a:gd name="T96" fmla="*/ 201 w 890"/>
                  <a:gd name="T97" fmla="*/ 619 h 916"/>
                  <a:gd name="T98" fmla="*/ 88 w 890"/>
                  <a:gd name="T99" fmla="*/ 655 h 916"/>
                  <a:gd name="T100" fmla="*/ 16 w 890"/>
                  <a:gd name="T101" fmla="*/ 655 h 916"/>
                  <a:gd name="T102" fmla="*/ 94 w 890"/>
                  <a:gd name="T103" fmla="*/ 606 h 916"/>
                  <a:gd name="T104" fmla="*/ 162 w 890"/>
                  <a:gd name="T105" fmla="*/ 567 h 916"/>
                  <a:gd name="T106" fmla="*/ 247 w 890"/>
                  <a:gd name="T107" fmla="*/ 504 h 916"/>
                  <a:gd name="T108" fmla="*/ 190 w 890"/>
                  <a:gd name="T109" fmla="*/ 390 h 916"/>
                  <a:gd name="T110" fmla="*/ 81 w 890"/>
                  <a:gd name="T111" fmla="*/ 355 h 916"/>
                  <a:gd name="T112" fmla="*/ 3 w 890"/>
                  <a:gd name="T113" fmla="*/ 307 h 916"/>
                  <a:gd name="T114" fmla="*/ 39 w 890"/>
                  <a:gd name="T115" fmla="*/ 286 h 916"/>
                  <a:gd name="T116" fmla="*/ 115 w 890"/>
                  <a:gd name="T117" fmla="*/ 306 h 916"/>
                  <a:gd name="T118" fmla="*/ 226 w 890"/>
                  <a:gd name="T119" fmla="*/ 327 h 9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890" h="916">
                    <a:moveTo>
                      <a:pt x="279" y="334"/>
                    </a:moveTo>
                    <a:lnTo>
                      <a:pt x="292" y="312"/>
                    </a:lnTo>
                    <a:lnTo>
                      <a:pt x="307" y="292"/>
                    </a:lnTo>
                    <a:lnTo>
                      <a:pt x="324" y="276"/>
                    </a:lnTo>
                    <a:lnTo>
                      <a:pt x="313" y="255"/>
                    </a:lnTo>
                    <a:lnTo>
                      <a:pt x="307" y="234"/>
                    </a:lnTo>
                    <a:lnTo>
                      <a:pt x="288" y="202"/>
                    </a:lnTo>
                    <a:lnTo>
                      <a:pt x="274" y="181"/>
                    </a:lnTo>
                    <a:lnTo>
                      <a:pt x="261" y="159"/>
                    </a:lnTo>
                    <a:lnTo>
                      <a:pt x="256" y="139"/>
                    </a:lnTo>
                    <a:lnTo>
                      <a:pt x="256" y="118"/>
                    </a:lnTo>
                    <a:lnTo>
                      <a:pt x="247" y="91"/>
                    </a:lnTo>
                    <a:lnTo>
                      <a:pt x="237" y="70"/>
                    </a:lnTo>
                    <a:lnTo>
                      <a:pt x="226" y="46"/>
                    </a:lnTo>
                    <a:lnTo>
                      <a:pt x="225" y="24"/>
                    </a:lnTo>
                    <a:lnTo>
                      <a:pt x="232" y="10"/>
                    </a:lnTo>
                    <a:lnTo>
                      <a:pt x="247" y="9"/>
                    </a:lnTo>
                    <a:lnTo>
                      <a:pt x="259" y="21"/>
                    </a:lnTo>
                    <a:lnTo>
                      <a:pt x="270" y="46"/>
                    </a:lnTo>
                    <a:lnTo>
                      <a:pt x="280" y="61"/>
                    </a:lnTo>
                    <a:lnTo>
                      <a:pt x="298" y="82"/>
                    </a:lnTo>
                    <a:lnTo>
                      <a:pt x="309" y="88"/>
                    </a:lnTo>
                    <a:lnTo>
                      <a:pt x="315" y="99"/>
                    </a:lnTo>
                    <a:lnTo>
                      <a:pt x="322" y="118"/>
                    </a:lnTo>
                    <a:lnTo>
                      <a:pt x="330" y="141"/>
                    </a:lnTo>
                    <a:lnTo>
                      <a:pt x="339" y="160"/>
                    </a:lnTo>
                    <a:lnTo>
                      <a:pt x="358" y="180"/>
                    </a:lnTo>
                    <a:lnTo>
                      <a:pt x="379" y="205"/>
                    </a:lnTo>
                    <a:lnTo>
                      <a:pt x="399" y="225"/>
                    </a:lnTo>
                    <a:lnTo>
                      <a:pt x="406" y="240"/>
                    </a:lnTo>
                    <a:lnTo>
                      <a:pt x="474" y="241"/>
                    </a:lnTo>
                    <a:lnTo>
                      <a:pt x="495" y="208"/>
                    </a:lnTo>
                    <a:lnTo>
                      <a:pt x="505" y="184"/>
                    </a:lnTo>
                    <a:lnTo>
                      <a:pt x="507" y="160"/>
                    </a:lnTo>
                    <a:lnTo>
                      <a:pt x="510" y="141"/>
                    </a:lnTo>
                    <a:lnTo>
                      <a:pt x="514" y="118"/>
                    </a:lnTo>
                    <a:lnTo>
                      <a:pt x="529" y="94"/>
                    </a:lnTo>
                    <a:lnTo>
                      <a:pt x="540" y="85"/>
                    </a:lnTo>
                    <a:lnTo>
                      <a:pt x="552" y="69"/>
                    </a:lnTo>
                    <a:lnTo>
                      <a:pt x="561" y="45"/>
                    </a:lnTo>
                    <a:lnTo>
                      <a:pt x="571" y="27"/>
                    </a:lnTo>
                    <a:lnTo>
                      <a:pt x="589" y="13"/>
                    </a:lnTo>
                    <a:lnTo>
                      <a:pt x="604" y="0"/>
                    </a:lnTo>
                    <a:lnTo>
                      <a:pt x="613" y="6"/>
                    </a:lnTo>
                    <a:lnTo>
                      <a:pt x="615" y="16"/>
                    </a:lnTo>
                    <a:lnTo>
                      <a:pt x="606" y="27"/>
                    </a:lnTo>
                    <a:lnTo>
                      <a:pt x="603" y="34"/>
                    </a:lnTo>
                    <a:lnTo>
                      <a:pt x="600" y="49"/>
                    </a:lnTo>
                    <a:lnTo>
                      <a:pt x="600" y="79"/>
                    </a:lnTo>
                    <a:lnTo>
                      <a:pt x="600" y="103"/>
                    </a:lnTo>
                    <a:lnTo>
                      <a:pt x="592" y="124"/>
                    </a:lnTo>
                    <a:lnTo>
                      <a:pt x="583" y="145"/>
                    </a:lnTo>
                    <a:lnTo>
                      <a:pt x="576" y="162"/>
                    </a:lnTo>
                    <a:lnTo>
                      <a:pt x="574" y="186"/>
                    </a:lnTo>
                    <a:lnTo>
                      <a:pt x="574" y="216"/>
                    </a:lnTo>
                    <a:lnTo>
                      <a:pt x="568" y="244"/>
                    </a:lnTo>
                    <a:lnTo>
                      <a:pt x="568" y="282"/>
                    </a:lnTo>
                    <a:lnTo>
                      <a:pt x="588" y="300"/>
                    </a:lnTo>
                    <a:lnTo>
                      <a:pt x="607" y="325"/>
                    </a:lnTo>
                    <a:lnTo>
                      <a:pt x="645" y="325"/>
                    </a:lnTo>
                    <a:lnTo>
                      <a:pt x="678" y="312"/>
                    </a:lnTo>
                    <a:lnTo>
                      <a:pt x="697" y="292"/>
                    </a:lnTo>
                    <a:lnTo>
                      <a:pt x="720" y="277"/>
                    </a:lnTo>
                    <a:lnTo>
                      <a:pt x="777" y="274"/>
                    </a:lnTo>
                    <a:lnTo>
                      <a:pt x="801" y="265"/>
                    </a:lnTo>
                    <a:lnTo>
                      <a:pt x="816" y="253"/>
                    </a:lnTo>
                    <a:lnTo>
                      <a:pt x="859" y="252"/>
                    </a:lnTo>
                    <a:lnTo>
                      <a:pt x="865" y="265"/>
                    </a:lnTo>
                    <a:lnTo>
                      <a:pt x="861" y="279"/>
                    </a:lnTo>
                    <a:lnTo>
                      <a:pt x="843" y="288"/>
                    </a:lnTo>
                    <a:lnTo>
                      <a:pt x="819" y="300"/>
                    </a:lnTo>
                    <a:lnTo>
                      <a:pt x="796" y="324"/>
                    </a:lnTo>
                    <a:lnTo>
                      <a:pt x="786" y="334"/>
                    </a:lnTo>
                    <a:lnTo>
                      <a:pt x="765" y="343"/>
                    </a:lnTo>
                    <a:lnTo>
                      <a:pt x="735" y="352"/>
                    </a:lnTo>
                    <a:lnTo>
                      <a:pt x="714" y="367"/>
                    </a:lnTo>
                    <a:lnTo>
                      <a:pt x="687" y="390"/>
                    </a:lnTo>
                    <a:lnTo>
                      <a:pt x="669" y="409"/>
                    </a:lnTo>
                    <a:lnTo>
                      <a:pt x="649" y="420"/>
                    </a:lnTo>
                    <a:lnTo>
                      <a:pt x="648" y="481"/>
                    </a:lnTo>
                    <a:lnTo>
                      <a:pt x="673" y="510"/>
                    </a:lnTo>
                    <a:lnTo>
                      <a:pt x="703" y="526"/>
                    </a:lnTo>
                    <a:lnTo>
                      <a:pt x="730" y="531"/>
                    </a:lnTo>
                    <a:lnTo>
                      <a:pt x="751" y="535"/>
                    </a:lnTo>
                    <a:lnTo>
                      <a:pt x="777" y="549"/>
                    </a:lnTo>
                    <a:lnTo>
                      <a:pt x="795" y="567"/>
                    </a:lnTo>
                    <a:lnTo>
                      <a:pt x="819" y="577"/>
                    </a:lnTo>
                    <a:lnTo>
                      <a:pt x="846" y="583"/>
                    </a:lnTo>
                    <a:lnTo>
                      <a:pt x="861" y="592"/>
                    </a:lnTo>
                    <a:lnTo>
                      <a:pt x="874" y="606"/>
                    </a:lnTo>
                    <a:lnTo>
                      <a:pt x="889" y="621"/>
                    </a:lnTo>
                    <a:lnTo>
                      <a:pt x="888" y="634"/>
                    </a:lnTo>
                    <a:lnTo>
                      <a:pt x="867" y="637"/>
                    </a:lnTo>
                    <a:lnTo>
                      <a:pt x="853" y="631"/>
                    </a:lnTo>
                    <a:lnTo>
                      <a:pt x="832" y="618"/>
                    </a:lnTo>
                    <a:lnTo>
                      <a:pt x="807" y="618"/>
                    </a:lnTo>
                    <a:lnTo>
                      <a:pt x="780" y="618"/>
                    </a:lnTo>
                    <a:lnTo>
                      <a:pt x="759" y="615"/>
                    </a:lnTo>
                    <a:lnTo>
                      <a:pt x="736" y="592"/>
                    </a:lnTo>
                    <a:lnTo>
                      <a:pt x="718" y="588"/>
                    </a:lnTo>
                    <a:lnTo>
                      <a:pt x="684" y="588"/>
                    </a:lnTo>
                    <a:lnTo>
                      <a:pt x="615" y="588"/>
                    </a:lnTo>
                    <a:lnTo>
                      <a:pt x="604" y="606"/>
                    </a:lnTo>
                    <a:lnTo>
                      <a:pt x="589" y="621"/>
                    </a:lnTo>
                    <a:lnTo>
                      <a:pt x="576" y="628"/>
                    </a:lnTo>
                    <a:lnTo>
                      <a:pt x="580" y="666"/>
                    </a:lnTo>
                    <a:lnTo>
                      <a:pt x="600" y="702"/>
                    </a:lnTo>
                    <a:lnTo>
                      <a:pt x="618" y="723"/>
                    </a:lnTo>
                    <a:lnTo>
                      <a:pt x="630" y="753"/>
                    </a:lnTo>
                    <a:lnTo>
                      <a:pt x="631" y="787"/>
                    </a:lnTo>
                    <a:lnTo>
                      <a:pt x="640" y="807"/>
                    </a:lnTo>
                    <a:lnTo>
                      <a:pt x="654" y="838"/>
                    </a:lnTo>
                    <a:lnTo>
                      <a:pt x="664" y="862"/>
                    </a:lnTo>
                    <a:lnTo>
                      <a:pt x="664" y="889"/>
                    </a:lnTo>
                    <a:lnTo>
                      <a:pt x="654" y="898"/>
                    </a:lnTo>
                    <a:lnTo>
                      <a:pt x="642" y="898"/>
                    </a:lnTo>
                    <a:lnTo>
                      <a:pt x="624" y="870"/>
                    </a:lnTo>
                    <a:lnTo>
                      <a:pt x="612" y="837"/>
                    </a:lnTo>
                    <a:lnTo>
                      <a:pt x="583" y="808"/>
                    </a:lnTo>
                    <a:lnTo>
                      <a:pt x="568" y="789"/>
                    </a:lnTo>
                    <a:lnTo>
                      <a:pt x="556" y="760"/>
                    </a:lnTo>
                    <a:lnTo>
                      <a:pt x="549" y="738"/>
                    </a:lnTo>
                    <a:lnTo>
                      <a:pt x="513" y="708"/>
                    </a:lnTo>
                    <a:lnTo>
                      <a:pt x="489" y="682"/>
                    </a:lnTo>
                    <a:lnTo>
                      <a:pt x="415" y="684"/>
                    </a:lnTo>
                    <a:lnTo>
                      <a:pt x="390" y="730"/>
                    </a:lnTo>
                    <a:lnTo>
                      <a:pt x="372" y="759"/>
                    </a:lnTo>
                    <a:lnTo>
                      <a:pt x="361" y="798"/>
                    </a:lnTo>
                    <a:lnTo>
                      <a:pt x="339" y="838"/>
                    </a:lnTo>
                    <a:lnTo>
                      <a:pt x="316" y="874"/>
                    </a:lnTo>
                    <a:lnTo>
                      <a:pt x="294" y="907"/>
                    </a:lnTo>
                    <a:lnTo>
                      <a:pt x="285" y="915"/>
                    </a:lnTo>
                    <a:lnTo>
                      <a:pt x="268" y="909"/>
                    </a:lnTo>
                    <a:lnTo>
                      <a:pt x="268" y="894"/>
                    </a:lnTo>
                    <a:lnTo>
                      <a:pt x="276" y="867"/>
                    </a:lnTo>
                    <a:lnTo>
                      <a:pt x="291" y="837"/>
                    </a:lnTo>
                    <a:lnTo>
                      <a:pt x="294" y="790"/>
                    </a:lnTo>
                    <a:lnTo>
                      <a:pt x="298" y="766"/>
                    </a:lnTo>
                    <a:lnTo>
                      <a:pt x="313" y="744"/>
                    </a:lnTo>
                    <a:lnTo>
                      <a:pt x="319" y="699"/>
                    </a:lnTo>
                    <a:lnTo>
                      <a:pt x="324" y="664"/>
                    </a:lnTo>
                    <a:lnTo>
                      <a:pt x="336" y="637"/>
                    </a:lnTo>
                    <a:lnTo>
                      <a:pt x="309" y="609"/>
                    </a:lnTo>
                    <a:lnTo>
                      <a:pt x="283" y="583"/>
                    </a:lnTo>
                    <a:lnTo>
                      <a:pt x="271" y="577"/>
                    </a:lnTo>
                    <a:lnTo>
                      <a:pt x="231" y="601"/>
                    </a:lnTo>
                    <a:lnTo>
                      <a:pt x="201" y="619"/>
                    </a:lnTo>
                    <a:lnTo>
                      <a:pt x="162" y="633"/>
                    </a:lnTo>
                    <a:lnTo>
                      <a:pt x="118" y="640"/>
                    </a:lnTo>
                    <a:lnTo>
                      <a:pt x="88" y="655"/>
                    </a:lnTo>
                    <a:lnTo>
                      <a:pt x="63" y="666"/>
                    </a:lnTo>
                    <a:lnTo>
                      <a:pt x="27" y="666"/>
                    </a:lnTo>
                    <a:lnTo>
                      <a:pt x="16" y="655"/>
                    </a:lnTo>
                    <a:lnTo>
                      <a:pt x="30" y="642"/>
                    </a:lnTo>
                    <a:lnTo>
                      <a:pt x="67" y="628"/>
                    </a:lnTo>
                    <a:lnTo>
                      <a:pt x="94" y="606"/>
                    </a:lnTo>
                    <a:lnTo>
                      <a:pt x="120" y="588"/>
                    </a:lnTo>
                    <a:lnTo>
                      <a:pt x="136" y="576"/>
                    </a:lnTo>
                    <a:lnTo>
                      <a:pt x="162" y="567"/>
                    </a:lnTo>
                    <a:lnTo>
                      <a:pt x="204" y="531"/>
                    </a:lnTo>
                    <a:lnTo>
                      <a:pt x="231" y="510"/>
                    </a:lnTo>
                    <a:lnTo>
                      <a:pt x="247" y="504"/>
                    </a:lnTo>
                    <a:lnTo>
                      <a:pt x="250" y="429"/>
                    </a:lnTo>
                    <a:lnTo>
                      <a:pt x="204" y="396"/>
                    </a:lnTo>
                    <a:lnTo>
                      <a:pt x="190" y="390"/>
                    </a:lnTo>
                    <a:lnTo>
                      <a:pt x="129" y="385"/>
                    </a:lnTo>
                    <a:lnTo>
                      <a:pt x="105" y="369"/>
                    </a:lnTo>
                    <a:lnTo>
                      <a:pt x="81" y="355"/>
                    </a:lnTo>
                    <a:lnTo>
                      <a:pt x="63" y="345"/>
                    </a:lnTo>
                    <a:lnTo>
                      <a:pt x="34" y="339"/>
                    </a:lnTo>
                    <a:lnTo>
                      <a:pt x="3" y="307"/>
                    </a:lnTo>
                    <a:lnTo>
                      <a:pt x="0" y="291"/>
                    </a:lnTo>
                    <a:lnTo>
                      <a:pt x="9" y="285"/>
                    </a:lnTo>
                    <a:lnTo>
                      <a:pt x="39" y="286"/>
                    </a:lnTo>
                    <a:lnTo>
                      <a:pt x="67" y="301"/>
                    </a:lnTo>
                    <a:lnTo>
                      <a:pt x="85" y="304"/>
                    </a:lnTo>
                    <a:lnTo>
                      <a:pt x="115" y="306"/>
                    </a:lnTo>
                    <a:lnTo>
                      <a:pt x="148" y="318"/>
                    </a:lnTo>
                    <a:lnTo>
                      <a:pt x="165" y="324"/>
                    </a:lnTo>
                    <a:lnTo>
                      <a:pt x="226" y="327"/>
                    </a:lnTo>
                    <a:lnTo>
                      <a:pt x="258" y="334"/>
                    </a:lnTo>
                    <a:lnTo>
                      <a:pt x="279" y="334"/>
                    </a:lnTo>
                  </a:path>
                </a:pathLst>
              </a:custGeom>
              <a:solidFill>
                <a:schemeClr val="hlink">
                  <a:alpha val="50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29" name="Freeform 5">
                <a:extLst>
                  <a:ext uri="{FF2B5EF4-FFF2-40B4-BE49-F238E27FC236}">
                    <a16:creationId xmlns:a16="http://schemas.microsoft.com/office/drawing/2014/main" id="{B0351E33-2629-78AA-9D9F-25D5797EF6A4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6" y="2087"/>
                <a:ext cx="890" cy="916"/>
              </a:xfrm>
              <a:custGeom>
                <a:avLst/>
                <a:gdLst>
                  <a:gd name="T0" fmla="*/ 307 w 890"/>
                  <a:gd name="T1" fmla="*/ 292 h 916"/>
                  <a:gd name="T2" fmla="*/ 307 w 890"/>
                  <a:gd name="T3" fmla="*/ 234 h 916"/>
                  <a:gd name="T4" fmla="*/ 261 w 890"/>
                  <a:gd name="T5" fmla="*/ 159 h 916"/>
                  <a:gd name="T6" fmla="*/ 247 w 890"/>
                  <a:gd name="T7" fmla="*/ 91 h 916"/>
                  <a:gd name="T8" fmla="*/ 225 w 890"/>
                  <a:gd name="T9" fmla="*/ 24 h 916"/>
                  <a:gd name="T10" fmla="*/ 259 w 890"/>
                  <a:gd name="T11" fmla="*/ 21 h 916"/>
                  <a:gd name="T12" fmla="*/ 298 w 890"/>
                  <a:gd name="T13" fmla="*/ 82 h 916"/>
                  <a:gd name="T14" fmla="*/ 322 w 890"/>
                  <a:gd name="T15" fmla="*/ 118 h 916"/>
                  <a:gd name="T16" fmla="*/ 358 w 890"/>
                  <a:gd name="T17" fmla="*/ 180 h 916"/>
                  <a:gd name="T18" fmla="*/ 406 w 890"/>
                  <a:gd name="T19" fmla="*/ 240 h 916"/>
                  <a:gd name="T20" fmla="*/ 505 w 890"/>
                  <a:gd name="T21" fmla="*/ 184 h 916"/>
                  <a:gd name="T22" fmla="*/ 514 w 890"/>
                  <a:gd name="T23" fmla="*/ 118 h 916"/>
                  <a:gd name="T24" fmla="*/ 552 w 890"/>
                  <a:gd name="T25" fmla="*/ 69 h 916"/>
                  <a:gd name="T26" fmla="*/ 589 w 890"/>
                  <a:gd name="T27" fmla="*/ 13 h 916"/>
                  <a:gd name="T28" fmla="*/ 615 w 890"/>
                  <a:gd name="T29" fmla="*/ 16 h 916"/>
                  <a:gd name="T30" fmla="*/ 600 w 890"/>
                  <a:gd name="T31" fmla="*/ 49 h 916"/>
                  <a:gd name="T32" fmla="*/ 592 w 890"/>
                  <a:gd name="T33" fmla="*/ 124 h 916"/>
                  <a:gd name="T34" fmla="*/ 574 w 890"/>
                  <a:gd name="T35" fmla="*/ 186 h 916"/>
                  <a:gd name="T36" fmla="*/ 568 w 890"/>
                  <a:gd name="T37" fmla="*/ 282 h 916"/>
                  <a:gd name="T38" fmla="*/ 645 w 890"/>
                  <a:gd name="T39" fmla="*/ 325 h 916"/>
                  <a:gd name="T40" fmla="*/ 720 w 890"/>
                  <a:gd name="T41" fmla="*/ 277 h 916"/>
                  <a:gd name="T42" fmla="*/ 816 w 890"/>
                  <a:gd name="T43" fmla="*/ 253 h 916"/>
                  <a:gd name="T44" fmla="*/ 861 w 890"/>
                  <a:gd name="T45" fmla="*/ 279 h 916"/>
                  <a:gd name="T46" fmla="*/ 796 w 890"/>
                  <a:gd name="T47" fmla="*/ 324 h 916"/>
                  <a:gd name="T48" fmla="*/ 735 w 890"/>
                  <a:gd name="T49" fmla="*/ 352 h 916"/>
                  <a:gd name="T50" fmla="*/ 669 w 890"/>
                  <a:gd name="T51" fmla="*/ 409 h 916"/>
                  <a:gd name="T52" fmla="*/ 673 w 890"/>
                  <a:gd name="T53" fmla="*/ 510 h 916"/>
                  <a:gd name="T54" fmla="*/ 751 w 890"/>
                  <a:gd name="T55" fmla="*/ 535 h 916"/>
                  <a:gd name="T56" fmla="*/ 819 w 890"/>
                  <a:gd name="T57" fmla="*/ 577 h 916"/>
                  <a:gd name="T58" fmla="*/ 874 w 890"/>
                  <a:gd name="T59" fmla="*/ 606 h 916"/>
                  <a:gd name="T60" fmla="*/ 867 w 890"/>
                  <a:gd name="T61" fmla="*/ 637 h 916"/>
                  <a:gd name="T62" fmla="*/ 807 w 890"/>
                  <a:gd name="T63" fmla="*/ 618 h 916"/>
                  <a:gd name="T64" fmla="*/ 736 w 890"/>
                  <a:gd name="T65" fmla="*/ 592 h 916"/>
                  <a:gd name="T66" fmla="*/ 615 w 890"/>
                  <a:gd name="T67" fmla="*/ 588 h 916"/>
                  <a:gd name="T68" fmla="*/ 576 w 890"/>
                  <a:gd name="T69" fmla="*/ 628 h 916"/>
                  <a:gd name="T70" fmla="*/ 618 w 890"/>
                  <a:gd name="T71" fmla="*/ 723 h 916"/>
                  <a:gd name="T72" fmla="*/ 640 w 890"/>
                  <a:gd name="T73" fmla="*/ 807 h 916"/>
                  <a:gd name="T74" fmla="*/ 664 w 890"/>
                  <a:gd name="T75" fmla="*/ 889 h 916"/>
                  <a:gd name="T76" fmla="*/ 624 w 890"/>
                  <a:gd name="T77" fmla="*/ 870 h 916"/>
                  <a:gd name="T78" fmla="*/ 568 w 890"/>
                  <a:gd name="T79" fmla="*/ 789 h 916"/>
                  <a:gd name="T80" fmla="*/ 513 w 890"/>
                  <a:gd name="T81" fmla="*/ 708 h 916"/>
                  <a:gd name="T82" fmla="*/ 390 w 890"/>
                  <a:gd name="T83" fmla="*/ 730 h 916"/>
                  <a:gd name="T84" fmla="*/ 339 w 890"/>
                  <a:gd name="T85" fmla="*/ 838 h 916"/>
                  <a:gd name="T86" fmla="*/ 285 w 890"/>
                  <a:gd name="T87" fmla="*/ 915 h 916"/>
                  <a:gd name="T88" fmla="*/ 276 w 890"/>
                  <a:gd name="T89" fmla="*/ 867 h 916"/>
                  <a:gd name="T90" fmla="*/ 298 w 890"/>
                  <a:gd name="T91" fmla="*/ 766 h 916"/>
                  <a:gd name="T92" fmla="*/ 324 w 890"/>
                  <a:gd name="T93" fmla="*/ 664 h 916"/>
                  <a:gd name="T94" fmla="*/ 283 w 890"/>
                  <a:gd name="T95" fmla="*/ 583 h 916"/>
                  <a:gd name="T96" fmla="*/ 201 w 890"/>
                  <a:gd name="T97" fmla="*/ 619 h 916"/>
                  <a:gd name="T98" fmla="*/ 88 w 890"/>
                  <a:gd name="T99" fmla="*/ 655 h 916"/>
                  <a:gd name="T100" fmla="*/ 16 w 890"/>
                  <a:gd name="T101" fmla="*/ 655 h 916"/>
                  <a:gd name="T102" fmla="*/ 94 w 890"/>
                  <a:gd name="T103" fmla="*/ 606 h 916"/>
                  <a:gd name="T104" fmla="*/ 162 w 890"/>
                  <a:gd name="T105" fmla="*/ 567 h 916"/>
                  <a:gd name="T106" fmla="*/ 247 w 890"/>
                  <a:gd name="T107" fmla="*/ 504 h 916"/>
                  <a:gd name="T108" fmla="*/ 190 w 890"/>
                  <a:gd name="T109" fmla="*/ 390 h 916"/>
                  <a:gd name="T110" fmla="*/ 81 w 890"/>
                  <a:gd name="T111" fmla="*/ 355 h 916"/>
                  <a:gd name="T112" fmla="*/ 3 w 890"/>
                  <a:gd name="T113" fmla="*/ 307 h 916"/>
                  <a:gd name="T114" fmla="*/ 39 w 890"/>
                  <a:gd name="T115" fmla="*/ 286 h 916"/>
                  <a:gd name="T116" fmla="*/ 115 w 890"/>
                  <a:gd name="T117" fmla="*/ 306 h 916"/>
                  <a:gd name="T118" fmla="*/ 226 w 890"/>
                  <a:gd name="T119" fmla="*/ 327 h 9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890" h="916">
                    <a:moveTo>
                      <a:pt x="279" y="334"/>
                    </a:moveTo>
                    <a:lnTo>
                      <a:pt x="292" y="312"/>
                    </a:lnTo>
                    <a:lnTo>
                      <a:pt x="307" y="292"/>
                    </a:lnTo>
                    <a:lnTo>
                      <a:pt x="324" y="276"/>
                    </a:lnTo>
                    <a:lnTo>
                      <a:pt x="313" y="255"/>
                    </a:lnTo>
                    <a:lnTo>
                      <a:pt x="307" y="234"/>
                    </a:lnTo>
                    <a:lnTo>
                      <a:pt x="288" y="202"/>
                    </a:lnTo>
                    <a:lnTo>
                      <a:pt x="274" y="181"/>
                    </a:lnTo>
                    <a:lnTo>
                      <a:pt x="261" y="159"/>
                    </a:lnTo>
                    <a:lnTo>
                      <a:pt x="256" y="139"/>
                    </a:lnTo>
                    <a:lnTo>
                      <a:pt x="256" y="118"/>
                    </a:lnTo>
                    <a:lnTo>
                      <a:pt x="247" y="91"/>
                    </a:lnTo>
                    <a:lnTo>
                      <a:pt x="237" y="70"/>
                    </a:lnTo>
                    <a:lnTo>
                      <a:pt x="226" y="46"/>
                    </a:lnTo>
                    <a:lnTo>
                      <a:pt x="225" y="24"/>
                    </a:lnTo>
                    <a:lnTo>
                      <a:pt x="232" y="10"/>
                    </a:lnTo>
                    <a:lnTo>
                      <a:pt x="247" y="9"/>
                    </a:lnTo>
                    <a:lnTo>
                      <a:pt x="259" y="21"/>
                    </a:lnTo>
                    <a:lnTo>
                      <a:pt x="270" y="46"/>
                    </a:lnTo>
                    <a:lnTo>
                      <a:pt x="280" y="61"/>
                    </a:lnTo>
                    <a:lnTo>
                      <a:pt x="298" y="82"/>
                    </a:lnTo>
                    <a:lnTo>
                      <a:pt x="309" y="88"/>
                    </a:lnTo>
                    <a:lnTo>
                      <a:pt x="315" y="99"/>
                    </a:lnTo>
                    <a:lnTo>
                      <a:pt x="322" y="118"/>
                    </a:lnTo>
                    <a:lnTo>
                      <a:pt x="330" y="141"/>
                    </a:lnTo>
                    <a:lnTo>
                      <a:pt x="339" y="160"/>
                    </a:lnTo>
                    <a:lnTo>
                      <a:pt x="358" y="180"/>
                    </a:lnTo>
                    <a:lnTo>
                      <a:pt x="379" y="205"/>
                    </a:lnTo>
                    <a:lnTo>
                      <a:pt x="399" y="225"/>
                    </a:lnTo>
                    <a:lnTo>
                      <a:pt x="406" y="240"/>
                    </a:lnTo>
                    <a:lnTo>
                      <a:pt x="474" y="241"/>
                    </a:lnTo>
                    <a:lnTo>
                      <a:pt x="495" y="208"/>
                    </a:lnTo>
                    <a:lnTo>
                      <a:pt x="505" y="184"/>
                    </a:lnTo>
                    <a:lnTo>
                      <a:pt x="507" y="160"/>
                    </a:lnTo>
                    <a:lnTo>
                      <a:pt x="510" y="141"/>
                    </a:lnTo>
                    <a:lnTo>
                      <a:pt x="514" y="118"/>
                    </a:lnTo>
                    <a:lnTo>
                      <a:pt x="529" y="94"/>
                    </a:lnTo>
                    <a:lnTo>
                      <a:pt x="540" y="85"/>
                    </a:lnTo>
                    <a:lnTo>
                      <a:pt x="552" y="69"/>
                    </a:lnTo>
                    <a:lnTo>
                      <a:pt x="561" y="45"/>
                    </a:lnTo>
                    <a:lnTo>
                      <a:pt x="571" y="27"/>
                    </a:lnTo>
                    <a:lnTo>
                      <a:pt x="589" y="13"/>
                    </a:lnTo>
                    <a:lnTo>
                      <a:pt x="604" y="0"/>
                    </a:lnTo>
                    <a:lnTo>
                      <a:pt x="613" y="6"/>
                    </a:lnTo>
                    <a:lnTo>
                      <a:pt x="615" y="16"/>
                    </a:lnTo>
                    <a:lnTo>
                      <a:pt x="606" y="27"/>
                    </a:lnTo>
                    <a:lnTo>
                      <a:pt x="603" y="34"/>
                    </a:lnTo>
                    <a:lnTo>
                      <a:pt x="600" y="49"/>
                    </a:lnTo>
                    <a:lnTo>
                      <a:pt x="600" y="79"/>
                    </a:lnTo>
                    <a:lnTo>
                      <a:pt x="600" y="103"/>
                    </a:lnTo>
                    <a:lnTo>
                      <a:pt x="592" y="124"/>
                    </a:lnTo>
                    <a:lnTo>
                      <a:pt x="583" y="145"/>
                    </a:lnTo>
                    <a:lnTo>
                      <a:pt x="576" y="162"/>
                    </a:lnTo>
                    <a:lnTo>
                      <a:pt x="574" y="186"/>
                    </a:lnTo>
                    <a:lnTo>
                      <a:pt x="574" y="216"/>
                    </a:lnTo>
                    <a:lnTo>
                      <a:pt x="568" y="244"/>
                    </a:lnTo>
                    <a:lnTo>
                      <a:pt x="568" y="282"/>
                    </a:lnTo>
                    <a:lnTo>
                      <a:pt x="588" y="300"/>
                    </a:lnTo>
                    <a:lnTo>
                      <a:pt x="607" y="325"/>
                    </a:lnTo>
                    <a:lnTo>
                      <a:pt x="645" y="325"/>
                    </a:lnTo>
                    <a:lnTo>
                      <a:pt x="678" y="312"/>
                    </a:lnTo>
                    <a:lnTo>
                      <a:pt x="697" y="292"/>
                    </a:lnTo>
                    <a:lnTo>
                      <a:pt x="720" y="277"/>
                    </a:lnTo>
                    <a:lnTo>
                      <a:pt x="777" y="274"/>
                    </a:lnTo>
                    <a:lnTo>
                      <a:pt x="801" y="265"/>
                    </a:lnTo>
                    <a:lnTo>
                      <a:pt x="816" y="253"/>
                    </a:lnTo>
                    <a:lnTo>
                      <a:pt x="859" y="252"/>
                    </a:lnTo>
                    <a:lnTo>
                      <a:pt x="865" y="265"/>
                    </a:lnTo>
                    <a:lnTo>
                      <a:pt x="861" y="279"/>
                    </a:lnTo>
                    <a:lnTo>
                      <a:pt x="843" y="288"/>
                    </a:lnTo>
                    <a:lnTo>
                      <a:pt x="819" y="300"/>
                    </a:lnTo>
                    <a:lnTo>
                      <a:pt x="796" y="324"/>
                    </a:lnTo>
                    <a:lnTo>
                      <a:pt x="786" y="334"/>
                    </a:lnTo>
                    <a:lnTo>
                      <a:pt x="765" y="343"/>
                    </a:lnTo>
                    <a:lnTo>
                      <a:pt x="735" y="352"/>
                    </a:lnTo>
                    <a:lnTo>
                      <a:pt x="714" y="367"/>
                    </a:lnTo>
                    <a:lnTo>
                      <a:pt x="687" y="390"/>
                    </a:lnTo>
                    <a:lnTo>
                      <a:pt x="669" y="409"/>
                    </a:lnTo>
                    <a:lnTo>
                      <a:pt x="649" y="420"/>
                    </a:lnTo>
                    <a:lnTo>
                      <a:pt x="648" y="481"/>
                    </a:lnTo>
                    <a:lnTo>
                      <a:pt x="673" y="510"/>
                    </a:lnTo>
                    <a:lnTo>
                      <a:pt x="703" y="526"/>
                    </a:lnTo>
                    <a:lnTo>
                      <a:pt x="730" y="531"/>
                    </a:lnTo>
                    <a:lnTo>
                      <a:pt x="751" y="535"/>
                    </a:lnTo>
                    <a:lnTo>
                      <a:pt x="777" y="549"/>
                    </a:lnTo>
                    <a:lnTo>
                      <a:pt x="795" y="567"/>
                    </a:lnTo>
                    <a:lnTo>
                      <a:pt x="819" y="577"/>
                    </a:lnTo>
                    <a:lnTo>
                      <a:pt x="846" y="583"/>
                    </a:lnTo>
                    <a:lnTo>
                      <a:pt x="861" y="592"/>
                    </a:lnTo>
                    <a:lnTo>
                      <a:pt x="874" y="606"/>
                    </a:lnTo>
                    <a:lnTo>
                      <a:pt x="889" y="621"/>
                    </a:lnTo>
                    <a:lnTo>
                      <a:pt x="888" y="634"/>
                    </a:lnTo>
                    <a:lnTo>
                      <a:pt x="867" y="637"/>
                    </a:lnTo>
                    <a:lnTo>
                      <a:pt x="853" y="631"/>
                    </a:lnTo>
                    <a:lnTo>
                      <a:pt x="832" y="618"/>
                    </a:lnTo>
                    <a:lnTo>
                      <a:pt x="807" y="618"/>
                    </a:lnTo>
                    <a:lnTo>
                      <a:pt x="780" y="618"/>
                    </a:lnTo>
                    <a:lnTo>
                      <a:pt x="759" y="615"/>
                    </a:lnTo>
                    <a:lnTo>
                      <a:pt x="736" y="592"/>
                    </a:lnTo>
                    <a:lnTo>
                      <a:pt x="718" y="588"/>
                    </a:lnTo>
                    <a:lnTo>
                      <a:pt x="684" y="588"/>
                    </a:lnTo>
                    <a:lnTo>
                      <a:pt x="615" y="588"/>
                    </a:lnTo>
                    <a:lnTo>
                      <a:pt x="604" y="606"/>
                    </a:lnTo>
                    <a:lnTo>
                      <a:pt x="589" y="621"/>
                    </a:lnTo>
                    <a:lnTo>
                      <a:pt x="576" y="628"/>
                    </a:lnTo>
                    <a:lnTo>
                      <a:pt x="580" y="666"/>
                    </a:lnTo>
                    <a:lnTo>
                      <a:pt x="600" y="702"/>
                    </a:lnTo>
                    <a:lnTo>
                      <a:pt x="618" y="723"/>
                    </a:lnTo>
                    <a:lnTo>
                      <a:pt x="630" y="753"/>
                    </a:lnTo>
                    <a:lnTo>
                      <a:pt x="631" y="787"/>
                    </a:lnTo>
                    <a:lnTo>
                      <a:pt x="640" y="807"/>
                    </a:lnTo>
                    <a:lnTo>
                      <a:pt x="654" y="838"/>
                    </a:lnTo>
                    <a:lnTo>
                      <a:pt x="664" y="862"/>
                    </a:lnTo>
                    <a:lnTo>
                      <a:pt x="664" y="889"/>
                    </a:lnTo>
                    <a:lnTo>
                      <a:pt x="654" y="898"/>
                    </a:lnTo>
                    <a:lnTo>
                      <a:pt x="642" y="898"/>
                    </a:lnTo>
                    <a:lnTo>
                      <a:pt x="624" y="870"/>
                    </a:lnTo>
                    <a:lnTo>
                      <a:pt x="612" y="837"/>
                    </a:lnTo>
                    <a:lnTo>
                      <a:pt x="583" y="808"/>
                    </a:lnTo>
                    <a:lnTo>
                      <a:pt x="568" y="789"/>
                    </a:lnTo>
                    <a:lnTo>
                      <a:pt x="556" y="760"/>
                    </a:lnTo>
                    <a:lnTo>
                      <a:pt x="549" y="738"/>
                    </a:lnTo>
                    <a:lnTo>
                      <a:pt x="513" y="708"/>
                    </a:lnTo>
                    <a:lnTo>
                      <a:pt x="489" y="682"/>
                    </a:lnTo>
                    <a:lnTo>
                      <a:pt x="415" y="684"/>
                    </a:lnTo>
                    <a:lnTo>
                      <a:pt x="390" y="730"/>
                    </a:lnTo>
                    <a:lnTo>
                      <a:pt x="372" y="759"/>
                    </a:lnTo>
                    <a:lnTo>
                      <a:pt x="361" y="798"/>
                    </a:lnTo>
                    <a:lnTo>
                      <a:pt x="339" y="838"/>
                    </a:lnTo>
                    <a:lnTo>
                      <a:pt x="316" y="874"/>
                    </a:lnTo>
                    <a:lnTo>
                      <a:pt x="294" y="907"/>
                    </a:lnTo>
                    <a:lnTo>
                      <a:pt x="285" y="915"/>
                    </a:lnTo>
                    <a:lnTo>
                      <a:pt x="268" y="909"/>
                    </a:lnTo>
                    <a:lnTo>
                      <a:pt x="268" y="894"/>
                    </a:lnTo>
                    <a:lnTo>
                      <a:pt x="276" y="867"/>
                    </a:lnTo>
                    <a:lnTo>
                      <a:pt x="291" y="837"/>
                    </a:lnTo>
                    <a:lnTo>
                      <a:pt x="294" y="790"/>
                    </a:lnTo>
                    <a:lnTo>
                      <a:pt x="298" y="766"/>
                    </a:lnTo>
                    <a:lnTo>
                      <a:pt x="313" y="744"/>
                    </a:lnTo>
                    <a:lnTo>
                      <a:pt x="319" y="699"/>
                    </a:lnTo>
                    <a:lnTo>
                      <a:pt x="324" y="664"/>
                    </a:lnTo>
                    <a:lnTo>
                      <a:pt x="336" y="637"/>
                    </a:lnTo>
                    <a:lnTo>
                      <a:pt x="309" y="609"/>
                    </a:lnTo>
                    <a:lnTo>
                      <a:pt x="283" y="583"/>
                    </a:lnTo>
                    <a:lnTo>
                      <a:pt x="271" y="577"/>
                    </a:lnTo>
                    <a:lnTo>
                      <a:pt x="231" y="601"/>
                    </a:lnTo>
                    <a:lnTo>
                      <a:pt x="201" y="619"/>
                    </a:lnTo>
                    <a:lnTo>
                      <a:pt x="162" y="633"/>
                    </a:lnTo>
                    <a:lnTo>
                      <a:pt x="118" y="640"/>
                    </a:lnTo>
                    <a:lnTo>
                      <a:pt x="88" y="655"/>
                    </a:lnTo>
                    <a:lnTo>
                      <a:pt x="63" y="666"/>
                    </a:lnTo>
                    <a:lnTo>
                      <a:pt x="27" y="666"/>
                    </a:lnTo>
                    <a:lnTo>
                      <a:pt x="16" y="655"/>
                    </a:lnTo>
                    <a:lnTo>
                      <a:pt x="30" y="642"/>
                    </a:lnTo>
                    <a:lnTo>
                      <a:pt x="67" y="628"/>
                    </a:lnTo>
                    <a:lnTo>
                      <a:pt x="94" y="606"/>
                    </a:lnTo>
                    <a:lnTo>
                      <a:pt x="120" y="588"/>
                    </a:lnTo>
                    <a:lnTo>
                      <a:pt x="136" y="576"/>
                    </a:lnTo>
                    <a:lnTo>
                      <a:pt x="162" y="567"/>
                    </a:lnTo>
                    <a:lnTo>
                      <a:pt x="204" y="531"/>
                    </a:lnTo>
                    <a:lnTo>
                      <a:pt x="231" y="510"/>
                    </a:lnTo>
                    <a:lnTo>
                      <a:pt x="247" y="504"/>
                    </a:lnTo>
                    <a:lnTo>
                      <a:pt x="250" y="429"/>
                    </a:lnTo>
                    <a:lnTo>
                      <a:pt x="204" y="396"/>
                    </a:lnTo>
                    <a:lnTo>
                      <a:pt x="190" y="390"/>
                    </a:lnTo>
                    <a:lnTo>
                      <a:pt x="129" y="385"/>
                    </a:lnTo>
                    <a:lnTo>
                      <a:pt x="105" y="369"/>
                    </a:lnTo>
                    <a:lnTo>
                      <a:pt x="81" y="355"/>
                    </a:lnTo>
                    <a:lnTo>
                      <a:pt x="63" y="345"/>
                    </a:lnTo>
                    <a:lnTo>
                      <a:pt x="34" y="339"/>
                    </a:lnTo>
                    <a:lnTo>
                      <a:pt x="3" y="307"/>
                    </a:lnTo>
                    <a:lnTo>
                      <a:pt x="0" y="291"/>
                    </a:lnTo>
                    <a:lnTo>
                      <a:pt x="9" y="285"/>
                    </a:lnTo>
                    <a:lnTo>
                      <a:pt x="39" y="286"/>
                    </a:lnTo>
                    <a:lnTo>
                      <a:pt x="67" y="301"/>
                    </a:lnTo>
                    <a:lnTo>
                      <a:pt x="85" y="304"/>
                    </a:lnTo>
                    <a:lnTo>
                      <a:pt x="115" y="306"/>
                    </a:lnTo>
                    <a:lnTo>
                      <a:pt x="148" y="318"/>
                    </a:lnTo>
                    <a:lnTo>
                      <a:pt x="165" y="324"/>
                    </a:lnTo>
                    <a:lnTo>
                      <a:pt x="226" y="327"/>
                    </a:lnTo>
                    <a:lnTo>
                      <a:pt x="258" y="334"/>
                    </a:lnTo>
                    <a:lnTo>
                      <a:pt x="279" y="334"/>
                    </a:lnTo>
                  </a:path>
                </a:pathLst>
              </a:custGeom>
              <a:solidFill>
                <a:schemeClr val="hlink">
                  <a:alpha val="50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30" name="Freeform 6">
                <a:extLst>
                  <a:ext uri="{FF2B5EF4-FFF2-40B4-BE49-F238E27FC236}">
                    <a16:creationId xmlns:a16="http://schemas.microsoft.com/office/drawing/2014/main" id="{B5FBEF9A-AC6E-F71B-7022-0927A85B20C5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6" y="3160"/>
                <a:ext cx="890" cy="916"/>
              </a:xfrm>
              <a:custGeom>
                <a:avLst/>
                <a:gdLst>
                  <a:gd name="T0" fmla="*/ 307 w 890"/>
                  <a:gd name="T1" fmla="*/ 292 h 916"/>
                  <a:gd name="T2" fmla="*/ 307 w 890"/>
                  <a:gd name="T3" fmla="*/ 234 h 916"/>
                  <a:gd name="T4" fmla="*/ 261 w 890"/>
                  <a:gd name="T5" fmla="*/ 159 h 916"/>
                  <a:gd name="T6" fmla="*/ 247 w 890"/>
                  <a:gd name="T7" fmla="*/ 91 h 916"/>
                  <a:gd name="T8" fmla="*/ 225 w 890"/>
                  <a:gd name="T9" fmla="*/ 24 h 916"/>
                  <a:gd name="T10" fmla="*/ 259 w 890"/>
                  <a:gd name="T11" fmla="*/ 21 h 916"/>
                  <a:gd name="T12" fmla="*/ 298 w 890"/>
                  <a:gd name="T13" fmla="*/ 82 h 916"/>
                  <a:gd name="T14" fmla="*/ 322 w 890"/>
                  <a:gd name="T15" fmla="*/ 118 h 916"/>
                  <a:gd name="T16" fmla="*/ 358 w 890"/>
                  <a:gd name="T17" fmla="*/ 180 h 916"/>
                  <a:gd name="T18" fmla="*/ 406 w 890"/>
                  <a:gd name="T19" fmla="*/ 240 h 916"/>
                  <a:gd name="T20" fmla="*/ 505 w 890"/>
                  <a:gd name="T21" fmla="*/ 184 h 916"/>
                  <a:gd name="T22" fmla="*/ 514 w 890"/>
                  <a:gd name="T23" fmla="*/ 118 h 916"/>
                  <a:gd name="T24" fmla="*/ 552 w 890"/>
                  <a:gd name="T25" fmla="*/ 69 h 916"/>
                  <a:gd name="T26" fmla="*/ 589 w 890"/>
                  <a:gd name="T27" fmla="*/ 13 h 916"/>
                  <a:gd name="T28" fmla="*/ 615 w 890"/>
                  <a:gd name="T29" fmla="*/ 16 h 916"/>
                  <a:gd name="T30" fmla="*/ 600 w 890"/>
                  <a:gd name="T31" fmla="*/ 49 h 916"/>
                  <a:gd name="T32" fmla="*/ 592 w 890"/>
                  <a:gd name="T33" fmla="*/ 124 h 916"/>
                  <a:gd name="T34" fmla="*/ 574 w 890"/>
                  <a:gd name="T35" fmla="*/ 186 h 916"/>
                  <a:gd name="T36" fmla="*/ 568 w 890"/>
                  <a:gd name="T37" fmla="*/ 282 h 916"/>
                  <a:gd name="T38" fmla="*/ 645 w 890"/>
                  <a:gd name="T39" fmla="*/ 325 h 916"/>
                  <a:gd name="T40" fmla="*/ 720 w 890"/>
                  <a:gd name="T41" fmla="*/ 277 h 916"/>
                  <a:gd name="T42" fmla="*/ 816 w 890"/>
                  <a:gd name="T43" fmla="*/ 253 h 916"/>
                  <a:gd name="T44" fmla="*/ 861 w 890"/>
                  <a:gd name="T45" fmla="*/ 279 h 916"/>
                  <a:gd name="T46" fmla="*/ 796 w 890"/>
                  <a:gd name="T47" fmla="*/ 324 h 916"/>
                  <a:gd name="T48" fmla="*/ 735 w 890"/>
                  <a:gd name="T49" fmla="*/ 352 h 916"/>
                  <a:gd name="T50" fmla="*/ 669 w 890"/>
                  <a:gd name="T51" fmla="*/ 409 h 916"/>
                  <a:gd name="T52" fmla="*/ 673 w 890"/>
                  <a:gd name="T53" fmla="*/ 510 h 916"/>
                  <a:gd name="T54" fmla="*/ 751 w 890"/>
                  <a:gd name="T55" fmla="*/ 535 h 916"/>
                  <a:gd name="T56" fmla="*/ 819 w 890"/>
                  <a:gd name="T57" fmla="*/ 577 h 916"/>
                  <a:gd name="T58" fmla="*/ 874 w 890"/>
                  <a:gd name="T59" fmla="*/ 606 h 916"/>
                  <a:gd name="T60" fmla="*/ 867 w 890"/>
                  <a:gd name="T61" fmla="*/ 637 h 916"/>
                  <a:gd name="T62" fmla="*/ 807 w 890"/>
                  <a:gd name="T63" fmla="*/ 618 h 916"/>
                  <a:gd name="T64" fmla="*/ 736 w 890"/>
                  <a:gd name="T65" fmla="*/ 592 h 916"/>
                  <a:gd name="T66" fmla="*/ 615 w 890"/>
                  <a:gd name="T67" fmla="*/ 588 h 916"/>
                  <a:gd name="T68" fmla="*/ 576 w 890"/>
                  <a:gd name="T69" fmla="*/ 628 h 916"/>
                  <a:gd name="T70" fmla="*/ 618 w 890"/>
                  <a:gd name="T71" fmla="*/ 723 h 916"/>
                  <a:gd name="T72" fmla="*/ 640 w 890"/>
                  <a:gd name="T73" fmla="*/ 807 h 916"/>
                  <a:gd name="T74" fmla="*/ 664 w 890"/>
                  <a:gd name="T75" fmla="*/ 889 h 916"/>
                  <a:gd name="T76" fmla="*/ 624 w 890"/>
                  <a:gd name="T77" fmla="*/ 870 h 916"/>
                  <a:gd name="T78" fmla="*/ 568 w 890"/>
                  <a:gd name="T79" fmla="*/ 789 h 916"/>
                  <a:gd name="T80" fmla="*/ 513 w 890"/>
                  <a:gd name="T81" fmla="*/ 708 h 916"/>
                  <a:gd name="T82" fmla="*/ 390 w 890"/>
                  <a:gd name="T83" fmla="*/ 730 h 916"/>
                  <a:gd name="T84" fmla="*/ 339 w 890"/>
                  <a:gd name="T85" fmla="*/ 838 h 916"/>
                  <a:gd name="T86" fmla="*/ 285 w 890"/>
                  <a:gd name="T87" fmla="*/ 915 h 916"/>
                  <a:gd name="T88" fmla="*/ 276 w 890"/>
                  <a:gd name="T89" fmla="*/ 867 h 916"/>
                  <a:gd name="T90" fmla="*/ 298 w 890"/>
                  <a:gd name="T91" fmla="*/ 766 h 916"/>
                  <a:gd name="T92" fmla="*/ 324 w 890"/>
                  <a:gd name="T93" fmla="*/ 664 h 916"/>
                  <a:gd name="T94" fmla="*/ 283 w 890"/>
                  <a:gd name="T95" fmla="*/ 583 h 916"/>
                  <a:gd name="T96" fmla="*/ 201 w 890"/>
                  <a:gd name="T97" fmla="*/ 619 h 916"/>
                  <a:gd name="T98" fmla="*/ 88 w 890"/>
                  <a:gd name="T99" fmla="*/ 655 h 916"/>
                  <a:gd name="T100" fmla="*/ 16 w 890"/>
                  <a:gd name="T101" fmla="*/ 655 h 916"/>
                  <a:gd name="T102" fmla="*/ 94 w 890"/>
                  <a:gd name="T103" fmla="*/ 606 h 916"/>
                  <a:gd name="T104" fmla="*/ 162 w 890"/>
                  <a:gd name="T105" fmla="*/ 567 h 916"/>
                  <a:gd name="T106" fmla="*/ 247 w 890"/>
                  <a:gd name="T107" fmla="*/ 504 h 916"/>
                  <a:gd name="T108" fmla="*/ 190 w 890"/>
                  <a:gd name="T109" fmla="*/ 390 h 916"/>
                  <a:gd name="T110" fmla="*/ 81 w 890"/>
                  <a:gd name="T111" fmla="*/ 355 h 916"/>
                  <a:gd name="T112" fmla="*/ 3 w 890"/>
                  <a:gd name="T113" fmla="*/ 307 h 916"/>
                  <a:gd name="T114" fmla="*/ 39 w 890"/>
                  <a:gd name="T115" fmla="*/ 286 h 916"/>
                  <a:gd name="T116" fmla="*/ 115 w 890"/>
                  <a:gd name="T117" fmla="*/ 306 h 916"/>
                  <a:gd name="T118" fmla="*/ 226 w 890"/>
                  <a:gd name="T119" fmla="*/ 327 h 9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890" h="916">
                    <a:moveTo>
                      <a:pt x="279" y="334"/>
                    </a:moveTo>
                    <a:lnTo>
                      <a:pt x="292" y="312"/>
                    </a:lnTo>
                    <a:lnTo>
                      <a:pt x="307" y="292"/>
                    </a:lnTo>
                    <a:lnTo>
                      <a:pt x="324" y="276"/>
                    </a:lnTo>
                    <a:lnTo>
                      <a:pt x="313" y="255"/>
                    </a:lnTo>
                    <a:lnTo>
                      <a:pt x="307" y="234"/>
                    </a:lnTo>
                    <a:lnTo>
                      <a:pt x="288" y="202"/>
                    </a:lnTo>
                    <a:lnTo>
                      <a:pt x="274" y="181"/>
                    </a:lnTo>
                    <a:lnTo>
                      <a:pt x="261" y="159"/>
                    </a:lnTo>
                    <a:lnTo>
                      <a:pt x="256" y="139"/>
                    </a:lnTo>
                    <a:lnTo>
                      <a:pt x="256" y="118"/>
                    </a:lnTo>
                    <a:lnTo>
                      <a:pt x="247" y="91"/>
                    </a:lnTo>
                    <a:lnTo>
                      <a:pt x="237" y="70"/>
                    </a:lnTo>
                    <a:lnTo>
                      <a:pt x="226" y="46"/>
                    </a:lnTo>
                    <a:lnTo>
                      <a:pt x="225" y="24"/>
                    </a:lnTo>
                    <a:lnTo>
                      <a:pt x="232" y="10"/>
                    </a:lnTo>
                    <a:lnTo>
                      <a:pt x="247" y="9"/>
                    </a:lnTo>
                    <a:lnTo>
                      <a:pt x="259" y="21"/>
                    </a:lnTo>
                    <a:lnTo>
                      <a:pt x="270" y="46"/>
                    </a:lnTo>
                    <a:lnTo>
                      <a:pt x="280" y="61"/>
                    </a:lnTo>
                    <a:lnTo>
                      <a:pt x="298" y="82"/>
                    </a:lnTo>
                    <a:lnTo>
                      <a:pt x="309" y="88"/>
                    </a:lnTo>
                    <a:lnTo>
                      <a:pt x="315" y="99"/>
                    </a:lnTo>
                    <a:lnTo>
                      <a:pt x="322" y="118"/>
                    </a:lnTo>
                    <a:lnTo>
                      <a:pt x="330" y="141"/>
                    </a:lnTo>
                    <a:lnTo>
                      <a:pt x="339" y="160"/>
                    </a:lnTo>
                    <a:lnTo>
                      <a:pt x="358" y="180"/>
                    </a:lnTo>
                    <a:lnTo>
                      <a:pt x="379" y="205"/>
                    </a:lnTo>
                    <a:lnTo>
                      <a:pt x="399" y="225"/>
                    </a:lnTo>
                    <a:lnTo>
                      <a:pt x="406" y="240"/>
                    </a:lnTo>
                    <a:lnTo>
                      <a:pt x="474" y="241"/>
                    </a:lnTo>
                    <a:lnTo>
                      <a:pt x="495" y="208"/>
                    </a:lnTo>
                    <a:lnTo>
                      <a:pt x="505" y="184"/>
                    </a:lnTo>
                    <a:lnTo>
                      <a:pt x="507" y="160"/>
                    </a:lnTo>
                    <a:lnTo>
                      <a:pt x="510" y="141"/>
                    </a:lnTo>
                    <a:lnTo>
                      <a:pt x="514" y="118"/>
                    </a:lnTo>
                    <a:lnTo>
                      <a:pt x="529" y="94"/>
                    </a:lnTo>
                    <a:lnTo>
                      <a:pt x="540" y="85"/>
                    </a:lnTo>
                    <a:lnTo>
                      <a:pt x="552" y="69"/>
                    </a:lnTo>
                    <a:lnTo>
                      <a:pt x="561" y="45"/>
                    </a:lnTo>
                    <a:lnTo>
                      <a:pt x="571" y="27"/>
                    </a:lnTo>
                    <a:lnTo>
                      <a:pt x="589" y="13"/>
                    </a:lnTo>
                    <a:lnTo>
                      <a:pt x="604" y="0"/>
                    </a:lnTo>
                    <a:lnTo>
                      <a:pt x="613" y="6"/>
                    </a:lnTo>
                    <a:lnTo>
                      <a:pt x="615" y="16"/>
                    </a:lnTo>
                    <a:lnTo>
                      <a:pt x="606" y="27"/>
                    </a:lnTo>
                    <a:lnTo>
                      <a:pt x="603" y="34"/>
                    </a:lnTo>
                    <a:lnTo>
                      <a:pt x="600" y="49"/>
                    </a:lnTo>
                    <a:lnTo>
                      <a:pt x="600" y="79"/>
                    </a:lnTo>
                    <a:lnTo>
                      <a:pt x="600" y="103"/>
                    </a:lnTo>
                    <a:lnTo>
                      <a:pt x="592" y="124"/>
                    </a:lnTo>
                    <a:lnTo>
                      <a:pt x="583" y="145"/>
                    </a:lnTo>
                    <a:lnTo>
                      <a:pt x="576" y="162"/>
                    </a:lnTo>
                    <a:lnTo>
                      <a:pt x="574" y="186"/>
                    </a:lnTo>
                    <a:lnTo>
                      <a:pt x="574" y="216"/>
                    </a:lnTo>
                    <a:lnTo>
                      <a:pt x="568" y="244"/>
                    </a:lnTo>
                    <a:lnTo>
                      <a:pt x="568" y="282"/>
                    </a:lnTo>
                    <a:lnTo>
                      <a:pt x="588" y="300"/>
                    </a:lnTo>
                    <a:lnTo>
                      <a:pt x="607" y="325"/>
                    </a:lnTo>
                    <a:lnTo>
                      <a:pt x="645" y="325"/>
                    </a:lnTo>
                    <a:lnTo>
                      <a:pt x="678" y="312"/>
                    </a:lnTo>
                    <a:lnTo>
                      <a:pt x="697" y="292"/>
                    </a:lnTo>
                    <a:lnTo>
                      <a:pt x="720" y="277"/>
                    </a:lnTo>
                    <a:lnTo>
                      <a:pt x="777" y="274"/>
                    </a:lnTo>
                    <a:lnTo>
                      <a:pt x="801" y="265"/>
                    </a:lnTo>
                    <a:lnTo>
                      <a:pt x="816" y="253"/>
                    </a:lnTo>
                    <a:lnTo>
                      <a:pt x="859" y="252"/>
                    </a:lnTo>
                    <a:lnTo>
                      <a:pt x="865" y="265"/>
                    </a:lnTo>
                    <a:lnTo>
                      <a:pt x="861" y="279"/>
                    </a:lnTo>
                    <a:lnTo>
                      <a:pt x="843" y="288"/>
                    </a:lnTo>
                    <a:lnTo>
                      <a:pt x="819" y="300"/>
                    </a:lnTo>
                    <a:lnTo>
                      <a:pt x="796" y="324"/>
                    </a:lnTo>
                    <a:lnTo>
                      <a:pt x="786" y="334"/>
                    </a:lnTo>
                    <a:lnTo>
                      <a:pt x="765" y="343"/>
                    </a:lnTo>
                    <a:lnTo>
                      <a:pt x="735" y="352"/>
                    </a:lnTo>
                    <a:lnTo>
                      <a:pt x="714" y="367"/>
                    </a:lnTo>
                    <a:lnTo>
                      <a:pt x="687" y="390"/>
                    </a:lnTo>
                    <a:lnTo>
                      <a:pt x="669" y="409"/>
                    </a:lnTo>
                    <a:lnTo>
                      <a:pt x="649" y="420"/>
                    </a:lnTo>
                    <a:lnTo>
                      <a:pt x="648" y="481"/>
                    </a:lnTo>
                    <a:lnTo>
                      <a:pt x="673" y="510"/>
                    </a:lnTo>
                    <a:lnTo>
                      <a:pt x="703" y="526"/>
                    </a:lnTo>
                    <a:lnTo>
                      <a:pt x="730" y="531"/>
                    </a:lnTo>
                    <a:lnTo>
                      <a:pt x="751" y="535"/>
                    </a:lnTo>
                    <a:lnTo>
                      <a:pt x="777" y="549"/>
                    </a:lnTo>
                    <a:lnTo>
                      <a:pt x="795" y="567"/>
                    </a:lnTo>
                    <a:lnTo>
                      <a:pt x="819" y="577"/>
                    </a:lnTo>
                    <a:lnTo>
                      <a:pt x="846" y="583"/>
                    </a:lnTo>
                    <a:lnTo>
                      <a:pt x="861" y="592"/>
                    </a:lnTo>
                    <a:lnTo>
                      <a:pt x="874" y="606"/>
                    </a:lnTo>
                    <a:lnTo>
                      <a:pt x="889" y="621"/>
                    </a:lnTo>
                    <a:lnTo>
                      <a:pt x="888" y="634"/>
                    </a:lnTo>
                    <a:lnTo>
                      <a:pt x="867" y="637"/>
                    </a:lnTo>
                    <a:lnTo>
                      <a:pt x="853" y="631"/>
                    </a:lnTo>
                    <a:lnTo>
                      <a:pt x="832" y="618"/>
                    </a:lnTo>
                    <a:lnTo>
                      <a:pt x="807" y="618"/>
                    </a:lnTo>
                    <a:lnTo>
                      <a:pt x="780" y="618"/>
                    </a:lnTo>
                    <a:lnTo>
                      <a:pt x="759" y="615"/>
                    </a:lnTo>
                    <a:lnTo>
                      <a:pt x="736" y="592"/>
                    </a:lnTo>
                    <a:lnTo>
                      <a:pt x="718" y="588"/>
                    </a:lnTo>
                    <a:lnTo>
                      <a:pt x="684" y="588"/>
                    </a:lnTo>
                    <a:lnTo>
                      <a:pt x="615" y="588"/>
                    </a:lnTo>
                    <a:lnTo>
                      <a:pt x="604" y="606"/>
                    </a:lnTo>
                    <a:lnTo>
                      <a:pt x="589" y="621"/>
                    </a:lnTo>
                    <a:lnTo>
                      <a:pt x="576" y="628"/>
                    </a:lnTo>
                    <a:lnTo>
                      <a:pt x="580" y="666"/>
                    </a:lnTo>
                    <a:lnTo>
                      <a:pt x="600" y="702"/>
                    </a:lnTo>
                    <a:lnTo>
                      <a:pt x="618" y="723"/>
                    </a:lnTo>
                    <a:lnTo>
                      <a:pt x="630" y="753"/>
                    </a:lnTo>
                    <a:lnTo>
                      <a:pt x="631" y="787"/>
                    </a:lnTo>
                    <a:lnTo>
                      <a:pt x="640" y="807"/>
                    </a:lnTo>
                    <a:lnTo>
                      <a:pt x="654" y="838"/>
                    </a:lnTo>
                    <a:lnTo>
                      <a:pt x="664" y="862"/>
                    </a:lnTo>
                    <a:lnTo>
                      <a:pt x="664" y="889"/>
                    </a:lnTo>
                    <a:lnTo>
                      <a:pt x="654" y="898"/>
                    </a:lnTo>
                    <a:lnTo>
                      <a:pt x="642" y="898"/>
                    </a:lnTo>
                    <a:lnTo>
                      <a:pt x="624" y="870"/>
                    </a:lnTo>
                    <a:lnTo>
                      <a:pt x="612" y="837"/>
                    </a:lnTo>
                    <a:lnTo>
                      <a:pt x="583" y="808"/>
                    </a:lnTo>
                    <a:lnTo>
                      <a:pt x="568" y="789"/>
                    </a:lnTo>
                    <a:lnTo>
                      <a:pt x="556" y="760"/>
                    </a:lnTo>
                    <a:lnTo>
                      <a:pt x="549" y="738"/>
                    </a:lnTo>
                    <a:lnTo>
                      <a:pt x="513" y="708"/>
                    </a:lnTo>
                    <a:lnTo>
                      <a:pt x="489" y="682"/>
                    </a:lnTo>
                    <a:lnTo>
                      <a:pt x="415" y="684"/>
                    </a:lnTo>
                    <a:lnTo>
                      <a:pt x="390" y="730"/>
                    </a:lnTo>
                    <a:lnTo>
                      <a:pt x="372" y="759"/>
                    </a:lnTo>
                    <a:lnTo>
                      <a:pt x="361" y="798"/>
                    </a:lnTo>
                    <a:lnTo>
                      <a:pt x="339" y="838"/>
                    </a:lnTo>
                    <a:lnTo>
                      <a:pt x="316" y="874"/>
                    </a:lnTo>
                    <a:lnTo>
                      <a:pt x="294" y="907"/>
                    </a:lnTo>
                    <a:lnTo>
                      <a:pt x="285" y="915"/>
                    </a:lnTo>
                    <a:lnTo>
                      <a:pt x="268" y="909"/>
                    </a:lnTo>
                    <a:lnTo>
                      <a:pt x="268" y="894"/>
                    </a:lnTo>
                    <a:lnTo>
                      <a:pt x="276" y="867"/>
                    </a:lnTo>
                    <a:lnTo>
                      <a:pt x="291" y="837"/>
                    </a:lnTo>
                    <a:lnTo>
                      <a:pt x="294" y="790"/>
                    </a:lnTo>
                    <a:lnTo>
                      <a:pt x="298" y="766"/>
                    </a:lnTo>
                    <a:lnTo>
                      <a:pt x="313" y="744"/>
                    </a:lnTo>
                    <a:lnTo>
                      <a:pt x="319" y="699"/>
                    </a:lnTo>
                    <a:lnTo>
                      <a:pt x="324" y="664"/>
                    </a:lnTo>
                    <a:lnTo>
                      <a:pt x="336" y="637"/>
                    </a:lnTo>
                    <a:lnTo>
                      <a:pt x="309" y="609"/>
                    </a:lnTo>
                    <a:lnTo>
                      <a:pt x="283" y="583"/>
                    </a:lnTo>
                    <a:lnTo>
                      <a:pt x="271" y="577"/>
                    </a:lnTo>
                    <a:lnTo>
                      <a:pt x="231" y="601"/>
                    </a:lnTo>
                    <a:lnTo>
                      <a:pt x="201" y="619"/>
                    </a:lnTo>
                    <a:lnTo>
                      <a:pt x="162" y="633"/>
                    </a:lnTo>
                    <a:lnTo>
                      <a:pt x="118" y="640"/>
                    </a:lnTo>
                    <a:lnTo>
                      <a:pt x="88" y="655"/>
                    </a:lnTo>
                    <a:lnTo>
                      <a:pt x="63" y="666"/>
                    </a:lnTo>
                    <a:lnTo>
                      <a:pt x="27" y="666"/>
                    </a:lnTo>
                    <a:lnTo>
                      <a:pt x="16" y="655"/>
                    </a:lnTo>
                    <a:lnTo>
                      <a:pt x="30" y="642"/>
                    </a:lnTo>
                    <a:lnTo>
                      <a:pt x="67" y="628"/>
                    </a:lnTo>
                    <a:lnTo>
                      <a:pt x="94" y="606"/>
                    </a:lnTo>
                    <a:lnTo>
                      <a:pt x="120" y="588"/>
                    </a:lnTo>
                    <a:lnTo>
                      <a:pt x="136" y="576"/>
                    </a:lnTo>
                    <a:lnTo>
                      <a:pt x="162" y="567"/>
                    </a:lnTo>
                    <a:lnTo>
                      <a:pt x="204" y="531"/>
                    </a:lnTo>
                    <a:lnTo>
                      <a:pt x="231" y="510"/>
                    </a:lnTo>
                    <a:lnTo>
                      <a:pt x="247" y="504"/>
                    </a:lnTo>
                    <a:lnTo>
                      <a:pt x="250" y="429"/>
                    </a:lnTo>
                    <a:lnTo>
                      <a:pt x="204" y="396"/>
                    </a:lnTo>
                    <a:lnTo>
                      <a:pt x="190" y="390"/>
                    </a:lnTo>
                    <a:lnTo>
                      <a:pt x="129" y="385"/>
                    </a:lnTo>
                    <a:lnTo>
                      <a:pt x="105" y="369"/>
                    </a:lnTo>
                    <a:lnTo>
                      <a:pt x="81" y="355"/>
                    </a:lnTo>
                    <a:lnTo>
                      <a:pt x="63" y="345"/>
                    </a:lnTo>
                    <a:lnTo>
                      <a:pt x="34" y="339"/>
                    </a:lnTo>
                    <a:lnTo>
                      <a:pt x="3" y="307"/>
                    </a:lnTo>
                    <a:lnTo>
                      <a:pt x="0" y="291"/>
                    </a:lnTo>
                    <a:lnTo>
                      <a:pt x="9" y="285"/>
                    </a:lnTo>
                    <a:lnTo>
                      <a:pt x="39" y="286"/>
                    </a:lnTo>
                    <a:lnTo>
                      <a:pt x="67" y="301"/>
                    </a:lnTo>
                    <a:lnTo>
                      <a:pt x="85" y="304"/>
                    </a:lnTo>
                    <a:lnTo>
                      <a:pt x="115" y="306"/>
                    </a:lnTo>
                    <a:lnTo>
                      <a:pt x="148" y="318"/>
                    </a:lnTo>
                    <a:lnTo>
                      <a:pt x="165" y="324"/>
                    </a:lnTo>
                    <a:lnTo>
                      <a:pt x="226" y="327"/>
                    </a:lnTo>
                    <a:lnTo>
                      <a:pt x="258" y="334"/>
                    </a:lnTo>
                    <a:lnTo>
                      <a:pt x="279" y="334"/>
                    </a:lnTo>
                  </a:path>
                </a:pathLst>
              </a:custGeom>
              <a:solidFill>
                <a:schemeClr val="hlink">
                  <a:alpha val="50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3073" name="Group 1025">
              <a:extLst>
                <a:ext uri="{FF2B5EF4-FFF2-40B4-BE49-F238E27FC236}">
                  <a16:creationId xmlns:a16="http://schemas.microsoft.com/office/drawing/2014/main" id="{950ABB0A-EB85-D345-AD31-919DD635A1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3" y="1028"/>
              <a:ext cx="4766" cy="119"/>
              <a:chOff x="993" y="1028"/>
              <a:chExt cx="4766" cy="119"/>
            </a:xfrm>
          </p:grpSpPr>
          <p:sp>
            <p:nvSpPr>
              <p:cNvPr id="1032" name="Rectangle 8">
                <a:extLst>
                  <a:ext uri="{FF2B5EF4-FFF2-40B4-BE49-F238E27FC236}">
                    <a16:creationId xmlns:a16="http://schemas.microsoft.com/office/drawing/2014/main" id="{643FC634-F719-E4E9-F327-7AF60C7A820B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996" y="1035"/>
                <a:ext cx="4763" cy="106"/>
              </a:xfrm>
              <a:prstGeom prst="rect">
                <a:avLst/>
              </a:prstGeom>
              <a:gradFill rotWithShape="0">
                <a:gsLst>
                  <a:gs pos="0">
                    <a:srgbClr val="825600"/>
                  </a:gs>
                  <a:gs pos="13000">
                    <a:srgbClr val="FFA800"/>
                  </a:gs>
                  <a:gs pos="28000">
                    <a:srgbClr val="825600"/>
                  </a:gs>
                  <a:gs pos="42999">
                    <a:srgbClr val="FFA800"/>
                  </a:gs>
                  <a:gs pos="58000">
                    <a:srgbClr val="825600"/>
                  </a:gs>
                  <a:gs pos="72000">
                    <a:srgbClr val="FFA800"/>
                  </a:gs>
                  <a:gs pos="87000">
                    <a:srgbClr val="825600"/>
                  </a:gs>
                  <a:gs pos="100000">
                    <a:srgbClr val="FFA80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33" name="Line 9">
                <a:extLst>
                  <a:ext uri="{FF2B5EF4-FFF2-40B4-BE49-F238E27FC236}">
                    <a16:creationId xmlns:a16="http://schemas.microsoft.com/office/drawing/2014/main" id="{AEDA01F4-11E6-5468-C0F2-E3F1AFB43A9D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999" y="1145"/>
                <a:ext cx="4760" cy="0"/>
              </a:xfrm>
              <a:prstGeom prst="line">
                <a:avLst/>
              </a:prstGeom>
              <a:noFill/>
              <a:ln w="12700">
                <a:solidFill>
                  <a:srgbClr val="996633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34" name="Line 10">
                <a:extLst>
                  <a:ext uri="{FF2B5EF4-FFF2-40B4-BE49-F238E27FC236}">
                    <a16:creationId xmlns:a16="http://schemas.microsoft.com/office/drawing/2014/main" id="{C0DA59E5-7498-66A9-1692-CA87CA0F2E5D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999" y="1121"/>
                <a:ext cx="4760" cy="0"/>
              </a:xfrm>
              <a:prstGeom prst="line">
                <a:avLst/>
              </a:prstGeom>
              <a:noFill/>
              <a:ln w="12700">
                <a:solidFill>
                  <a:srgbClr val="996633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35" name="Line 11">
                <a:extLst>
                  <a:ext uri="{FF2B5EF4-FFF2-40B4-BE49-F238E27FC236}">
                    <a16:creationId xmlns:a16="http://schemas.microsoft.com/office/drawing/2014/main" id="{478750D4-C25D-20F5-0FC2-B9B81AB1FDEC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999" y="1091"/>
                <a:ext cx="4760" cy="0"/>
              </a:xfrm>
              <a:prstGeom prst="line">
                <a:avLst/>
              </a:prstGeom>
              <a:noFill/>
              <a:ln w="12700">
                <a:solidFill>
                  <a:srgbClr val="996633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36" name="Line 12">
                <a:extLst>
                  <a:ext uri="{FF2B5EF4-FFF2-40B4-BE49-F238E27FC236}">
                    <a16:creationId xmlns:a16="http://schemas.microsoft.com/office/drawing/2014/main" id="{8EB5373D-4F27-5959-88F0-51301B3AAE4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999" y="1057"/>
                <a:ext cx="4760" cy="0"/>
              </a:xfrm>
              <a:prstGeom prst="line">
                <a:avLst/>
              </a:prstGeom>
              <a:noFill/>
              <a:ln w="12700">
                <a:solidFill>
                  <a:srgbClr val="996633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37" name="Freeform 13">
                <a:extLst>
                  <a:ext uri="{FF2B5EF4-FFF2-40B4-BE49-F238E27FC236}">
                    <a16:creationId xmlns:a16="http://schemas.microsoft.com/office/drawing/2014/main" id="{BF73F24D-4A07-3A8B-4035-7592A010680A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993" y="1028"/>
                <a:ext cx="4765" cy="119"/>
              </a:xfrm>
              <a:custGeom>
                <a:avLst/>
                <a:gdLst>
                  <a:gd name="T0" fmla="*/ 0 w 4765"/>
                  <a:gd name="T1" fmla="*/ 118 h 119"/>
                  <a:gd name="T2" fmla="*/ 0 w 4765"/>
                  <a:gd name="T3" fmla="*/ 0 h 119"/>
                  <a:gd name="T4" fmla="*/ 4764 w 4765"/>
                  <a:gd name="T5" fmla="*/ 0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765" h="119">
                    <a:moveTo>
                      <a:pt x="0" y="118"/>
                    </a:moveTo>
                    <a:lnTo>
                      <a:pt x="0" y="0"/>
                    </a:lnTo>
                    <a:lnTo>
                      <a:pt x="4764" y="0"/>
                    </a:lnTo>
                  </a:path>
                </a:pathLst>
              </a:custGeom>
              <a:noFill/>
              <a:ln w="12700" cap="rnd" cmpd="sng">
                <a:solidFill>
                  <a:srgbClr val="FFCC66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sp>
        <p:nvSpPr>
          <p:cNvPr id="1040" name="Rectangle 16">
            <a:extLst>
              <a:ext uri="{FF2B5EF4-FFF2-40B4-BE49-F238E27FC236}">
                <a16:creationId xmlns:a16="http://schemas.microsoft.com/office/drawing/2014/main" id="{2A5D95A3-2B83-8437-AB85-F79BD35A0C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28763" y="304800"/>
            <a:ext cx="75644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1041" name="Rectangle 17">
            <a:extLst>
              <a:ext uri="{FF2B5EF4-FFF2-40B4-BE49-F238E27FC236}">
                <a16:creationId xmlns:a16="http://schemas.microsoft.com/office/drawing/2014/main" id="{21765360-7CBA-38F1-7278-82658AF10C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79550" y="1981200"/>
            <a:ext cx="762635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1042" name="Rectangle 18">
            <a:extLst>
              <a:ext uri="{FF2B5EF4-FFF2-40B4-BE49-F238E27FC236}">
                <a16:creationId xmlns:a16="http://schemas.microsoft.com/office/drawing/2014/main" id="{5CB7737B-6AE9-A739-C93E-328D648226F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81138" y="6248400"/>
            <a:ext cx="1782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 i="0" u="none">
                <a:solidFill>
                  <a:schemeClr val="tx2"/>
                </a:solidFill>
                <a:ea typeface="굴림" panose="020B0600000101010101" pitchFamily="34" charset="-127"/>
              </a:defRPr>
            </a:lvl1pPr>
          </a:lstStyle>
          <a:p>
            <a:endParaRPr lang="en-US" altLang="ko-KR"/>
          </a:p>
        </p:txBody>
      </p:sp>
      <p:sp>
        <p:nvSpPr>
          <p:cNvPr id="1043" name="Rectangle 19">
            <a:extLst>
              <a:ext uri="{FF2B5EF4-FFF2-40B4-BE49-F238E27FC236}">
                <a16:creationId xmlns:a16="http://schemas.microsoft.com/office/drawing/2014/main" id="{A4AB00BA-2EEF-F72F-D123-E5041CF29A3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7973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 i="0" u="none">
                <a:solidFill>
                  <a:schemeClr val="tx2"/>
                </a:solidFill>
                <a:ea typeface="굴림" panose="020B0600000101010101" pitchFamily="34" charset="-127"/>
              </a:defRPr>
            </a:lvl1pPr>
          </a:lstStyle>
          <a:p>
            <a:endParaRPr lang="en-US" altLang="ko-KR"/>
          </a:p>
        </p:txBody>
      </p:sp>
      <p:sp>
        <p:nvSpPr>
          <p:cNvPr id="1044" name="Rectangle 20">
            <a:extLst>
              <a:ext uri="{FF2B5EF4-FFF2-40B4-BE49-F238E27FC236}">
                <a16:creationId xmlns:a16="http://schemas.microsoft.com/office/drawing/2014/main" id="{722209A1-12B4-D9AD-14DC-09D3BF1B8E1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263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 i="0" u="none">
                <a:solidFill>
                  <a:schemeClr val="tx2"/>
                </a:solidFill>
                <a:ea typeface="굴림" panose="020B0600000101010101" pitchFamily="34" charset="-127"/>
              </a:defRPr>
            </a:lvl1pPr>
          </a:lstStyle>
          <a:p>
            <a:fld id="{C3F911B2-E2CD-6A43-8DAA-9F773527D690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i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anose="02020603050405020304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anose="02020603050405020304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anose="02020603050405020304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95000"/>
        <a:buFont typeface="Wingdings" pitchFamily="2" charset="2"/>
        <a:buChar char="¬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FB6D0312-766B-E0C7-87FB-9CEC00147D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ko-KR">
                <a:ea typeface="굴림" panose="020B0600000101010101" pitchFamily="34" charset="-127"/>
              </a:rPr>
              <a:t>THEORIES OF AGING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A4A16F51-59D7-EFD0-116A-B007A8600D8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Based on information in: Madison, H.E. (2002).“Theories of Aging”. In Lueckenotte, A.G. (ed), </a:t>
            </a:r>
            <a:r>
              <a:rPr lang="en-US" altLang="ko-KR" u="sng">
                <a:ea typeface="굴림" panose="020B0600000101010101" pitchFamily="34" charset="-127"/>
              </a:rPr>
              <a:t>Gerontologic Nursing.</a:t>
            </a:r>
            <a:r>
              <a:rPr lang="en-US" altLang="ko-KR">
                <a:ea typeface="굴림" panose="020B0600000101010101" pitchFamily="34" charset="-127"/>
              </a:rPr>
              <a:t>  St. Louis: Mosby.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F90E66A5-CB4D-EC98-7FA5-DACECEDA5A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ko-KR" altLang="ko-KR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811B0DA5-2C2C-CBF9-8CF2-66288CFE2B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Theories of Aging:</a:t>
            </a:r>
          </a:p>
          <a:p>
            <a:r>
              <a:rPr lang="en-US" altLang="ko-KR">
                <a:ea typeface="굴림" panose="020B0600000101010101" pitchFamily="34" charset="-127"/>
              </a:rPr>
              <a:t>attempt to explain the phenomenon of aging as it occurs over the lifespan</a:t>
            </a:r>
          </a:p>
          <a:p>
            <a:pPr lvl="1"/>
            <a:endParaRPr lang="en-US" altLang="ko-KR">
              <a:ea typeface="굴림" panose="020B0600000101010101" pitchFamily="34" charset="-127"/>
            </a:endParaRP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aging is viewed as a total process that begins at conception</a:t>
            </a:r>
          </a:p>
          <a:p>
            <a:pPr lvl="1"/>
            <a:r>
              <a:rPr lang="en-US" altLang="ko-KR" i="1">
                <a:ea typeface="굴림" panose="020B0600000101010101" pitchFamily="34" charset="-127"/>
              </a:rPr>
              <a:t>senescence: </a:t>
            </a:r>
            <a:r>
              <a:rPr lang="en-US" altLang="ko-KR">
                <a:ea typeface="굴림" panose="020B0600000101010101" pitchFamily="34" charset="-127"/>
              </a:rPr>
              <a:t>a change in the behavior of an organism with age leading to a decreased power of survival and adjustment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F9718D10-B98E-4250-F73B-9C1E6FEE36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>
                <a:ea typeface="굴림" panose="020B0600000101010101" pitchFamily="34" charset="-127"/>
              </a:rPr>
              <a:t>Theories of Aging: Types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98583C3F-3C13-BF86-BEB0-973179A497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altLang="ko-KR">
                <a:ea typeface="굴림" panose="020B0600000101010101" pitchFamily="34" charset="-127"/>
              </a:rPr>
              <a:t>Biologic</a:t>
            </a:r>
          </a:p>
          <a:p>
            <a:pPr algn="ctr"/>
            <a:endParaRPr lang="en-US" altLang="ko-KR">
              <a:ea typeface="굴림" panose="020B0600000101010101" pitchFamily="34" charset="-127"/>
            </a:endParaRPr>
          </a:p>
          <a:p>
            <a:pPr algn="ctr"/>
            <a:r>
              <a:rPr lang="en-US" altLang="ko-KR">
                <a:ea typeface="굴림" panose="020B0600000101010101" pitchFamily="34" charset="-127"/>
              </a:rPr>
              <a:t>Sociologic</a:t>
            </a:r>
          </a:p>
          <a:p>
            <a:pPr algn="ctr"/>
            <a:endParaRPr lang="en-US" altLang="ko-KR">
              <a:ea typeface="굴림" panose="020B0600000101010101" pitchFamily="34" charset="-127"/>
            </a:endParaRPr>
          </a:p>
          <a:p>
            <a:pPr algn="ctr"/>
            <a:r>
              <a:rPr lang="en-US" altLang="ko-KR">
                <a:ea typeface="굴림" panose="020B0600000101010101" pitchFamily="34" charset="-127"/>
              </a:rPr>
              <a:t>Psychologic</a:t>
            </a:r>
          </a:p>
          <a:p>
            <a:pPr algn="ctr"/>
            <a:endParaRPr lang="en-US" altLang="ko-KR">
              <a:ea typeface="굴림" panose="020B0600000101010101" pitchFamily="34" charset="-127"/>
            </a:endParaRPr>
          </a:p>
          <a:p>
            <a:pPr algn="ctr"/>
            <a:r>
              <a:rPr lang="en-US" altLang="ko-KR">
                <a:ea typeface="굴림" panose="020B0600000101010101" pitchFamily="34" charset="-127"/>
              </a:rPr>
              <a:t>Moral/Spiritual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5020D603-687C-8CF0-15C7-684A7DE469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Biologic Theories: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9153D6D4-D039-6ACD-FE7B-2BD3BD056E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17650" y="1905000"/>
            <a:ext cx="7626350" cy="4114800"/>
          </a:xfrm>
        </p:spPr>
        <p:txBody>
          <a:bodyPr/>
          <a:lstStyle/>
          <a:p>
            <a:endParaRPr lang="en-US" altLang="ko-KR">
              <a:ea typeface="굴림" panose="020B0600000101010101" pitchFamily="34" charset="-127"/>
            </a:endParaRPr>
          </a:p>
          <a:p>
            <a:r>
              <a:rPr lang="en-US" altLang="ko-KR">
                <a:ea typeface="굴림" panose="020B0600000101010101" pitchFamily="34" charset="-127"/>
              </a:rPr>
              <a:t>Concerned with answering basic questions regarding the physiological processes that occur in all living organisms as they chronologically 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088CF480-B8E8-7271-0D2A-36D03BBED3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Foci of Biologic Theories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2DD96CC9-D3C5-0820-68D2-3D0AF149EC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Explanations of:</a:t>
            </a: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1) deleterious effects leading to decreasing function of the organism</a:t>
            </a:r>
          </a:p>
          <a:p>
            <a:pPr lvl="1"/>
            <a:endParaRPr lang="en-US" altLang="ko-KR">
              <a:ea typeface="굴림" panose="020B0600000101010101" pitchFamily="34" charset="-127"/>
            </a:endParaRP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2) gradually occurring age-related changes that are progressive over time</a:t>
            </a:r>
          </a:p>
          <a:p>
            <a:pPr lvl="1"/>
            <a:endParaRPr lang="en-US" altLang="ko-KR">
              <a:ea typeface="굴림" panose="020B0600000101010101" pitchFamily="34" charset="-127"/>
            </a:endParaRP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3) intrinsic changes that can affect all member of a species because of chronologic 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DF47ED65-5668-E68B-399E-C896E55E36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ko-KR" altLang="ko-KR"/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B7605DED-C345-FA46-CFBA-93218FFD0C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ALSO:</a:t>
            </a: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all organs in any one organism do not age at the same rate</a:t>
            </a:r>
          </a:p>
          <a:p>
            <a:pPr lvl="1"/>
            <a:endParaRPr lang="en-US" altLang="ko-KR">
              <a:ea typeface="굴림" panose="020B0600000101010101" pitchFamily="34" charset="-127"/>
            </a:endParaRP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any single organ does not necessarily age at the same rate in difference individuals of the same species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63B631D6-61AF-818D-F30E-DAD0DBE98B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Biologic Theories: Divisions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0370A128-F44D-3E4B-732F-AEAD754C63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i="1">
              <a:ea typeface="굴림" panose="020B0600000101010101" pitchFamily="34" charset="-127"/>
            </a:endParaRPr>
          </a:p>
          <a:p>
            <a:r>
              <a:rPr lang="en-US" altLang="ko-KR" i="1">
                <a:ea typeface="굴림" panose="020B0600000101010101" pitchFamily="34" charset="-127"/>
              </a:rPr>
              <a:t>Stochastic:</a:t>
            </a:r>
            <a:r>
              <a:rPr lang="en-US" altLang="ko-KR">
                <a:ea typeface="굴림" panose="020B0600000101010101" pitchFamily="34" charset="-127"/>
              </a:rPr>
              <a:t> Explain aging as events that occur randomly and accumulate over time</a:t>
            </a:r>
          </a:p>
          <a:p>
            <a:endParaRPr lang="en-US" altLang="ko-KR">
              <a:ea typeface="굴림" panose="020B0600000101010101" pitchFamily="34" charset="-127"/>
            </a:endParaRPr>
          </a:p>
          <a:p>
            <a:r>
              <a:rPr lang="en-US" altLang="ko-KR" i="1">
                <a:ea typeface="굴림" panose="020B0600000101010101" pitchFamily="34" charset="-127"/>
              </a:rPr>
              <a:t>Nonstochastic:</a:t>
            </a:r>
            <a:r>
              <a:rPr lang="en-US" altLang="ko-KR">
                <a:ea typeface="굴림" panose="020B0600000101010101" pitchFamily="34" charset="-127"/>
              </a:rPr>
              <a:t> View aging as certain predetermined, timed phenomena</a:t>
            </a:r>
          </a:p>
          <a:p>
            <a:endParaRPr lang="en-US" altLang="ko-KR">
              <a:ea typeface="굴림" panose="020B0600000101010101" pitchFamily="34" charset="-127"/>
            </a:endParaRPr>
          </a:p>
          <a:p>
            <a:endParaRPr lang="en-US" altLang="ko-KR" i="1">
              <a:ea typeface="굴림" panose="020B0600000101010101" pitchFamily="34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A0D64F9-D1C0-C98A-A243-5339DC536D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ko-KR" altLang="ko-KR"/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D28ACEEB-ED13-958C-F1D2-C12A8D5528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i="1" u="sng">
                <a:ea typeface="굴림" panose="020B0600000101010101" pitchFamily="34" charset="-127"/>
              </a:rPr>
              <a:t>Stochastic Theories</a:t>
            </a:r>
          </a:p>
          <a:p>
            <a:endParaRPr lang="en-US" altLang="ko-KR" i="1" u="sng">
              <a:ea typeface="굴림" panose="020B0600000101010101" pitchFamily="34" charset="-127"/>
            </a:endParaRPr>
          </a:p>
          <a:p>
            <a:r>
              <a:rPr lang="en-US" altLang="ko-KR">
                <a:ea typeface="굴림" panose="020B0600000101010101" pitchFamily="34" charset="-127"/>
              </a:rPr>
              <a:t>Error Theory		Free Radical Theory</a:t>
            </a:r>
          </a:p>
          <a:p>
            <a:endParaRPr lang="en-US" altLang="ko-KR">
              <a:ea typeface="굴림" panose="020B0600000101010101" pitchFamily="34" charset="-127"/>
            </a:endParaRPr>
          </a:p>
          <a:p>
            <a:r>
              <a:rPr lang="en-US" altLang="ko-KR">
                <a:ea typeface="굴림" panose="020B0600000101010101" pitchFamily="34" charset="-127"/>
              </a:rPr>
              <a:t>Cross-Linkage Theory</a:t>
            </a:r>
          </a:p>
          <a:p>
            <a:endParaRPr lang="en-US" altLang="ko-KR">
              <a:ea typeface="굴림" panose="020B0600000101010101" pitchFamily="34" charset="-127"/>
            </a:endParaRPr>
          </a:p>
          <a:p>
            <a:r>
              <a:rPr lang="en-US" altLang="ko-KR">
                <a:ea typeface="굴림" panose="020B0600000101010101" pitchFamily="34" charset="-127"/>
              </a:rPr>
              <a:t>Wear &amp; Tear Theory</a:t>
            </a:r>
            <a:endParaRPr lang="en-US" altLang="ko-KR" i="1">
              <a:ea typeface="굴림" panose="020B0600000101010101" pitchFamily="34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F4A85C76-454A-E3A5-E0A4-C2608D84FF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Error Theory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B55DCDC6-9233-C563-9873-D730FFE755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Originally proposed in 1963</a:t>
            </a:r>
          </a:p>
          <a:p>
            <a:r>
              <a:rPr lang="en-US" altLang="ko-KR">
                <a:ea typeface="굴림" panose="020B0600000101010101" pitchFamily="34" charset="-127"/>
              </a:rPr>
              <a:t>Basis: 1)errors can occur in the transcription in any step of the protein synthesis of DNA</a:t>
            </a: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2) error causes the reproduction of an enzyme or protein that is not an exact copy</a:t>
            </a: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3) As transcription errors to occur, the end product would  not even resemble the original cell, thereby compromising its functional 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98CE82E-1FD5-1DA7-7185-7CD46E82CA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Error, cont’d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5DEC2DA9-0E5A-B059-9AFC-C4BB3A7BC9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More recently the theory has not been supported by research</a:t>
            </a: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not all aged cells contain altered or misspecified proteins</a:t>
            </a:r>
          </a:p>
          <a:p>
            <a:pPr lvl="1"/>
            <a:endParaRPr lang="en-US" altLang="ko-KR">
              <a:ea typeface="굴림" panose="020B0600000101010101" pitchFamily="34" charset="-127"/>
            </a:endParaRP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nor is aging automatically or necessarily accelerated if misspecified proteins or enzymes are introduced into a cell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91503546-E8FA-3639-73F1-460A03142D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Free Radical Theory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A79CF8A1-B639-8B8A-522B-62FA1EB67D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52600" y="1219200"/>
            <a:ext cx="7626350" cy="4114800"/>
          </a:xfrm>
        </p:spPr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Free radicals are byproducts of metabolism--can increase as a result of environmental pollutants</a:t>
            </a:r>
          </a:p>
          <a:p>
            <a:r>
              <a:rPr lang="en-US" altLang="ko-KR">
                <a:ea typeface="굴림" panose="020B0600000101010101" pitchFamily="34" charset="-127"/>
              </a:rPr>
              <a:t>When they accumulate, they damage cell membrane, decreasing its efficiency</a:t>
            </a:r>
          </a:p>
          <a:p>
            <a:r>
              <a:rPr lang="en-US" altLang="ko-KR">
                <a:ea typeface="굴림" panose="020B0600000101010101" pitchFamily="34" charset="-127"/>
              </a:rPr>
              <a:t>The body produces antioxidants that scavenge the free radicals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F02E90E2-5E30-C098-D4E0-7EBF054753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Free Rads, cont’d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B15D608E-3584-1ECD-248D-EF4796AF2A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In animal studies, administration of antioxidants postpones the appearance of diseases such as cardiovascular disease and CA</a:t>
            </a:r>
          </a:p>
          <a:p>
            <a:endParaRPr lang="en-US" altLang="ko-KR">
              <a:ea typeface="굴림" panose="020B0600000101010101" pitchFamily="34" charset="-127"/>
            </a:endParaRPr>
          </a:p>
          <a:p>
            <a:r>
              <a:rPr lang="en-US" altLang="ko-KR">
                <a:ea typeface="굴림" panose="020B0600000101010101" pitchFamily="34" charset="-127"/>
              </a:rPr>
              <a:t>Free radicals are also implicated in the development of plaques associated with Alzheimer’s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6A52047F-54AE-34AF-4BC7-036F3D3A43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Cross-Linkage Theory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A74DD933-422C-8530-9FFC-785D083144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Some proteins in the body become cross-linked, thereby not allowing for normal metabolic activities</a:t>
            </a:r>
          </a:p>
          <a:p>
            <a:endParaRPr lang="en-US" altLang="ko-KR">
              <a:ea typeface="굴림" panose="020B0600000101010101" pitchFamily="34" charset="-127"/>
            </a:endParaRPr>
          </a:p>
          <a:p>
            <a:r>
              <a:rPr lang="en-US" altLang="ko-KR">
                <a:ea typeface="굴림" panose="020B0600000101010101" pitchFamily="34" charset="-127"/>
              </a:rPr>
              <a:t>Waste products accumulate </a:t>
            </a:r>
          </a:p>
          <a:p>
            <a:endParaRPr lang="en-US" altLang="ko-KR">
              <a:ea typeface="굴림" panose="020B0600000101010101" pitchFamily="34" charset="-127"/>
            </a:endParaRPr>
          </a:p>
          <a:p>
            <a:r>
              <a:rPr lang="en-US" altLang="ko-KR">
                <a:ea typeface="굴림" panose="020B0600000101010101" pitchFamily="34" charset="-127"/>
              </a:rPr>
              <a:t>Result: tissues do not function at optimal efficiency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409EE87D-B324-B644-CB7A-5A974C38DF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C-L Theory, cont’d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D9A4111F-431D-23F8-D11C-8BBC02617C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Some research supports a combination of exercise and dietary restrictions in helping to inhibit the cross-linkage process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C6BD4B1-EE21-BA7B-6117-0FC5BFC689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Wear &amp; Tear Theory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C1A14F6E-971B-FB25-003B-DFC9C6E9E7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Proposed first in 1882</a:t>
            </a:r>
          </a:p>
          <a:p>
            <a:endParaRPr lang="en-US" altLang="ko-KR">
              <a:ea typeface="굴림" panose="020B0600000101010101" pitchFamily="34" charset="-127"/>
            </a:endParaRPr>
          </a:p>
          <a:p>
            <a:r>
              <a:rPr lang="en-US" altLang="ko-KR">
                <a:ea typeface="굴림" panose="020B0600000101010101" pitchFamily="34" charset="-127"/>
              </a:rPr>
              <a:t>Cells simply wear out over time because of continued use--rather like a machine</a:t>
            </a:r>
          </a:p>
          <a:p>
            <a:endParaRPr lang="en-US" altLang="ko-KR">
              <a:ea typeface="굴림" panose="020B0600000101010101" pitchFamily="34" charset="-127"/>
            </a:endParaRPr>
          </a:p>
          <a:p>
            <a:r>
              <a:rPr lang="en-US" altLang="ko-KR">
                <a:ea typeface="굴림" panose="020B0600000101010101" pitchFamily="34" charset="-127"/>
              </a:rPr>
              <a:t>Would seem to be refuted by the fact that exercise in OA’s actually makes them MORE functional, not less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470808A0-FE86-FD05-82AA-114FD20E22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ko-KR" altLang="ko-KR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8AB96220-8A72-71F0-6556-A01BD1B2EF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i="1" u="sng">
                <a:ea typeface="굴림" panose="020B0600000101010101" pitchFamily="34" charset="-127"/>
              </a:rPr>
              <a:t>Nonstochastic Theories:</a:t>
            </a:r>
          </a:p>
          <a:p>
            <a:endParaRPr lang="en-US" altLang="ko-KR" i="1" u="sng">
              <a:ea typeface="굴림" panose="020B0600000101010101" pitchFamily="34" charset="-127"/>
            </a:endParaRPr>
          </a:p>
          <a:p>
            <a:r>
              <a:rPr lang="en-US" altLang="ko-KR">
                <a:ea typeface="굴림" panose="020B0600000101010101" pitchFamily="34" charset="-127"/>
              </a:rPr>
              <a:t>Programmed Theory</a:t>
            </a:r>
          </a:p>
          <a:p>
            <a:endParaRPr lang="en-US" altLang="ko-KR">
              <a:ea typeface="굴림" panose="020B0600000101010101" pitchFamily="34" charset="-127"/>
            </a:endParaRPr>
          </a:p>
          <a:p>
            <a:r>
              <a:rPr lang="en-US" altLang="ko-KR">
                <a:ea typeface="굴림" panose="020B0600000101010101" pitchFamily="34" charset="-127"/>
              </a:rPr>
              <a:t>Immunity Theory</a:t>
            </a:r>
            <a:endParaRPr lang="en-US" altLang="ko-KR" i="1">
              <a:ea typeface="굴림" panose="020B0600000101010101" pitchFamily="34" charset="-127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27EA3E94-0ABD-D849-F476-D926705AA8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Programmed (Hayflick Limit) Theory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C284C99F-2382-4B1D-22A7-C6CEBD40EA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Based on lab experiments on fetal fibroblastic cells and their reproductive capabilities in 1961</a:t>
            </a:r>
          </a:p>
          <a:p>
            <a:endParaRPr lang="en-US" altLang="ko-KR">
              <a:ea typeface="굴림" panose="020B0600000101010101" pitchFamily="34" charset="-127"/>
            </a:endParaRPr>
          </a:p>
          <a:p>
            <a:r>
              <a:rPr lang="en-US" altLang="ko-KR">
                <a:ea typeface="굴림" panose="020B0600000101010101" pitchFamily="34" charset="-127"/>
              </a:rPr>
              <a:t>Cells can only reproduce themselves a limited number of times.</a:t>
            </a:r>
          </a:p>
          <a:p>
            <a:r>
              <a:rPr lang="en-US" altLang="ko-KR">
                <a:ea typeface="굴림" panose="020B0600000101010101" pitchFamily="34" charset="-127"/>
              </a:rPr>
              <a:t>Life expectancies are seen as preprogrammed within a species-specific range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9E4A6155-25AC-464B-55D5-6966CEAC6B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Immunity Theory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338FA10B-4AFF-85C1-39D1-4D64C68906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i="1" u="sng">
                <a:ea typeface="굴림" panose="020B0600000101010101" pitchFamily="34" charset="-127"/>
              </a:rPr>
              <a:t>Immunosenescence:</a:t>
            </a:r>
            <a:r>
              <a:rPr lang="en-US" altLang="ko-KR">
                <a:ea typeface="굴림" panose="020B0600000101010101" pitchFamily="34" charset="-127"/>
              </a:rPr>
              <a:t> Age-related functional diminution of the immune system</a:t>
            </a:r>
          </a:p>
          <a:p>
            <a:endParaRPr lang="en-US" altLang="ko-KR">
              <a:ea typeface="굴림" panose="020B0600000101010101" pitchFamily="34" charset="-127"/>
            </a:endParaRPr>
          </a:p>
          <a:p>
            <a:r>
              <a:rPr lang="en-US" altLang="ko-KR">
                <a:ea typeface="굴림" panose="020B0600000101010101" pitchFamily="34" charset="-127"/>
              </a:rPr>
              <a:t>Lower rate of T-lymphocyte (“killer cells”) proliferation in response to a stimulus</a:t>
            </a:r>
          </a:p>
          <a:p>
            <a:endParaRPr lang="en-US" altLang="ko-KR">
              <a:ea typeface="굴림" panose="020B0600000101010101" pitchFamily="34" charset="-127"/>
            </a:endParaRPr>
          </a:p>
          <a:p>
            <a:r>
              <a:rPr lang="en-US" altLang="ko-KR">
                <a:ea typeface="굴림" panose="020B0600000101010101" pitchFamily="34" charset="-127"/>
              </a:rPr>
              <a:t>&amp; therefore a decrease in the body’s defense against foreign pathogens</a:t>
            </a:r>
            <a:endParaRPr lang="en-US" altLang="ko-KR" i="1" u="sng">
              <a:ea typeface="굴림" panose="020B0600000101010101" pitchFamily="34" charset="-12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470BB279-1070-4F1E-5244-E2C5133032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Immunity, cont’d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C407D165-7FFB-5B9C-9610-7A3BA11E70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Change include a decrease in humoral immune response, often predisposing older adults to:</a:t>
            </a: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1)decreased resistance to a tumor cell challenge and the development of cancer</a:t>
            </a: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2) decreased ability to initiate the immune process and mobilize defenses in aggressively attaching pathogens</a:t>
            </a: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3) increased susceptibility to auto-immune diseases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D26025AC-AA59-32F8-EDA2-897D026B57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>
                <a:ea typeface="굴림" panose="020B0600000101010101" pitchFamily="34" charset="-127"/>
              </a:rPr>
              <a:t>EMERGING THEORIES OF AGING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2EF0589D-9CF3-1B60-C799-381AE00E73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>
              <a:ea typeface="굴림" panose="020B0600000101010101" pitchFamily="34" charset="-127"/>
            </a:endParaRPr>
          </a:p>
          <a:p>
            <a:pPr algn="ctr"/>
            <a:r>
              <a:rPr lang="en-US" altLang="ko-KR">
                <a:ea typeface="굴림" panose="020B0600000101010101" pitchFamily="34" charset="-127"/>
              </a:rPr>
              <a:t>Neuroendocrine Control (Pacemaker) Theory</a:t>
            </a:r>
          </a:p>
          <a:p>
            <a:pPr algn="ctr"/>
            <a:endParaRPr lang="en-US" altLang="ko-KR">
              <a:ea typeface="굴림" panose="020B0600000101010101" pitchFamily="34" charset="-127"/>
            </a:endParaRPr>
          </a:p>
          <a:p>
            <a:pPr algn="ctr"/>
            <a:r>
              <a:rPr lang="en-US" altLang="ko-KR">
                <a:ea typeface="굴림" panose="020B0600000101010101" pitchFamily="34" charset="-127"/>
              </a:rPr>
              <a:t>Metabolic Theory/Caloric Restriction</a:t>
            </a:r>
          </a:p>
          <a:p>
            <a:pPr algn="ctr"/>
            <a:endParaRPr lang="en-US" altLang="ko-KR">
              <a:ea typeface="굴림" panose="020B0600000101010101" pitchFamily="34" charset="-127"/>
            </a:endParaRPr>
          </a:p>
          <a:p>
            <a:pPr algn="ctr"/>
            <a:r>
              <a:rPr lang="en-US" altLang="ko-KR">
                <a:ea typeface="굴림" panose="020B0600000101010101" pitchFamily="34" charset="-127"/>
              </a:rPr>
              <a:t>DNA-Related Research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6B8E427E-9779-18BE-9483-57E7C1EED5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Neuroendocrine Control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11D63055-1C46-A544-0553-1662754C30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“…examines the interrelated role of the neurologic and endocrine systems over the life-span of an individual”. (p. 24)</a:t>
            </a:r>
          </a:p>
          <a:p>
            <a:endParaRPr lang="en-US" altLang="ko-KR">
              <a:ea typeface="굴림" panose="020B0600000101010101" pitchFamily="34" charset="-127"/>
            </a:endParaRPr>
          </a:p>
          <a:p>
            <a:r>
              <a:rPr lang="en-US" altLang="ko-KR">
                <a:ea typeface="굴림" panose="020B0600000101010101" pitchFamily="34" charset="-127"/>
              </a:rPr>
              <a:t>there is a decline, or even cessation, in many of the components of the neuroendocrine system over the lifespan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4B81EBC3-8224-618B-BBDE-38A799CCFE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Neuro, cont’d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29BFBC14-A8CD-DED0-E06C-E8DEDFA2DA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Research has shown</a:t>
            </a: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1) the female reproductive system is controlled by the hypothalamus.  What are the mechanisms that trigger changes?</a:t>
            </a: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2) adrenal glands’ DHEA hormone</a:t>
            </a: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3) melatonin (from pineal gland)--a regulator of biologic rhythms and a powerful antioxidant.  Declines sharply from just after puberty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6BE9CFBF-C4A4-E36A-8328-9C4320D64F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Metobolic Theory of Aging (Caloric Restriction)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50BA7031-F654-159E-F94A-B1C8AD7596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“…proposes that all organisms have a finite amount of metabolic lifetime and that organisms with a higher metabolic rate have a shorter lifespan”. (p. 24)</a:t>
            </a:r>
          </a:p>
          <a:p>
            <a:endParaRPr lang="en-US" altLang="ko-KR">
              <a:ea typeface="굴림" panose="020B0600000101010101" pitchFamily="34" charset="-127"/>
            </a:endParaRPr>
          </a:p>
          <a:p>
            <a:r>
              <a:rPr lang="en-US" altLang="ko-KR">
                <a:ea typeface="굴림" panose="020B0600000101010101" pitchFamily="34" charset="-127"/>
              </a:rPr>
              <a:t>Rodent-based research has demonstrated that caloric restriction increases the lifespan and delays the onset of age-dependent diseases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DB0C20DA-0FC0-41BC-91D1-C1335C565F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DNA-Related Research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902006B6-A3C7-468E-9343-DC6F74F6FE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Major Developments:</a:t>
            </a:r>
          </a:p>
          <a:p>
            <a:endParaRPr lang="en-US" altLang="ko-KR">
              <a:ea typeface="굴림" panose="020B0600000101010101" pitchFamily="34" charset="-127"/>
            </a:endParaRP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Mapping the human genome (“…there may be as many as 200 genes responsible for contolling aging in humans”)</a:t>
            </a:r>
          </a:p>
          <a:p>
            <a:pPr lvl="1"/>
            <a:endParaRPr lang="en-US" altLang="ko-KR">
              <a:ea typeface="굴림" panose="020B0600000101010101" pitchFamily="34" charset="-127"/>
            </a:endParaRP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Discovery of telomeres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754EF834-F238-FAE7-2C9B-78917AA017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>
                <a:ea typeface="굴림" panose="020B0600000101010101" pitchFamily="34" charset="-127"/>
              </a:rPr>
              <a:t>SOCIOLOGIC THEORIES OF AGING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B646BF1C-6EBB-E3E0-5D51-83C72A7B9D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>
              <a:ea typeface="굴림" panose="020B0600000101010101" pitchFamily="34" charset="-127"/>
            </a:endParaRPr>
          </a:p>
          <a:p>
            <a:pPr algn="ctr"/>
            <a:r>
              <a:rPr lang="en-US" altLang="ko-KR">
                <a:ea typeface="굴림" panose="020B0600000101010101" pitchFamily="34" charset="-127"/>
              </a:rPr>
              <a:t>Disengagement Theory</a:t>
            </a:r>
          </a:p>
          <a:p>
            <a:pPr algn="ctr"/>
            <a:r>
              <a:rPr lang="en-US" altLang="ko-KR">
                <a:ea typeface="굴림" panose="020B0600000101010101" pitchFamily="34" charset="-127"/>
              </a:rPr>
              <a:t>Activity/Developmental Task Theory</a:t>
            </a:r>
          </a:p>
          <a:p>
            <a:pPr algn="ctr"/>
            <a:r>
              <a:rPr lang="en-US" altLang="ko-KR">
                <a:ea typeface="굴림" panose="020B0600000101010101" pitchFamily="34" charset="-127"/>
              </a:rPr>
              <a:t>Continuity Theory</a:t>
            </a:r>
          </a:p>
          <a:p>
            <a:pPr algn="ctr"/>
            <a:r>
              <a:rPr lang="en-US" altLang="ko-KR">
                <a:ea typeface="굴림" panose="020B0600000101010101" pitchFamily="34" charset="-127"/>
              </a:rPr>
              <a:t>Age Stratification Theory</a:t>
            </a:r>
          </a:p>
          <a:p>
            <a:pPr algn="ctr"/>
            <a:r>
              <a:rPr lang="en-US" altLang="ko-KR">
                <a:ea typeface="굴림" panose="020B0600000101010101" pitchFamily="34" charset="-127"/>
              </a:rPr>
              <a:t>Person-Environment Fit Theory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73BB377F-C663-C011-804D-5736B2B44F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ko-KR" altLang="ko-KR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5DF07704-9DD1-0B6D-916B-5CC686AB1D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Changing FOCUS of Sociological considerations of aging:</a:t>
            </a: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60’s focus on losses and adaptation to them</a:t>
            </a: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70’s broader global, societal, and structural factors influencing lives of OA’s</a:t>
            </a: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80’s-90’s exploration of interrelationships between OA’s and their physical, political, environmental &amp; socioeconomic mileau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CDDC1D6E-6C64-11C2-D21F-F474CED621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Disengagement Theory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EDEE7ACC-DB5E-46C2-1DA4-ECFD4FB6CD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Cumming &amp; Henry--1961</a:t>
            </a:r>
          </a:p>
          <a:p>
            <a:r>
              <a:rPr lang="en-US" altLang="ko-KR">
                <a:ea typeface="굴림" panose="020B0600000101010101" pitchFamily="34" charset="-127"/>
              </a:rPr>
              <a:t>Aging seen as a developmental task in and of itself, with its own norms &amp; appropriate patterns of behavior</a:t>
            </a:r>
          </a:p>
          <a:p>
            <a:r>
              <a:rPr lang="en-US" altLang="ko-KR">
                <a:ea typeface="굴림" panose="020B0600000101010101" pitchFamily="34" charset="-127"/>
              </a:rPr>
              <a:t>“appropriate” behavior patterns involved a mutual agreement between OA’s and society on a reciprocal withdrawal.</a:t>
            </a:r>
          </a:p>
          <a:p>
            <a:r>
              <a:rPr lang="en-US" altLang="ko-KR">
                <a:ea typeface="굴림" panose="020B0600000101010101" pitchFamily="34" charset="-127"/>
              </a:rPr>
              <a:t>No longer supported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1426FDCD-45D6-CB44-EEE7-2569922D2A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Activity Theory (Developmental Task Theory)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C9D21AB1-42E9-8E1B-1318-10ED7AF841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Havighurst, Neugarten, Tobin ~1963</a:t>
            </a:r>
          </a:p>
          <a:p>
            <a:endParaRPr lang="en-US" altLang="ko-KR">
              <a:ea typeface="굴림" panose="020B0600000101010101" pitchFamily="34" charset="-127"/>
            </a:endParaRPr>
          </a:p>
          <a:p>
            <a:r>
              <a:rPr lang="en-US" altLang="ko-KR">
                <a:ea typeface="굴림" panose="020B0600000101010101" pitchFamily="34" charset="-127"/>
              </a:rPr>
              <a:t>“Activity is viewed by this theory as necessary to maintain a person’s life satisfaction and a positive self-concept”. (p.27)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3A8727E4-4EAD-780D-75C6-801D08439C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Activity, cont’d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80E6A8CF-3BD3-2D89-4847-E060CCAB2D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Theory based on assumptions:</a:t>
            </a: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1) it’s better to be active than inactive</a:t>
            </a:r>
          </a:p>
          <a:p>
            <a:pPr lvl="1"/>
            <a:endParaRPr lang="en-US" altLang="ko-KR">
              <a:ea typeface="굴림" panose="020B0600000101010101" pitchFamily="34" charset="-127"/>
            </a:endParaRP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2) it is better to be happy than unhappy</a:t>
            </a:r>
          </a:p>
          <a:p>
            <a:pPr lvl="1"/>
            <a:endParaRPr lang="en-US" altLang="ko-KR">
              <a:ea typeface="굴림" panose="020B0600000101010101" pitchFamily="34" charset="-127"/>
            </a:endParaRP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3) an older individual is the best judge of his or her own success in achieving the first two assumptions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D4BDE620-0353-F468-19F7-812D23AB07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Continuity Theory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AE40AFC5-5A42-1224-4858-2C969E4869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How a person has been throughout life is how that person will </a:t>
            </a:r>
            <a:r>
              <a:rPr lang="en-US" altLang="ko-KR" i="1">
                <a:ea typeface="굴림" panose="020B0600000101010101" pitchFamily="34" charset="-127"/>
              </a:rPr>
              <a:t>continue</a:t>
            </a:r>
            <a:r>
              <a:rPr lang="en-US" altLang="ko-KR">
                <a:ea typeface="굴림" panose="020B0600000101010101" pitchFamily="34" charset="-127"/>
              </a:rPr>
              <a:t> through the remainder of life</a:t>
            </a:r>
          </a:p>
          <a:p>
            <a:endParaRPr lang="en-US" altLang="ko-KR">
              <a:ea typeface="굴림" panose="020B0600000101010101" pitchFamily="34" charset="-127"/>
            </a:endParaRPr>
          </a:p>
          <a:p>
            <a:r>
              <a:rPr lang="en-US" altLang="ko-KR">
                <a:ea typeface="굴림" panose="020B0600000101010101" pitchFamily="34" charset="-127"/>
              </a:rPr>
              <a:t>Old age is </a:t>
            </a:r>
            <a:r>
              <a:rPr lang="en-US" altLang="ko-KR" i="1">
                <a:ea typeface="굴림" panose="020B0600000101010101" pitchFamily="34" charset="-127"/>
              </a:rPr>
              <a:t>not</a:t>
            </a:r>
            <a:r>
              <a:rPr lang="en-US" altLang="ko-KR">
                <a:ea typeface="굴림" panose="020B0600000101010101" pitchFamily="34" charset="-127"/>
              </a:rPr>
              <a:t> a separate phase of life, but rather a continuation and thus an integral component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DA599224-55E9-A913-2B74-61DAF7B4C9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Age Stratification Theory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D8F2B381-74CF-D49D-36AE-1648A07BA0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Riley--1985</a:t>
            </a:r>
          </a:p>
          <a:p>
            <a:r>
              <a:rPr lang="en-US" altLang="ko-KR">
                <a:ea typeface="굴림" panose="020B0600000101010101" pitchFamily="34" charset="-127"/>
              </a:rPr>
              <a:t>Society consists of groups of </a:t>
            </a:r>
            <a:r>
              <a:rPr lang="en-US" altLang="ko-KR" i="1">
                <a:ea typeface="굴림" panose="020B0600000101010101" pitchFamily="34" charset="-127"/>
              </a:rPr>
              <a:t>cohorts</a:t>
            </a:r>
            <a:r>
              <a:rPr lang="en-US" altLang="ko-KR">
                <a:ea typeface="굴림" panose="020B0600000101010101" pitchFamily="34" charset="-127"/>
              </a:rPr>
              <a:t> that age collectively</a:t>
            </a:r>
          </a:p>
          <a:p>
            <a:r>
              <a:rPr lang="en-US" altLang="ko-KR">
                <a:ea typeface="굴림" panose="020B0600000101010101" pitchFamily="34" charset="-127"/>
              </a:rPr>
              <a:t>The people &amp; Roles in these cohorts change &amp; influence each other, as does society at large</a:t>
            </a:r>
          </a:p>
          <a:p>
            <a:r>
              <a:rPr lang="en-US" altLang="ko-KR">
                <a:ea typeface="굴림" panose="020B0600000101010101" pitchFamily="34" charset="-127"/>
              </a:rPr>
              <a:t>Thus, there is a high degree of interdependence between older adults &amp; society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09EEF43C-BCE2-59CD-1B9C-1F7D714CC7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Person-Environment Fit Theory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5086A660-87FF-0EF9-48E7-345D5E5560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Lawton, 1982</a:t>
            </a:r>
          </a:p>
          <a:p>
            <a:r>
              <a:rPr lang="en-US" altLang="ko-KR">
                <a:ea typeface="굴림" panose="020B0600000101010101" pitchFamily="34" charset="-127"/>
              </a:rPr>
              <a:t>Individuals have personal competencies that assist in dealing with the environment:</a:t>
            </a: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ego strength</a:t>
            </a: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level of motor skills</a:t>
            </a: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individual biologic health</a:t>
            </a: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cognitive &amp; sensory-perceptual capacities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DA8425D3-D011-B289-9E33-1F2ED6B2B3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P-E Fit, cont’d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CD6A6B8E-5B06-3F41-2AA0-D7FFD59114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As a person ages, there may be changes in competencies &amp; these changes alter the ability to interrelate with the environment</a:t>
            </a:r>
          </a:p>
          <a:p>
            <a:endParaRPr lang="en-US" altLang="ko-KR">
              <a:ea typeface="굴림" panose="020B0600000101010101" pitchFamily="34" charset="-127"/>
            </a:endParaRPr>
          </a:p>
          <a:p>
            <a:r>
              <a:rPr lang="en-US" altLang="ko-KR">
                <a:ea typeface="굴림" panose="020B0600000101010101" pitchFamily="34" charset="-127"/>
              </a:rPr>
              <a:t>Significant implications in a society that is characterized by constantly changing technology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51B69EBC-2A94-4C71-10A0-4F741B8324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>
                <a:ea typeface="굴림" panose="020B0600000101010101" pitchFamily="34" charset="-127"/>
              </a:rPr>
              <a:t>PSYCHOLOGIC THEORIES OF AGING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06240C53-B6DA-9D6F-6B26-078446599A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altLang="ko-KR">
                <a:ea typeface="굴림" panose="020B0600000101010101" pitchFamily="34" charset="-127"/>
              </a:rPr>
              <a:t>Maslow’s Hierarchy of Human Needs</a:t>
            </a:r>
          </a:p>
          <a:p>
            <a:pPr algn="ctr"/>
            <a:endParaRPr lang="en-US" altLang="ko-KR">
              <a:ea typeface="굴림" panose="020B0600000101010101" pitchFamily="34" charset="-127"/>
            </a:endParaRPr>
          </a:p>
          <a:p>
            <a:pPr algn="ctr"/>
            <a:r>
              <a:rPr lang="en-US" altLang="ko-KR">
                <a:ea typeface="굴림" panose="020B0600000101010101" pitchFamily="34" charset="-127"/>
              </a:rPr>
              <a:t>Jung’s Theory of Individualism</a:t>
            </a:r>
          </a:p>
          <a:p>
            <a:pPr algn="ctr"/>
            <a:endParaRPr lang="en-US" altLang="ko-KR">
              <a:ea typeface="굴림" panose="020B0600000101010101" pitchFamily="34" charset="-127"/>
            </a:endParaRPr>
          </a:p>
          <a:p>
            <a:pPr algn="ctr"/>
            <a:r>
              <a:rPr lang="en-US" altLang="ko-KR">
                <a:ea typeface="굴림" panose="020B0600000101010101" pitchFamily="34" charset="-127"/>
              </a:rPr>
              <a:t>Erikson’s Eight Stages of Life</a:t>
            </a:r>
          </a:p>
          <a:p>
            <a:pPr algn="ctr"/>
            <a:endParaRPr lang="en-US" altLang="ko-KR">
              <a:ea typeface="굴림" panose="020B0600000101010101" pitchFamily="34" charset="-127"/>
            </a:endParaRPr>
          </a:p>
          <a:p>
            <a:pPr algn="ctr"/>
            <a:r>
              <a:rPr lang="en-US" altLang="ko-KR">
                <a:ea typeface="굴림" panose="020B0600000101010101" pitchFamily="34" charset="-127"/>
              </a:rPr>
              <a:t>Peck’s Expansion of Erikson’s Theory</a:t>
            </a:r>
          </a:p>
          <a:p>
            <a:pPr algn="ctr"/>
            <a:r>
              <a:rPr lang="en-US" altLang="ko-KR">
                <a:ea typeface="굴림" panose="020B0600000101010101" pitchFamily="34" charset="-127"/>
              </a:rPr>
              <a:t>Selective Optimization with Compensation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7D75F3C4-4E2B-CB5B-3C13-D6957822D7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Maslow’s Hierarchy of Human Needs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834E0E84-180A-0327-FFE9-3DBDFEAD09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Maslow--1954</a:t>
            </a:r>
          </a:p>
          <a:p>
            <a:r>
              <a:rPr lang="en-US" altLang="ko-KR">
                <a:ea typeface="굴림" panose="020B0600000101010101" pitchFamily="34" charset="-127"/>
              </a:rPr>
              <a:t>“…each individual has an innate internal hierarchy of needs that motivates all human behaviors”. (p. 29</a:t>
            </a:r>
          </a:p>
          <a:p>
            <a:endParaRPr lang="en-US" altLang="ko-KR">
              <a:ea typeface="굴림" panose="020B0600000101010101" pitchFamily="34" charset="-127"/>
            </a:endParaRPr>
          </a:p>
          <a:p>
            <a:r>
              <a:rPr lang="en-US" altLang="ko-KR">
                <a:ea typeface="굴림" panose="020B0600000101010101" pitchFamily="34" charset="-127"/>
              </a:rPr>
              <a:t>depicted as a pyramid;   the ideal is to achieve self-actualization, having met all the “lower” level needs successful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194B373E-312E-51C7-4F9F-2A2FFA99A3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ko-KR" altLang="ko-KR"/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8EE85D33-7295-CB18-01AD-9C7AEB09DF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“Maslow’s fully developed, self-actualized person displays high levels of all of the following characteristics: perception of reality; acceptance of self, others, and nature; spontaneity; problem-solving ability; self-direction; detachment and the desire for primacy; freshness of peak experiences; identification with other human beings;…….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C5C87976-68D1-DE60-A771-1370D05420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ko-KR" altLang="ko-KR"/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392FE9B6-BAA7-5F7E-8337-9238401F00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…satisfying and changing relationships with other people; a democratic character structure; creativity; and a sense of values.</a:t>
            </a:r>
          </a:p>
          <a:p>
            <a:endParaRPr lang="en-US" altLang="ko-KR">
              <a:ea typeface="굴림" panose="020B0600000101010101" pitchFamily="34" charset="-127"/>
            </a:endParaRPr>
          </a:p>
          <a:p>
            <a:r>
              <a:rPr lang="en-US" altLang="ko-KR">
                <a:ea typeface="굴림" panose="020B0600000101010101" pitchFamily="34" charset="-127"/>
              </a:rPr>
              <a:t>Only about 1% of us are truly ideal self-actualized persons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D9EBB817-0BAC-1658-ACFC-8C3EB5ACBE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Jung’s Theory of Individualism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071122CF-AD0E-9D66-2316-93EFC440DC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Carl Jung--1960</a:t>
            </a:r>
          </a:p>
          <a:p>
            <a:r>
              <a:rPr lang="en-US" altLang="ko-KR">
                <a:ea typeface="굴림" panose="020B0600000101010101" pitchFamily="34" charset="-127"/>
              </a:rPr>
              <a:t>origins are Freudian</a:t>
            </a:r>
          </a:p>
          <a:p>
            <a:r>
              <a:rPr lang="en-US" altLang="ko-KR">
                <a:ea typeface="굴림" panose="020B0600000101010101" pitchFamily="34" charset="-127"/>
              </a:rPr>
              <a:t>Self-realization is the goal of personality development</a:t>
            </a:r>
          </a:p>
          <a:p>
            <a:r>
              <a:rPr lang="en-US" altLang="ko-KR">
                <a:ea typeface="굴림" panose="020B0600000101010101" pitchFamily="34" charset="-127"/>
              </a:rPr>
              <a:t>as individual ages, each is capable of transforming into a more spiritual being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C6AE665D-94CC-9CA4-DAC3-5686099EED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Erikson’s Eight Stages of Life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45EBA27F-B674-1415-2295-90849CD4E0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79550" y="1905000"/>
            <a:ext cx="7626350" cy="4114800"/>
          </a:xfrm>
        </p:spPr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1993</a:t>
            </a:r>
          </a:p>
          <a:p>
            <a:r>
              <a:rPr lang="en-US" altLang="ko-KR">
                <a:ea typeface="굴림" panose="020B0600000101010101" pitchFamily="34" charset="-127"/>
              </a:rPr>
              <a:t>Stages throughout the life course. Each represents a crisis to be resolved.</a:t>
            </a:r>
          </a:p>
          <a:p>
            <a:r>
              <a:rPr lang="en-US" altLang="ko-KR">
                <a:ea typeface="굴림" panose="020B0600000101010101" pitchFamily="34" charset="-127"/>
              </a:rPr>
              <a:t>For OA’s:</a:t>
            </a: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40 to 65 (middle adulthood): generativity versus self-absorption or stagnation</a:t>
            </a: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65 to death (older adulthood): ego integrity versus despair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07F33920-0083-2B7B-5576-C32AC0261B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Erikson, cont’d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D7253D7F-BF65-0E0E-56F8-213DEB0CDF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“Self-absorbed adults will be preoccupied with their personal well-being and material gains.  Preoccupation with self leads to stagnation of life”</a:t>
            </a:r>
          </a:p>
          <a:p>
            <a:r>
              <a:rPr lang="en-US" altLang="ko-KR">
                <a:ea typeface="굴림" panose="020B0600000101010101" pitchFamily="34" charset="-127"/>
              </a:rPr>
              <a:t>“Unsuccessful resolution of the last crisis may result in a sense of despair in which individuals view life as a series of misfortunes, disappointments, and failures”. (p.30)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950C9C44-736C-A659-A2A0-7A28729764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Peck’s Expansion of Erikson’s Theory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5DCEB2F1-EEAC-A1C9-4CAA-611071D318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Erikson’s last two stages are expanded to 7</a:t>
            </a:r>
          </a:p>
          <a:p>
            <a:r>
              <a:rPr lang="en-US" altLang="ko-KR">
                <a:ea typeface="굴림" panose="020B0600000101010101" pitchFamily="34" charset="-127"/>
              </a:rPr>
              <a:t>The final three of the developmental tasks for old age:</a:t>
            </a: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ego differentiation versus work role preoccupation</a:t>
            </a: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body transcendence versus body preoccupation</a:t>
            </a: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ego transcendence versus ego preoccupation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91EA1118-6771-2E55-7921-EAE51F8E47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Selective Optimization with Compensation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4EFC56B0-97A2-D76C-E871-B4FB5FCDDB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Baltes--1987</a:t>
            </a:r>
          </a:p>
          <a:p>
            <a:endParaRPr lang="en-US" altLang="ko-KR">
              <a:ea typeface="굴림" panose="020B0600000101010101" pitchFamily="34" charset="-127"/>
            </a:endParaRPr>
          </a:p>
          <a:p>
            <a:r>
              <a:rPr lang="en-US" altLang="ko-KR">
                <a:ea typeface="굴림" panose="020B0600000101010101" pitchFamily="34" charset="-127"/>
              </a:rPr>
              <a:t>Individuals develop strategies to manage losses of function that occur over time</a:t>
            </a:r>
          </a:p>
          <a:p>
            <a:endParaRPr lang="en-US" altLang="ko-KR">
              <a:ea typeface="굴림" panose="020B0600000101010101" pitchFamily="34" charset="-127"/>
            </a:endParaRPr>
          </a:p>
        </p:txBody>
      </p:sp>
      <p:graphicFrame>
        <p:nvGraphicFramePr>
          <p:cNvPr id="73732" name="Object 4">
            <a:extLst>
              <a:ext uri="{FF2B5EF4-FFF2-40B4-BE49-F238E27FC236}">
                <a16:creationId xmlns:a16="http://schemas.microsoft.com/office/drawing/2014/main" id="{A34B08A3-90F4-F6B6-E0DD-FC02F32677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1436688" y="3906838"/>
          <a:ext cx="9715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" r:id="rId2" imgW="7143750" imgH="7143750" progId="Package">
                  <p:embed/>
                </p:oleObj>
              </mc:Choice>
              <mc:Fallback>
                <p:oleObj name="Package" r:id="rId2" imgW="7143750" imgH="7143750" progId="Packag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436688" y="3906838"/>
                        <a:ext cx="97155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EE7CC90B-A13C-81B2-8526-2494308A72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Selective Optimization, cont’d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EE47E7AB-8972-7FF2-2D05-674E20B9ED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3 Interacting Elements:</a:t>
            </a:r>
          </a:p>
          <a:p>
            <a:pPr lvl="1"/>
            <a:r>
              <a:rPr lang="en-US" altLang="ko-KR" i="1">
                <a:ea typeface="굴림" panose="020B0600000101010101" pitchFamily="34" charset="-127"/>
              </a:rPr>
              <a:t>selection:</a:t>
            </a:r>
            <a:r>
              <a:rPr lang="en-US" altLang="ko-KR">
                <a:ea typeface="굴림" panose="020B0600000101010101" pitchFamily="34" charset="-127"/>
              </a:rPr>
              <a:t> increasing restriction of one’s life to fewer domains of functioning</a:t>
            </a:r>
          </a:p>
          <a:p>
            <a:pPr lvl="1"/>
            <a:r>
              <a:rPr lang="en-US" altLang="ko-KR" i="1">
                <a:ea typeface="굴림" panose="020B0600000101010101" pitchFamily="34" charset="-127"/>
              </a:rPr>
              <a:t>optimization:</a:t>
            </a:r>
            <a:r>
              <a:rPr lang="en-US" altLang="ko-KR">
                <a:ea typeface="굴림" panose="020B0600000101010101" pitchFamily="34" charset="-127"/>
              </a:rPr>
              <a:t> people engage in behaviors to enrich their lives</a:t>
            </a:r>
          </a:p>
          <a:p>
            <a:pPr lvl="1"/>
            <a:r>
              <a:rPr lang="en-US" altLang="ko-KR" i="1">
                <a:ea typeface="굴림" panose="020B0600000101010101" pitchFamily="34" charset="-127"/>
              </a:rPr>
              <a:t>compensation:</a:t>
            </a:r>
            <a:r>
              <a:rPr lang="en-US" altLang="ko-KR">
                <a:ea typeface="굴림" panose="020B0600000101010101" pitchFamily="34" charset="-127"/>
              </a:rPr>
              <a:t>developing suitable, alternative adaptations</a:t>
            </a:r>
          </a:p>
          <a:p>
            <a:endParaRPr lang="en-US" altLang="ko-KR">
              <a:ea typeface="굴림" panose="020B0600000101010101" pitchFamily="34" charset="-127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2C93C03F-C745-DBE2-D1D8-CF680C7B8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>
                <a:ea typeface="굴림" panose="020B0600000101010101" pitchFamily="34" charset="-127"/>
              </a:rPr>
              <a:t>THE END!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815F0DE2-0280-AF42-79DF-1F7381B579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>
              <a:ea typeface="굴림" panose="020B0600000101010101" pitchFamily="34" charset="-127"/>
            </a:endParaRPr>
          </a:p>
          <a:p>
            <a:endParaRPr lang="en-US" altLang="ko-KR">
              <a:ea typeface="굴림" panose="020B0600000101010101" pitchFamily="34" charset="-127"/>
            </a:endParaRPr>
          </a:p>
          <a:p>
            <a:pPr algn="ctr"/>
            <a:r>
              <a:rPr lang="en-US" altLang="ko-KR">
                <a:ea typeface="굴림" panose="020B0600000101010101" pitchFamily="34" charset="-127"/>
              </a:rPr>
              <a:t>Thanks for hanging in there!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nny Days">
  <a:themeElements>
    <a:clrScheme name="Sunny Days 1">
      <a:dk1>
        <a:srgbClr val="000000"/>
      </a:dk1>
      <a:lt1>
        <a:srgbClr val="FFCC66"/>
      </a:lt1>
      <a:dk2>
        <a:srgbClr val="996633"/>
      </a:dk2>
      <a:lt2>
        <a:srgbClr val="CC6600"/>
      </a:lt2>
      <a:accent1>
        <a:srgbClr val="FF9933"/>
      </a:accent1>
      <a:accent2>
        <a:srgbClr val="CCCCCC"/>
      </a:accent2>
      <a:accent3>
        <a:srgbClr val="FFE2B8"/>
      </a:accent3>
      <a:accent4>
        <a:srgbClr val="000000"/>
      </a:accent4>
      <a:accent5>
        <a:srgbClr val="FFCAAD"/>
      </a:accent5>
      <a:accent6>
        <a:srgbClr val="B9B9B9"/>
      </a:accent6>
      <a:hlink>
        <a:srgbClr val="CC9900"/>
      </a:hlink>
      <a:folHlink>
        <a:srgbClr val="993366"/>
      </a:folHlink>
    </a:clrScheme>
    <a:fontScheme name="Sunny Days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2400" b="0" i="1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2400" b="0" i="1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Sunny Days 1">
        <a:dk1>
          <a:srgbClr val="000000"/>
        </a:dk1>
        <a:lt1>
          <a:srgbClr val="FFCC66"/>
        </a:lt1>
        <a:dk2>
          <a:srgbClr val="996633"/>
        </a:dk2>
        <a:lt2>
          <a:srgbClr val="CC6600"/>
        </a:lt2>
        <a:accent1>
          <a:srgbClr val="FF9933"/>
        </a:accent1>
        <a:accent2>
          <a:srgbClr val="CCCCCC"/>
        </a:accent2>
        <a:accent3>
          <a:srgbClr val="FFE2B8"/>
        </a:accent3>
        <a:accent4>
          <a:srgbClr val="000000"/>
        </a:accent4>
        <a:accent5>
          <a:srgbClr val="FFCAAD"/>
        </a:accent5>
        <a:accent6>
          <a:srgbClr val="B9B9B9"/>
        </a:accent6>
        <a:hlink>
          <a:srgbClr val="CC9900"/>
        </a:hlink>
        <a:folHlink>
          <a:srgbClr val="9933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nny Days 2">
        <a:dk1>
          <a:srgbClr val="000000"/>
        </a:dk1>
        <a:lt1>
          <a:srgbClr val="FFFFCC"/>
        </a:lt1>
        <a:dk2>
          <a:srgbClr val="996633"/>
        </a:dk2>
        <a:lt2>
          <a:srgbClr val="CC9900"/>
        </a:lt2>
        <a:accent1>
          <a:srgbClr val="FF9933"/>
        </a:accent1>
        <a:accent2>
          <a:srgbClr val="FFFFFF"/>
        </a:accent2>
        <a:accent3>
          <a:srgbClr val="FFFFE2"/>
        </a:accent3>
        <a:accent4>
          <a:srgbClr val="000000"/>
        </a:accent4>
        <a:accent5>
          <a:srgbClr val="FFCAAD"/>
        </a:accent5>
        <a:accent6>
          <a:srgbClr val="E7E7E7"/>
        </a:accent6>
        <a:hlink>
          <a:srgbClr val="FFCC66"/>
        </a:hlink>
        <a:folHlink>
          <a:srgbClr val="9933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nny Days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CBCBCB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nny Days 4">
        <a:dk1>
          <a:srgbClr val="000000"/>
        </a:dk1>
        <a:lt1>
          <a:srgbClr val="F8F8F8"/>
        </a:lt1>
        <a:dk2>
          <a:srgbClr val="006600"/>
        </a:dk2>
        <a:lt2>
          <a:srgbClr val="FFCC00"/>
        </a:lt2>
        <a:accent1>
          <a:srgbClr val="9999FF"/>
        </a:accent1>
        <a:accent2>
          <a:srgbClr val="003300"/>
        </a:accent2>
        <a:accent3>
          <a:srgbClr val="AAB8AA"/>
        </a:accent3>
        <a:accent4>
          <a:srgbClr val="D4D4D4"/>
        </a:accent4>
        <a:accent5>
          <a:srgbClr val="CACAFF"/>
        </a:accent5>
        <a:accent6>
          <a:srgbClr val="002D00"/>
        </a:accent6>
        <a:hlink>
          <a:srgbClr val="009966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nny Days 5">
        <a:dk1>
          <a:srgbClr val="000000"/>
        </a:dk1>
        <a:lt1>
          <a:srgbClr val="F8F8F8"/>
        </a:lt1>
        <a:dk2>
          <a:srgbClr val="990099"/>
        </a:dk2>
        <a:lt2>
          <a:srgbClr val="FFCC00"/>
        </a:lt2>
        <a:accent1>
          <a:srgbClr val="9999FF"/>
        </a:accent1>
        <a:accent2>
          <a:srgbClr val="660066"/>
        </a:accent2>
        <a:accent3>
          <a:srgbClr val="CAAACA"/>
        </a:accent3>
        <a:accent4>
          <a:srgbClr val="D4D4D4"/>
        </a:accent4>
        <a:accent5>
          <a:srgbClr val="CACAFF"/>
        </a:accent5>
        <a:accent6>
          <a:srgbClr val="5C005C"/>
        </a:accent6>
        <a:hlink>
          <a:srgbClr val="CC00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Files\PP\Templates\Presentation Designs\Sunny Days.pot</Template>
  <TotalTime>1181</TotalTime>
  <Words>1619</Words>
  <Application>Microsoft Macintosh PowerPoint</Application>
  <PresentationFormat>화면 슬라이드 쇼(4:3)</PresentationFormat>
  <Paragraphs>218</Paragraphs>
  <Slides>44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48" baseType="lpstr">
      <vt:lpstr>Times New Roman</vt:lpstr>
      <vt:lpstr>Wingdings</vt:lpstr>
      <vt:lpstr>Sunny Days</vt:lpstr>
      <vt:lpstr>Package</vt:lpstr>
      <vt:lpstr>THEORIES OF AGING</vt:lpstr>
      <vt:lpstr>PowerPoint 프레젠테이션</vt:lpstr>
      <vt:lpstr>Theories of Aging: Types</vt:lpstr>
      <vt:lpstr>Biologic Theories:</vt:lpstr>
      <vt:lpstr>Foci of Biologic Theories</vt:lpstr>
      <vt:lpstr>PowerPoint 프레젠테이션</vt:lpstr>
      <vt:lpstr>Biologic Theories: Divisions</vt:lpstr>
      <vt:lpstr>PowerPoint 프레젠테이션</vt:lpstr>
      <vt:lpstr>Error Theory</vt:lpstr>
      <vt:lpstr>Error, cont’d</vt:lpstr>
      <vt:lpstr>Free Radical Theory</vt:lpstr>
      <vt:lpstr>Free Rads, cont’d</vt:lpstr>
      <vt:lpstr>Cross-Linkage Theory</vt:lpstr>
      <vt:lpstr>C-L Theory, cont’d</vt:lpstr>
      <vt:lpstr>Wear &amp; Tear Theory</vt:lpstr>
      <vt:lpstr>PowerPoint 프레젠테이션</vt:lpstr>
      <vt:lpstr>Programmed (Hayflick Limit) Theory</vt:lpstr>
      <vt:lpstr>Immunity Theory</vt:lpstr>
      <vt:lpstr>Immunity, cont’d</vt:lpstr>
      <vt:lpstr>EMERGING THEORIES OF AGING</vt:lpstr>
      <vt:lpstr>Neuroendocrine Control</vt:lpstr>
      <vt:lpstr>Neuro, cont’d</vt:lpstr>
      <vt:lpstr>Metobolic Theory of Aging (Caloric Restriction)</vt:lpstr>
      <vt:lpstr>DNA-Related Research</vt:lpstr>
      <vt:lpstr>SOCIOLOGIC THEORIES OF AGING</vt:lpstr>
      <vt:lpstr>PowerPoint 프레젠테이션</vt:lpstr>
      <vt:lpstr>Disengagement Theory</vt:lpstr>
      <vt:lpstr>Activity Theory (Developmental Task Theory)</vt:lpstr>
      <vt:lpstr>Activity, cont’d</vt:lpstr>
      <vt:lpstr>Continuity Theory</vt:lpstr>
      <vt:lpstr>Age Stratification Theory</vt:lpstr>
      <vt:lpstr>Person-Environment Fit Theory</vt:lpstr>
      <vt:lpstr>P-E Fit, cont’d</vt:lpstr>
      <vt:lpstr>PSYCHOLOGIC THEORIES OF AGING</vt:lpstr>
      <vt:lpstr>Maslow’s Hierarchy of Human Needs</vt:lpstr>
      <vt:lpstr>PowerPoint 프레젠테이션</vt:lpstr>
      <vt:lpstr>PowerPoint 프레젠테이션</vt:lpstr>
      <vt:lpstr>Jung’s Theory of Individualism</vt:lpstr>
      <vt:lpstr>Erikson’s Eight Stages of Life</vt:lpstr>
      <vt:lpstr>Erikson, cont’d</vt:lpstr>
      <vt:lpstr>Peck’s Expansion of Erikson’s Theory</vt:lpstr>
      <vt:lpstr>Selective Optimization with Compensation</vt:lpstr>
      <vt:lpstr>Selective Optimization, cont’d</vt:lpstr>
      <vt:lpstr>THE END!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THEORIES OF AGING</dc:title>
  <dc:creator>Mom</dc:creator>
  <cp:lastModifiedBy>Suji Kim</cp:lastModifiedBy>
  <cp:revision>13</cp:revision>
  <cp:lastPrinted>2009-04-22T19:24:48Z</cp:lastPrinted>
  <dcterms:created xsi:type="dcterms:W3CDTF">2003-09-18T16:43:11Z</dcterms:created>
  <dcterms:modified xsi:type="dcterms:W3CDTF">2026-04-11T12:32:01Z</dcterms:modified>
</cp:coreProperties>
</file>