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6858000" cy="9144000"/>
  <p:embeddedFontLst>
    <p:embeddedFont>
      <p:font typeface="Codec Pro"/>
      <p:regular r:id="rId18"/>
    </p:embeddedFont>
    <p:embeddedFont>
      <p:font typeface="Libre Franklin Bold"/>
      <p:regular r:id="rId19"/>
      <p:bold r:id="rId20"/>
    </p:embeddedFont>
    <p:embeddedFont>
      <p:font typeface="Libre Franklin Bold Bold" pitchFamily="2" charset="77"/>
      <p:regular r:id="rId21"/>
      <p:bold r:id="rId22"/>
    </p:embeddedFont>
    <p:embeddedFont>
      <p:font typeface="Libre Franklin Light"/>
      <p:regular r:id="rId23"/>
      <p:italic r:id="rId24"/>
    </p:embeddedFont>
    <p:embeddedFont>
      <p:font typeface="Libre Franklin Light Bold" pitchFamily="2" charset="77"/>
      <p:regular r:id="rId25"/>
    </p:embeddedFont>
    <p:embeddedFont>
      <p:font typeface="Libre Franklin Light Italics" pitchFamily="2" charset="77"/>
      <p:regular r:id="rId26"/>
      <p:italic r:id="rId27"/>
    </p:embeddedFont>
    <p:embeddedFont>
      <p:font typeface="Libre Franklin Medium" pitchFamily="2" charset="77"/>
      <p:regular r:id="rId28"/>
      <p:italic r:id="rId29"/>
    </p:embeddedFont>
    <p:embeddedFont>
      <p:font typeface="Montserrat Classic" pitchFamily="2" charset="77"/>
      <p:regular r:id="rId30"/>
    </p:embeddedFont>
    <p:embeddedFont>
      <p:font typeface="Montserrat Classic Bold" pitchFamily="2" charset="77"/>
      <p:regular r:id="rId31"/>
      <p:bold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56573A0-0B98-337F-629D-07CFDC2A5667}" name="Jacki Donaldson" initials="JD" userId="FC0MqnbKa5jx563DznKE/V1XlszY5qOR7qtuC9lGPVw=" providerId="None"/>
  <p188:author id="{AF6BE6BA-8641-6849-9268-7904F978707C}" name="Brownell,Mary T" initials="BT" userId="S::bassale@ufl.edu::0beec387-5f6b-4308-8ada-b8d41a971d7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70E236C-C0BD-4574-8002-1D0C862DB246}" v="12" dt="2023-01-29T22:53:38.169"/>
    <p1510:client id="{9362BFBE-2A28-48BB-8A9A-505DE33D973F}" v="97" dt="2023-02-04T22:11:27.083"/>
    <p1510:client id="{FEA7684A-3505-486A-8A1C-D9F079882A3E}" v="236" dt="2023-01-22T02:27:01.0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903" autoAdjust="0"/>
    <p:restoredTop sz="94718" autoAdjust="0"/>
  </p:normalViewPr>
  <p:slideViewPr>
    <p:cSldViewPr>
      <p:cViewPr varScale="1">
        <p:scale>
          <a:sx n="47" d="100"/>
          <a:sy n="47" d="100"/>
        </p:scale>
        <p:origin x="280" y="10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9" Type="http://schemas.microsoft.com/office/2018/10/relationships/authors" Target="authors.xml"/><Relationship Id="rId21" Type="http://schemas.openxmlformats.org/officeDocument/2006/relationships/font" Target="fonts/font4.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font" Target="fonts/font15.fntdata"/><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cki Donaldson" userId="FC0MqnbKa5jx563DznKE/V1XlszY5qOR7qtuC9lGPVw=" providerId="None" clId="Web-{870E236C-C0BD-4574-8002-1D0C862DB246}"/>
    <pc:docChg chg="modSld">
      <pc:chgData name="Jacki Donaldson" userId="FC0MqnbKa5jx563DznKE/V1XlszY5qOR7qtuC9lGPVw=" providerId="None" clId="Web-{870E236C-C0BD-4574-8002-1D0C862DB246}" dt="2023-01-29T22:53:38.169" v="6" actId="20577"/>
      <pc:docMkLst>
        <pc:docMk/>
      </pc:docMkLst>
      <pc:sldChg chg="modSp">
        <pc:chgData name="Jacki Donaldson" userId="FC0MqnbKa5jx563DznKE/V1XlszY5qOR7qtuC9lGPVw=" providerId="None" clId="Web-{870E236C-C0BD-4574-8002-1D0C862DB246}" dt="2023-01-29T22:50:15.998" v="4" actId="20577"/>
        <pc:sldMkLst>
          <pc:docMk/>
          <pc:sldMk cId="0" sldId="260"/>
        </pc:sldMkLst>
        <pc:spChg chg="mod">
          <ac:chgData name="Jacki Donaldson" userId="FC0MqnbKa5jx563DznKE/V1XlszY5qOR7qtuC9lGPVw=" providerId="None" clId="Web-{870E236C-C0BD-4574-8002-1D0C862DB246}" dt="2023-01-29T22:50:15.998" v="4" actId="20577"/>
          <ac:spMkLst>
            <pc:docMk/>
            <pc:sldMk cId="0" sldId="260"/>
            <ac:spMk id="17" creationId="{00000000-0000-0000-0000-000000000000}"/>
          </ac:spMkLst>
        </pc:spChg>
      </pc:sldChg>
      <pc:sldChg chg="modSp">
        <pc:chgData name="Jacki Donaldson" userId="FC0MqnbKa5jx563DznKE/V1XlszY5qOR7qtuC9lGPVw=" providerId="None" clId="Web-{870E236C-C0BD-4574-8002-1D0C862DB246}" dt="2023-01-29T22:53:38.169" v="6" actId="20577"/>
        <pc:sldMkLst>
          <pc:docMk/>
          <pc:sldMk cId="0" sldId="270"/>
        </pc:sldMkLst>
        <pc:spChg chg="mod">
          <ac:chgData name="Jacki Donaldson" userId="FC0MqnbKa5jx563DznKE/V1XlszY5qOR7qtuC9lGPVw=" providerId="None" clId="Web-{870E236C-C0BD-4574-8002-1D0C862DB246}" dt="2023-01-29T22:53:38.169" v="6" actId="20577"/>
          <ac:spMkLst>
            <pc:docMk/>
            <pc:sldMk cId="0" sldId="270"/>
            <ac:spMk id="16" creationId="{00000000-0000-0000-0000-000000000000}"/>
          </ac:spMkLst>
        </pc:spChg>
      </pc:sldChg>
    </pc:docChg>
  </pc:docChgLst>
  <pc:docChgLst>
    <pc:chgData name="Jacki Donaldson" userId="FC0MqnbKa5jx563DznKE/V1XlszY5qOR7qtuC9lGPVw=" providerId="None" clId="Web-{9362BFBE-2A28-48BB-8A9A-505DE33D973F}"/>
    <pc:docChg chg="modSld">
      <pc:chgData name="Jacki Donaldson" userId="FC0MqnbKa5jx563DznKE/V1XlszY5qOR7qtuC9lGPVw=" providerId="None" clId="Web-{9362BFBE-2A28-48BB-8A9A-505DE33D973F}" dt="2023-02-04T22:11:27.083" v="50" actId="20577"/>
      <pc:docMkLst>
        <pc:docMk/>
      </pc:docMkLst>
      <pc:sldChg chg="modSp">
        <pc:chgData name="Jacki Donaldson" userId="FC0MqnbKa5jx563DznKE/V1XlszY5qOR7qtuC9lGPVw=" providerId="None" clId="Web-{9362BFBE-2A28-48BB-8A9A-505DE33D973F}" dt="2023-02-04T22:01:23.237" v="1" actId="20577"/>
        <pc:sldMkLst>
          <pc:docMk/>
          <pc:sldMk cId="0" sldId="260"/>
        </pc:sldMkLst>
        <pc:spChg chg="mod">
          <ac:chgData name="Jacki Donaldson" userId="FC0MqnbKa5jx563DznKE/V1XlszY5qOR7qtuC9lGPVw=" providerId="None" clId="Web-{9362BFBE-2A28-48BB-8A9A-505DE33D973F}" dt="2023-02-04T22:01:23.237" v="1" actId="20577"/>
          <ac:spMkLst>
            <pc:docMk/>
            <pc:sldMk cId="0" sldId="260"/>
            <ac:spMk id="17" creationId="{00000000-0000-0000-0000-000000000000}"/>
          </ac:spMkLst>
        </pc:spChg>
      </pc:sldChg>
      <pc:sldChg chg="modSp">
        <pc:chgData name="Jacki Donaldson" userId="FC0MqnbKa5jx563DznKE/V1XlszY5qOR7qtuC9lGPVw=" providerId="None" clId="Web-{9362BFBE-2A28-48BB-8A9A-505DE33D973F}" dt="2023-02-04T22:03:59.976" v="25" actId="20577"/>
        <pc:sldMkLst>
          <pc:docMk/>
          <pc:sldMk cId="0" sldId="266"/>
        </pc:sldMkLst>
        <pc:spChg chg="mod">
          <ac:chgData name="Jacki Donaldson" userId="FC0MqnbKa5jx563DznKE/V1XlszY5qOR7qtuC9lGPVw=" providerId="None" clId="Web-{9362BFBE-2A28-48BB-8A9A-505DE33D973F}" dt="2023-02-04T22:03:59.976" v="25" actId="20577"/>
          <ac:spMkLst>
            <pc:docMk/>
            <pc:sldMk cId="0" sldId="266"/>
            <ac:spMk id="15" creationId="{00000000-0000-0000-0000-000000000000}"/>
          </ac:spMkLst>
        </pc:spChg>
      </pc:sldChg>
      <pc:sldChg chg="modSp">
        <pc:chgData name="Jacki Donaldson" userId="FC0MqnbKa5jx563DznKE/V1XlszY5qOR7qtuC9lGPVw=" providerId="None" clId="Web-{9362BFBE-2A28-48BB-8A9A-505DE33D973F}" dt="2023-02-04T22:11:27.083" v="50" actId="20577"/>
        <pc:sldMkLst>
          <pc:docMk/>
          <pc:sldMk cId="0" sldId="269"/>
        </pc:sldMkLst>
        <pc:spChg chg="mod">
          <ac:chgData name="Jacki Donaldson" userId="FC0MqnbKa5jx563DznKE/V1XlszY5qOR7qtuC9lGPVw=" providerId="None" clId="Web-{9362BFBE-2A28-48BB-8A9A-505DE33D973F}" dt="2023-02-04T22:11:27.083" v="50" actId="20577"/>
          <ac:spMkLst>
            <pc:docMk/>
            <pc:sldMk cId="0" sldId="269"/>
            <ac:spMk id="16" creationId="{00000000-0000-0000-0000-000000000000}"/>
          </ac:spMkLst>
        </pc:spChg>
      </pc:sldChg>
    </pc:docChg>
  </pc:docChgLst>
  <pc:docChgLst>
    <pc:chgData name="Jacki Donaldson" userId="FC0MqnbKa5jx563DznKE/V1XlszY5qOR7qtuC9lGPVw=" providerId="None" clId="Web-{FEA7684A-3505-486A-8A1C-D9F079882A3E}"/>
    <pc:docChg chg="mod modSld">
      <pc:chgData name="Jacki Donaldson" userId="FC0MqnbKa5jx563DznKE/V1XlszY5qOR7qtuC9lGPVw=" providerId="None" clId="Web-{FEA7684A-3505-486A-8A1C-D9F079882A3E}" dt="2023-01-22T02:27:01.008" v="125" actId="20577"/>
      <pc:docMkLst>
        <pc:docMk/>
      </pc:docMkLst>
      <pc:sldChg chg="modSp">
        <pc:chgData name="Jacki Donaldson" userId="FC0MqnbKa5jx563DznKE/V1XlszY5qOR7qtuC9lGPVw=" providerId="None" clId="Web-{FEA7684A-3505-486A-8A1C-D9F079882A3E}" dt="2023-01-22T02:05:40.578" v="1" actId="20577"/>
        <pc:sldMkLst>
          <pc:docMk/>
          <pc:sldMk cId="0" sldId="257"/>
        </pc:sldMkLst>
        <pc:spChg chg="mod">
          <ac:chgData name="Jacki Donaldson" userId="FC0MqnbKa5jx563DznKE/V1XlszY5qOR7qtuC9lGPVw=" providerId="None" clId="Web-{FEA7684A-3505-486A-8A1C-D9F079882A3E}" dt="2023-01-22T02:05:40.578" v="1" actId="20577"/>
          <ac:spMkLst>
            <pc:docMk/>
            <pc:sldMk cId="0" sldId="257"/>
            <ac:spMk id="15" creationId="{00000000-0000-0000-0000-000000000000}"/>
          </ac:spMkLst>
        </pc:spChg>
      </pc:sldChg>
      <pc:sldChg chg="modSp">
        <pc:chgData name="Jacki Donaldson" userId="FC0MqnbKa5jx563DznKE/V1XlszY5qOR7qtuC9lGPVw=" providerId="None" clId="Web-{FEA7684A-3505-486A-8A1C-D9F079882A3E}" dt="2023-01-22T02:05:58.344" v="5" actId="20577"/>
        <pc:sldMkLst>
          <pc:docMk/>
          <pc:sldMk cId="0" sldId="258"/>
        </pc:sldMkLst>
        <pc:spChg chg="mod">
          <ac:chgData name="Jacki Donaldson" userId="FC0MqnbKa5jx563DznKE/V1XlszY5qOR7qtuC9lGPVw=" providerId="None" clId="Web-{FEA7684A-3505-486A-8A1C-D9F079882A3E}" dt="2023-01-22T02:05:58.344" v="5" actId="20577"/>
          <ac:spMkLst>
            <pc:docMk/>
            <pc:sldMk cId="0" sldId="258"/>
            <ac:spMk id="24" creationId="{00000000-0000-0000-0000-000000000000}"/>
          </ac:spMkLst>
        </pc:spChg>
      </pc:sldChg>
      <pc:sldChg chg="modSp">
        <pc:chgData name="Jacki Donaldson" userId="FC0MqnbKa5jx563DznKE/V1XlszY5qOR7qtuC9lGPVw=" providerId="None" clId="Web-{FEA7684A-3505-486A-8A1C-D9F079882A3E}" dt="2023-01-22T02:07:23.505" v="21" actId="20577"/>
        <pc:sldMkLst>
          <pc:docMk/>
          <pc:sldMk cId="0" sldId="260"/>
        </pc:sldMkLst>
        <pc:spChg chg="mod">
          <ac:chgData name="Jacki Donaldson" userId="FC0MqnbKa5jx563DznKE/V1XlszY5qOR7qtuC9lGPVw=" providerId="None" clId="Web-{FEA7684A-3505-486A-8A1C-D9F079882A3E}" dt="2023-01-22T02:06:31.299" v="8" actId="20577"/>
          <ac:spMkLst>
            <pc:docMk/>
            <pc:sldMk cId="0" sldId="260"/>
            <ac:spMk id="14" creationId="{00000000-0000-0000-0000-000000000000}"/>
          </ac:spMkLst>
        </pc:spChg>
        <pc:spChg chg="mod">
          <ac:chgData name="Jacki Donaldson" userId="FC0MqnbKa5jx563DznKE/V1XlszY5qOR7qtuC9lGPVw=" providerId="None" clId="Web-{FEA7684A-3505-486A-8A1C-D9F079882A3E}" dt="2023-01-22T02:07:23.505" v="21" actId="20577"/>
          <ac:spMkLst>
            <pc:docMk/>
            <pc:sldMk cId="0" sldId="260"/>
            <ac:spMk id="17" creationId="{00000000-0000-0000-0000-000000000000}"/>
          </ac:spMkLst>
        </pc:spChg>
      </pc:sldChg>
      <pc:sldChg chg="addCm">
        <pc:chgData name="Jacki Donaldson" userId="FC0MqnbKa5jx563DznKE/V1XlszY5qOR7qtuC9lGPVw=" providerId="None" clId="Web-{FEA7684A-3505-486A-8A1C-D9F079882A3E}" dt="2023-01-22T02:08:05.148" v="23"/>
        <pc:sldMkLst>
          <pc:docMk/>
          <pc:sldMk cId="0" sldId="262"/>
        </pc:sldMkLst>
        <pc:extLst>
          <p:ext xmlns:p="http://schemas.openxmlformats.org/presentationml/2006/main" uri="{D6D511B9-2390-475A-947B-AFAB55BFBCF1}">
            <pc226:cmChg xmlns:pc226="http://schemas.microsoft.com/office/powerpoint/2022/06/main/command" chg="add">
              <pc226:chgData name="Jacki Donaldson" userId="FC0MqnbKa5jx563DznKE/V1XlszY5qOR7qtuC9lGPVw=" providerId="None" clId="Web-{FEA7684A-3505-486A-8A1C-D9F079882A3E}" dt="2023-01-22T02:08:05.148" v="23"/>
              <pc2:cmMkLst xmlns:pc2="http://schemas.microsoft.com/office/powerpoint/2019/9/main/command">
                <pc:docMk/>
                <pc:sldMk cId="0" sldId="262"/>
                <pc2:cmMk id="{B5A36B17-A290-4647-B606-576C8FF53695}"/>
              </pc2:cmMkLst>
            </pc226:cmChg>
          </p:ext>
        </pc:extLst>
      </pc:sldChg>
      <pc:sldChg chg="modSp">
        <pc:chgData name="Jacki Donaldson" userId="FC0MqnbKa5jx563DznKE/V1XlszY5qOR7qtuC9lGPVw=" providerId="None" clId="Web-{FEA7684A-3505-486A-8A1C-D9F079882A3E}" dt="2023-01-22T02:08:47.962" v="33" actId="20577"/>
        <pc:sldMkLst>
          <pc:docMk/>
          <pc:sldMk cId="0" sldId="263"/>
        </pc:sldMkLst>
        <pc:spChg chg="mod">
          <ac:chgData name="Jacki Donaldson" userId="FC0MqnbKa5jx563DznKE/V1XlszY5qOR7qtuC9lGPVw=" providerId="None" clId="Web-{FEA7684A-3505-486A-8A1C-D9F079882A3E}" dt="2023-01-22T02:08:42.431" v="31" actId="20577"/>
          <ac:spMkLst>
            <pc:docMk/>
            <pc:sldMk cId="0" sldId="263"/>
            <ac:spMk id="12" creationId="{00000000-0000-0000-0000-000000000000}"/>
          </ac:spMkLst>
        </pc:spChg>
        <pc:spChg chg="mod">
          <ac:chgData name="Jacki Donaldson" userId="FC0MqnbKa5jx563DznKE/V1XlszY5qOR7qtuC9lGPVw=" providerId="None" clId="Web-{FEA7684A-3505-486A-8A1C-D9F079882A3E}" dt="2023-01-22T02:08:47.962" v="33" actId="20577"/>
          <ac:spMkLst>
            <pc:docMk/>
            <pc:sldMk cId="0" sldId="263"/>
            <ac:spMk id="17" creationId="{00000000-0000-0000-0000-000000000000}"/>
          </ac:spMkLst>
        </pc:spChg>
      </pc:sldChg>
      <pc:sldChg chg="modSp">
        <pc:chgData name="Jacki Donaldson" userId="FC0MqnbKa5jx563DznKE/V1XlszY5qOR7qtuC9lGPVw=" providerId="None" clId="Web-{FEA7684A-3505-486A-8A1C-D9F079882A3E}" dt="2023-01-22T02:10:01.028" v="47" actId="20577"/>
        <pc:sldMkLst>
          <pc:docMk/>
          <pc:sldMk cId="0" sldId="265"/>
        </pc:sldMkLst>
        <pc:spChg chg="mod">
          <ac:chgData name="Jacki Donaldson" userId="FC0MqnbKa5jx563DznKE/V1XlszY5qOR7qtuC9lGPVw=" providerId="None" clId="Web-{FEA7684A-3505-486A-8A1C-D9F079882A3E}" dt="2023-01-22T02:10:01.028" v="47" actId="20577"/>
          <ac:spMkLst>
            <pc:docMk/>
            <pc:sldMk cId="0" sldId="265"/>
            <ac:spMk id="17" creationId="{00000000-0000-0000-0000-000000000000}"/>
          </ac:spMkLst>
        </pc:spChg>
        <pc:spChg chg="mod">
          <ac:chgData name="Jacki Donaldson" userId="FC0MqnbKa5jx563DznKE/V1XlszY5qOR7qtuC9lGPVw=" providerId="None" clId="Web-{FEA7684A-3505-486A-8A1C-D9F079882A3E}" dt="2023-01-22T02:09:40.902" v="36" actId="20577"/>
          <ac:spMkLst>
            <pc:docMk/>
            <pc:sldMk cId="0" sldId="265"/>
            <ac:spMk id="19" creationId="{00000000-0000-0000-0000-000000000000}"/>
          </ac:spMkLst>
        </pc:spChg>
        <pc:spChg chg="mod">
          <ac:chgData name="Jacki Donaldson" userId="FC0MqnbKa5jx563DznKE/V1XlszY5qOR7qtuC9lGPVw=" providerId="None" clId="Web-{FEA7684A-3505-486A-8A1C-D9F079882A3E}" dt="2023-01-22T02:09:44.434" v="40" actId="20577"/>
          <ac:spMkLst>
            <pc:docMk/>
            <pc:sldMk cId="0" sldId="265"/>
            <ac:spMk id="26" creationId="{00000000-0000-0000-0000-000000000000}"/>
          </ac:spMkLst>
        </pc:spChg>
      </pc:sldChg>
      <pc:sldChg chg="modSp">
        <pc:chgData name="Jacki Donaldson" userId="FC0MqnbKa5jx563DznKE/V1XlszY5qOR7qtuC9lGPVw=" providerId="None" clId="Web-{FEA7684A-3505-486A-8A1C-D9F079882A3E}" dt="2023-01-22T02:27:01.008" v="125" actId="20577"/>
        <pc:sldMkLst>
          <pc:docMk/>
          <pc:sldMk cId="0" sldId="270"/>
        </pc:sldMkLst>
        <pc:spChg chg="mod">
          <ac:chgData name="Jacki Donaldson" userId="FC0MqnbKa5jx563DznKE/V1XlszY5qOR7qtuC9lGPVw=" providerId="None" clId="Web-{FEA7684A-3505-486A-8A1C-D9F079882A3E}" dt="2023-01-22T02:27:01.008" v="125" actId="20577"/>
          <ac:spMkLst>
            <pc:docMk/>
            <pc:sldMk cId="0" sldId="270"/>
            <ac:spMk id="11" creationId="{00000000-0000-0000-0000-000000000000}"/>
          </ac:spMkLst>
        </pc:spChg>
        <pc:grpChg chg="mod">
          <ac:chgData name="Jacki Donaldson" userId="FC0MqnbKa5jx563DznKE/V1XlszY5qOR7qtuC9lGPVw=" providerId="None" clId="Web-{FEA7684A-3505-486A-8A1C-D9F079882A3E}" dt="2023-01-22T02:12:46.651" v="73" actId="1076"/>
          <ac:grpSpMkLst>
            <pc:docMk/>
            <pc:sldMk cId="0" sldId="270"/>
            <ac:grpSpMk id="10" creationId="{00000000-0000-0000-0000-000000000000}"/>
          </ac:grpSpMkLst>
        </pc:gr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CBC4B7-39DB-46F9-B1A2-7571EBF97572}" type="datetimeFigureOut">
              <a:rPr lang="en-US" smtClean="0"/>
              <a:t>3/6/26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88BD5D-AAF6-46DE-B4C3-FCF544A90065}" type="slidenum">
              <a:rPr lang="en-US" smtClean="0"/>
              <a:t>‹#›</a:t>
            </a:fld>
            <a:endParaRPr lang="en-US" dirty="0"/>
          </a:p>
        </p:txBody>
      </p:sp>
    </p:spTree>
    <p:extLst>
      <p:ext uri="{BB962C8B-B14F-4D97-AF65-F5344CB8AC3E}">
        <p14:creationId xmlns:p14="http://schemas.microsoft.com/office/powerpoint/2010/main" val="21246271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388BD5D-AAF6-46DE-B4C3-FCF544A90065}" type="slidenum">
              <a:rPr lang="en-US" smtClean="0"/>
              <a:t>1</a:t>
            </a:fld>
            <a:endParaRPr lang="en-US" dirty="0"/>
          </a:p>
        </p:txBody>
      </p:sp>
    </p:spTree>
    <p:extLst>
      <p:ext uri="{BB962C8B-B14F-4D97-AF65-F5344CB8AC3E}">
        <p14:creationId xmlns:p14="http://schemas.microsoft.com/office/powerpoint/2010/main" val="32180458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388BD5D-AAF6-46DE-B4C3-FCF544A90065}" type="slidenum">
              <a:rPr lang="en-US" smtClean="0"/>
              <a:t>10</a:t>
            </a:fld>
            <a:endParaRPr lang="en-US" dirty="0"/>
          </a:p>
        </p:txBody>
      </p:sp>
    </p:spTree>
    <p:extLst>
      <p:ext uri="{BB962C8B-B14F-4D97-AF65-F5344CB8AC3E}">
        <p14:creationId xmlns:p14="http://schemas.microsoft.com/office/powerpoint/2010/main" val="36358139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388BD5D-AAF6-46DE-B4C3-FCF544A90065}" type="slidenum">
              <a:rPr lang="en-US" smtClean="0"/>
              <a:t>11</a:t>
            </a:fld>
            <a:endParaRPr lang="en-US" dirty="0"/>
          </a:p>
        </p:txBody>
      </p:sp>
    </p:spTree>
    <p:extLst>
      <p:ext uri="{BB962C8B-B14F-4D97-AF65-F5344CB8AC3E}">
        <p14:creationId xmlns:p14="http://schemas.microsoft.com/office/powerpoint/2010/main" val="23964858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388BD5D-AAF6-46DE-B4C3-FCF544A90065}" type="slidenum">
              <a:rPr lang="en-US" smtClean="0"/>
              <a:t>12</a:t>
            </a:fld>
            <a:endParaRPr lang="en-US" dirty="0"/>
          </a:p>
        </p:txBody>
      </p:sp>
    </p:spTree>
    <p:extLst>
      <p:ext uri="{BB962C8B-B14F-4D97-AF65-F5344CB8AC3E}">
        <p14:creationId xmlns:p14="http://schemas.microsoft.com/office/powerpoint/2010/main" val="37352031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3/6/26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3/6/26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3/6/26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3/6/26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3/6/26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3/6/26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3/6/26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jpeg"/><Relationship Id="rId5" Type="http://schemas.openxmlformats.org/officeDocument/2006/relationships/image" Target="../media/image6.sv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12.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6.sv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14.sv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2.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16.sv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7.jpeg"/><Relationship Id="rId2" Type="http://schemas.openxmlformats.org/officeDocument/2006/relationships/slideLayout" Target="../slideLayouts/slideLayout7.xml"/><Relationship Id="rId1" Type="http://schemas.openxmlformats.org/officeDocument/2006/relationships/video" Target="https://www.youtube.com/watch?v=vqD_GpYJ2rY" TargetMode="Externa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0.svg"/></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4.svg"/><Relationship Id="rId7" Type="http://schemas.openxmlformats.org/officeDocument/2006/relationships/image" Target="../media/image19.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6.svg"/><Relationship Id="rId4" Type="http://schemas.openxmlformats.org/officeDocument/2006/relationships/image" Target="../media/image5.png"/><Relationship Id="rId9" Type="http://schemas.openxmlformats.org/officeDocument/2006/relationships/image" Target="../media/image21.svg"/></Relationships>
</file>

<file path=ppt/slides/_rels/slide10.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3.png"/><Relationship Id="rId7"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3.png"/><Relationship Id="rId7"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6.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27.sv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11C5D"/>
        </a:solidFill>
        <a:effectLst/>
      </p:bgPr>
    </p:bg>
    <p:spTree>
      <p:nvGrpSpPr>
        <p:cNvPr id="1" name=""/>
        <p:cNvGrpSpPr/>
        <p:nvPr/>
      </p:nvGrpSpPr>
      <p:grpSpPr>
        <a:xfrm>
          <a:off x="0" y="0"/>
          <a:ext cx="0" cy="0"/>
          <a:chOff x="0" y="0"/>
          <a:chExt cx="0" cy="0"/>
        </a:xfrm>
      </p:grpSpPr>
      <p:grpSp>
        <p:nvGrpSpPr>
          <p:cNvPr id="2" name="Group 2">
            <a:extLst>
              <a:ext uri="{C183D7F6-B498-43B3-948B-1728B52AA6E4}">
                <adec:decorative xmlns:adec="http://schemas.microsoft.com/office/drawing/2017/decorative" val="1"/>
              </a:ext>
            </a:extLst>
          </p:cNvPr>
          <p:cNvGrpSpPr/>
          <p:nvPr/>
        </p:nvGrpSpPr>
        <p:grpSpPr>
          <a:xfrm>
            <a:off x="-1" y="-86668"/>
            <a:ext cx="14601419" cy="10364116"/>
            <a:chOff x="0" y="0"/>
            <a:chExt cx="7457157" cy="5342981"/>
          </a:xfrm>
        </p:grpSpPr>
        <p:sp>
          <p:nvSpPr>
            <p:cNvPr id="3" name="Freeform 3"/>
            <p:cNvSpPr/>
            <p:nvPr/>
          </p:nvSpPr>
          <p:spPr>
            <a:xfrm>
              <a:off x="0" y="0"/>
              <a:ext cx="7457157" cy="5342981"/>
            </a:xfrm>
            <a:custGeom>
              <a:avLst/>
              <a:gdLst/>
              <a:ahLst/>
              <a:cxnLst/>
              <a:rect l="l" t="t" r="r" b="b"/>
              <a:pathLst>
                <a:path w="7457157" h="5342981">
                  <a:moveTo>
                    <a:pt x="0" y="0"/>
                  </a:moveTo>
                  <a:lnTo>
                    <a:pt x="7457157" y="0"/>
                  </a:lnTo>
                  <a:lnTo>
                    <a:pt x="7457157" y="5342981"/>
                  </a:lnTo>
                  <a:lnTo>
                    <a:pt x="0" y="5342981"/>
                  </a:lnTo>
                  <a:close/>
                </a:path>
              </a:pathLst>
            </a:custGeom>
            <a:solidFill>
              <a:srgbClr val="1546BA"/>
            </a:solidFill>
          </p:spPr>
          <p:txBody>
            <a:bodyPr/>
            <a:lstStyle/>
            <a:p>
              <a:endParaRPr lang="en-US"/>
            </a:p>
          </p:txBody>
        </p:sp>
      </p:grpSp>
      <p:sp>
        <p:nvSpPr>
          <p:cNvPr id="5" name="TextBox 5"/>
          <p:cNvSpPr txBox="1">
            <a:spLocks noGrp="1"/>
          </p:cNvSpPr>
          <p:nvPr>
            <p:ph type="title" idx="4294967295"/>
          </p:nvPr>
        </p:nvSpPr>
        <p:spPr>
          <a:xfrm>
            <a:off x="1285933" y="5900768"/>
            <a:ext cx="10224950" cy="3262282"/>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ts val="8436"/>
              </a:lnSpc>
              <a:spcBef>
                <a:spcPts val="0"/>
              </a:spcBef>
              <a:spcAft>
                <a:spcPts val="0"/>
              </a:spcAft>
              <a:buClrTx/>
              <a:buSzTx/>
              <a:buFontTx/>
              <a:buNone/>
              <a:tabLst/>
              <a:defRPr/>
            </a:pPr>
            <a:r>
              <a:rPr kumimoji="0" lang="en-US" sz="8436" b="0" i="0" u="none" strike="noStrike" kern="1200" cap="none" spc="0" normalizeH="0" baseline="0" noProof="0" dirty="0">
                <a:ln>
                  <a:noFill/>
                </a:ln>
                <a:solidFill>
                  <a:srgbClr val="FFFFFF"/>
                </a:solidFill>
                <a:effectLst/>
                <a:uLnTx/>
                <a:uFillTx/>
                <a:latin typeface="Montserrat Classic Bold"/>
                <a:ea typeface="+mn-ea"/>
                <a:cs typeface="+mn-cs"/>
              </a:rPr>
              <a:t>SYSTEMATICALLY </a:t>
            </a:r>
          </a:p>
          <a:p>
            <a:pPr marL="0" marR="0" lvl="0" indent="0" algn="l" defTabSz="914400" rtl="0" eaLnBrk="1" fontAlgn="auto" latinLnBrk="0" hangingPunct="1">
              <a:lnSpc>
                <a:spcPts val="8436"/>
              </a:lnSpc>
              <a:spcBef>
                <a:spcPts val="0"/>
              </a:spcBef>
              <a:spcAft>
                <a:spcPts val="0"/>
              </a:spcAft>
              <a:buClrTx/>
              <a:buSzTx/>
              <a:buFontTx/>
              <a:buNone/>
              <a:tabLst/>
              <a:defRPr/>
            </a:pPr>
            <a:r>
              <a:rPr kumimoji="0" lang="en-US" sz="8436" b="0" i="0" u="none" strike="noStrike" kern="1200" cap="none" spc="0" normalizeH="0" baseline="0" noProof="0" dirty="0">
                <a:ln>
                  <a:noFill/>
                </a:ln>
                <a:solidFill>
                  <a:srgbClr val="FFFFFF"/>
                </a:solidFill>
                <a:effectLst/>
                <a:uLnTx/>
                <a:uFillTx/>
                <a:latin typeface="Montserrat Classic Bold"/>
                <a:ea typeface="+mn-ea"/>
                <a:cs typeface="+mn-cs"/>
              </a:rPr>
              <a:t>DESIGN INSTRUCTION </a:t>
            </a:r>
          </a:p>
        </p:txBody>
      </p:sp>
      <p:sp>
        <p:nvSpPr>
          <p:cNvPr id="4" name="TextBox 4"/>
          <p:cNvSpPr txBox="1"/>
          <p:nvPr/>
        </p:nvSpPr>
        <p:spPr>
          <a:xfrm>
            <a:off x="1285933" y="912769"/>
            <a:ext cx="4338661" cy="643298"/>
          </a:xfrm>
          <a:prstGeom prst="rect">
            <a:avLst/>
          </a:prstGeom>
        </p:spPr>
        <p:txBody>
          <a:bodyPr lIns="0" tIns="0" rIns="0" bIns="0" rtlCol="0" anchor="t">
            <a:spAutoFit/>
          </a:bodyPr>
          <a:lstStyle/>
          <a:p>
            <a:pPr>
              <a:lnSpc>
                <a:spcPts val="2569"/>
              </a:lnSpc>
            </a:pPr>
            <a:r>
              <a:rPr lang="en-US" sz="2569" dirty="0">
                <a:solidFill>
                  <a:srgbClr val="FFFFFF"/>
                </a:solidFill>
                <a:latin typeface="Montserrat Classic"/>
              </a:rPr>
              <a:t>HLP Lesson Study Interactive Lecture Series </a:t>
            </a:r>
          </a:p>
        </p:txBody>
      </p:sp>
      <p:sp>
        <p:nvSpPr>
          <p:cNvPr id="7" name="AutoShape 7">
            <a:extLst>
              <a:ext uri="{C183D7F6-B498-43B3-948B-1728B52AA6E4}">
                <adec:decorative xmlns:adec="http://schemas.microsoft.com/office/drawing/2017/decorative" val="1"/>
              </a:ext>
            </a:extLst>
          </p:cNvPr>
          <p:cNvSpPr/>
          <p:nvPr/>
        </p:nvSpPr>
        <p:spPr>
          <a:xfrm rot="16200000">
            <a:off x="16251703" y="7115371"/>
            <a:ext cx="9551" cy="2081453"/>
          </a:xfrm>
          <a:prstGeom prst="rect">
            <a:avLst/>
          </a:prstGeom>
          <a:solidFill>
            <a:srgbClr val="FFFFFF"/>
          </a:solidFill>
        </p:spPr>
        <p:txBody>
          <a:bodyPr/>
          <a:lstStyle/>
          <a:p>
            <a:endParaRPr lang="en-US"/>
          </a:p>
        </p:txBody>
      </p:sp>
      <p:sp>
        <p:nvSpPr>
          <p:cNvPr id="11" name="TextBox 11"/>
          <p:cNvSpPr txBox="1"/>
          <p:nvPr/>
        </p:nvSpPr>
        <p:spPr>
          <a:xfrm>
            <a:off x="15215752" y="5685443"/>
            <a:ext cx="1148003" cy="233068"/>
          </a:xfrm>
          <a:prstGeom prst="rect">
            <a:avLst/>
          </a:prstGeom>
        </p:spPr>
        <p:txBody>
          <a:bodyPr lIns="0" tIns="0" rIns="0" bIns="0" rtlCol="0" anchor="t">
            <a:spAutoFit/>
          </a:bodyPr>
          <a:lstStyle/>
          <a:p>
            <a:pPr>
              <a:lnSpc>
                <a:spcPts val="1700"/>
              </a:lnSpc>
            </a:pPr>
            <a:r>
              <a:rPr lang="en-US" sz="1700" dirty="0">
                <a:solidFill>
                  <a:srgbClr val="FFFFFF"/>
                </a:solidFill>
                <a:latin typeface="Montserrat Classic Bold"/>
              </a:rPr>
              <a:t>School</a:t>
            </a:r>
          </a:p>
        </p:txBody>
      </p:sp>
      <p:sp>
        <p:nvSpPr>
          <p:cNvPr id="8" name="TextBox 8"/>
          <p:cNvSpPr txBox="1"/>
          <p:nvPr/>
        </p:nvSpPr>
        <p:spPr>
          <a:xfrm>
            <a:off x="15215752" y="6012059"/>
            <a:ext cx="2519603" cy="233068"/>
          </a:xfrm>
          <a:prstGeom prst="rect">
            <a:avLst/>
          </a:prstGeom>
        </p:spPr>
        <p:txBody>
          <a:bodyPr lIns="0" tIns="0" rIns="0" bIns="0" rtlCol="0" anchor="t">
            <a:spAutoFit/>
          </a:bodyPr>
          <a:lstStyle/>
          <a:p>
            <a:pPr>
              <a:lnSpc>
                <a:spcPts val="1700"/>
              </a:lnSpc>
            </a:pPr>
            <a:r>
              <a:rPr lang="en-US" sz="1700" dirty="0">
                <a:solidFill>
                  <a:srgbClr val="FFFFFF"/>
                </a:solidFill>
                <a:latin typeface="Libre Franklin Light"/>
              </a:rPr>
              <a:t>Whitworth University </a:t>
            </a:r>
          </a:p>
        </p:txBody>
      </p:sp>
      <p:sp>
        <p:nvSpPr>
          <p:cNvPr id="12" name="TextBox 12"/>
          <p:cNvSpPr txBox="1"/>
          <p:nvPr/>
        </p:nvSpPr>
        <p:spPr>
          <a:xfrm>
            <a:off x="15215752" y="6866543"/>
            <a:ext cx="1338503" cy="233068"/>
          </a:xfrm>
          <a:prstGeom prst="rect">
            <a:avLst/>
          </a:prstGeom>
        </p:spPr>
        <p:txBody>
          <a:bodyPr lIns="0" tIns="0" rIns="0" bIns="0" rtlCol="0" anchor="t">
            <a:spAutoFit/>
          </a:bodyPr>
          <a:lstStyle/>
          <a:p>
            <a:pPr>
              <a:lnSpc>
                <a:spcPts val="1700"/>
              </a:lnSpc>
            </a:pPr>
            <a:r>
              <a:rPr lang="en-US" sz="1700" dirty="0">
                <a:solidFill>
                  <a:srgbClr val="FFFFFF"/>
                </a:solidFill>
                <a:latin typeface="Montserrat Classic Bold"/>
              </a:rPr>
              <a:t>Professor</a:t>
            </a:r>
          </a:p>
        </p:txBody>
      </p:sp>
      <p:sp>
        <p:nvSpPr>
          <p:cNvPr id="9" name="TextBox 9"/>
          <p:cNvSpPr txBox="1"/>
          <p:nvPr/>
        </p:nvSpPr>
        <p:spPr>
          <a:xfrm>
            <a:off x="15215752" y="7193159"/>
            <a:ext cx="2081453" cy="233068"/>
          </a:xfrm>
          <a:prstGeom prst="rect">
            <a:avLst/>
          </a:prstGeom>
        </p:spPr>
        <p:txBody>
          <a:bodyPr lIns="0" tIns="0" rIns="0" bIns="0" rtlCol="0" anchor="t">
            <a:spAutoFit/>
          </a:bodyPr>
          <a:lstStyle/>
          <a:p>
            <a:pPr>
              <a:lnSpc>
                <a:spcPts val="1700"/>
              </a:lnSpc>
            </a:pPr>
            <a:r>
              <a:rPr lang="en-US" sz="1700" dirty="0">
                <a:solidFill>
                  <a:srgbClr val="FFFFFF"/>
                </a:solidFill>
                <a:latin typeface="Libre Franklin Light"/>
              </a:rPr>
              <a:t>Kristen Arnold, Ed.D.</a:t>
            </a:r>
          </a:p>
        </p:txBody>
      </p:sp>
      <p:sp>
        <p:nvSpPr>
          <p:cNvPr id="10" name="TextBox 10">
            <a:extLst>
              <a:ext uri="{C183D7F6-B498-43B3-948B-1728B52AA6E4}">
                <adec:decorative xmlns:adec="http://schemas.microsoft.com/office/drawing/2017/decorative" val="1"/>
              </a:ext>
            </a:extLst>
          </p:cNvPr>
          <p:cNvSpPr txBox="1"/>
          <p:nvPr/>
        </p:nvSpPr>
        <p:spPr>
          <a:xfrm>
            <a:off x="15177848" y="8848605"/>
            <a:ext cx="2081453" cy="260010"/>
          </a:xfrm>
          <a:prstGeom prst="rect">
            <a:avLst/>
          </a:prstGeom>
        </p:spPr>
        <p:txBody>
          <a:bodyPr lIns="0" tIns="0" rIns="0" bIns="0" rtlCol="0" anchor="t">
            <a:spAutoFit/>
          </a:bodyPr>
          <a:lstStyle/>
          <a:p>
            <a:pPr>
              <a:lnSpc>
                <a:spcPts val="2380"/>
              </a:lnSpc>
            </a:pPr>
            <a:endParaRPr dirty="0"/>
          </a:p>
        </p:txBody>
      </p:sp>
      <p:pic>
        <p:nvPicPr>
          <p:cNvPr id="13" name="Picture 13">
            <a:extLs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rot="-5400000">
            <a:off x="756246" y="1024868"/>
            <a:ext cx="544908" cy="381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C183D7F6-B498-43B3-948B-1728B52AA6E4}">
                <adec:decorative xmlns:adec="http://schemas.microsoft.com/office/drawing/2017/decorative" val="1"/>
              </a:ext>
            </a:extLst>
          </p:cNvPr>
          <p:cNvGrpSpPr/>
          <p:nvPr/>
        </p:nvGrpSpPr>
        <p:grpSpPr>
          <a:xfrm>
            <a:off x="17555768" y="1110614"/>
            <a:ext cx="381000" cy="381000"/>
            <a:chOff x="0" y="0"/>
            <a:chExt cx="508000" cy="508000"/>
          </a:xfrm>
        </p:grpSpPr>
        <p:grpSp>
          <p:nvGrpSpPr>
            <p:cNvPr id="3" name="Group 3"/>
            <p:cNvGrpSpPr>
              <a:grpSpLocks noChangeAspect="1"/>
            </p:cNvGrpSpPr>
            <p:nvPr/>
          </p:nvGrpSpPr>
          <p:grpSpPr>
            <a:xfrm>
              <a:off x="0" y="0"/>
              <a:ext cx="508000" cy="508000"/>
              <a:chOff x="0" y="0"/>
              <a:chExt cx="6355080" cy="6355080"/>
            </a:xfrm>
          </p:grpSpPr>
          <p:sp>
            <p:nvSpPr>
              <p:cNvPr id="4" name="Freeform 4"/>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1546BA"/>
              </a:solidFill>
            </p:spPr>
            <p:txBody>
              <a:bodyPr/>
              <a:lstStyle/>
              <a:p>
                <a:endParaRPr lang="en-US"/>
              </a:p>
            </p:txBody>
          </p:sp>
        </p:gr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5400000">
              <a:off x="84667" y="84667"/>
              <a:ext cx="338667" cy="338667"/>
            </a:xfrm>
            <a:prstGeom prst="rect">
              <a:avLst/>
            </a:prstGeom>
          </p:spPr>
        </p:pic>
      </p:grpSp>
      <p:grpSp>
        <p:nvGrpSpPr>
          <p:cNvPr id="6" name="Group 6">
            <a:extLst>
              <a:ext uri="{C183D7F6-B498-43B3-948B-1728B52AA6E4}">
                <adec:decorative xmlns:adec="http://schemas.microsoft.com/office/drawing/2017/decorative" val="1"/>
              </a:ext>
            </a:extLst>
          </p:cNvPr>
          <p:cNvGrpSpPr/>
          <p:nvPr/>
        </p:nvGrpSpPr>
        <p:grpSpPr>
          <a:xfrm rot="-10800000">
            <a:off x="17555768" y="565786"/>
            <a:ext cx="381000" cy="381000"/>
            <a:chOff x="0" y="0"/>
            <a:chExt cx="508000" cy="508000"/>
          </a:xfrm>
        </p:grpSpPr>
        <p:grpSp>
          <p:nvGrpSpPr>
            <p:cNvPr id="7" name="Group 7"/>
            <p:cNvGrpSpPr>
              <a:grpSpLocks noChangeAspect="1"/>
            </p:cNvGrpSpPr>
            <p:nvPr/>
          </p:nvGrpSpPr>
          <p:grpSpPr>
            <a:xfrm>
              <a:off x="0" y="0"/>
              <a:ext cx="508000" cy="508000"/>
              <a:chOff x="0" y="0"/>
              <a:chExt cx="6355080" cy="6355080"/>
            </a:xfrm>
          </p:grpSpPr>
          <p:sp>
            <p:nvSpPr>
              <p:cNvPr id="8" name="Freeform 8"/>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1546BA"/>
              </a:solidFill>
            </p:spPr>
            <p:txBody>
              <a:bodyPr/>
              <a:lstStyle/>
              <a:p>
                <a:endParaRPr lang="en-US"/>
              </a:p>
            </p:txBody>
          </p:sp>
        </p:grpSp>
        <p:pic>
          <p:nvPicPr>
            <p:cNvPr id="9" name="Picture 9"/>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5400000">
              <a:off x="84667" y="84667"/>
              <a:ext cx="338667" cy="338667"/>
            </a:xfrm>
            <a:prstGeom prst="rect">
              <a:avLst/>
            </a:prstGeom>
          </p:spPr>
        </p:pic>
      </p:grpSp>
      <p:pic>
        <p:nvPicPr>
          <p:cNvPr id="10" name="Picture 10">
            <a:extLs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rot="-5400000">
            <a:off x="565746" y="2785442"/>
            <a:ext cx="544908" cy="381000"/>
          </a:xfrm>
          <a:prstGeom prst="rect">
            <a:avLst/>
          </a:prstGeom>
        </p:spPr>
      </p:pic>
      <p:pic>
        <p:nvPicPr>
          <p:cNvPr id="11" name="Picture 11">
            <a:extLst>
              <a:ext uri="{C183D7F6-B498-43B3-948B-1728B52AA6E4}">
                <adec:decorative xmlns:adec="http://schemas.microsoft.com/office/drawing/2017/decorative" val="1"/>
              </a:ext>
            </a:extLst>
          </p:cNvPr>
          <p:cNvPicPr>
            <a:picLocks noChangeAspect="1"/>
          </p:cNvPicPr>
          <p:nvPr/>
        </p:nvPicPr>
        <p:blipFill>
          <a:blip r:embed="rId6">
            <a:alphaModFix amt="62000"/>
          </a:blip>
          <a:srcRect l="29268" r="7175"/>
          <a:stretch>
            <a:fillRect/>
          </a:stretch>
        </p:blipFill>
        <p:spPr>
          <a:xfrm>
            <a:off x="1423664" y="440598"/>
            <a:ext cx="7822504" cy="9846402"/>
          </a:xfrm>
          <a:prstGeom prst="rect">
            <a:avLst/>
          </a:prstGeom>
        </p:spPr>
      </p:pic>
      <p:grpSp>
        <p:nvGrpSpPr>
          <p:cNvPr id="12" name="Group 12">
            <a:extLst>
              <a:ext uri="{C183D7F6-B498-43B3-948B-1728B52AA6E4}">
                <adec:decorative xmlns:adec="http://schemas.microsoft.com/office/drawing/2017/decorative" val="1"/>
              </a:ext>
            </a:extLst>
          </p:cNvPr>
          <p:cNvGrpSpPr/>
          <p:nvPr/>
        </p:nvGrpSpPr>
        <p:grpSpPr>
          <a:xfrm>
            <a:off x="1423664" y="8309659"/>
            <a:ext cx="15109907" cy="948641"/>
            <a:chOff x="0" y="0"/>
            <a:chExt cx="20146543" cy="1264855"/>
          </a:xfrm>
        </p:grpSpPr>
        <p:grpSp>
          <p:nvGrpSpPr>
            <p:cNvPr id="13" name="Group 13"/>
            <p:cNvGrpSpPr/>
            <p:nvPr/>
          </p:nvGrpSpPr>
          <p:grpSpPr>
            <a:xfrm>
              <a:off x="0" y="0"/>
              <a:ext cx="20146543" cy="1264855"/>
              <a:chOff x="0" y="0"/>
              <a:chExt cx="26968687" cy="1693167"/>
            </a:xfrm>
          </p:grpSpPr>
          <p:sp>
            <p:nvSpPr>
              <p:cNvPr id="14" name="Freeform 14"/>
              <p:cNvSpPr/>
              <p:nvPr/>
            </p:nvSpPr>
            <p:spPr>
              <a:xfrm>
                <a:off x="0" y="0"/>
                <a:ext cx="26968689" cy="1693167"/>
              </a:xfrm>
              <a:custGeom>
                <a:avLst/>
                <a:gdLst/>
                <a:ahLst/>
                <a:cxnLst/>
                <a:rect l="l" t="t" r="r" b="b"/>
                <a:pathLst>
                  <a:path w="26968689" h="1693167">
                    <a:moveTo>
                      <a:pt x="0" y="0"/>
                    </a:moveTo>
                    <a:lnTo>
                      <a:pt x="26968689" y="0"/>
                    </a:lnTo>
                    <a:lnTo>
                      <a:pt x="26968689" y="1693167"/>
                    </a:lnTo>
                    <a:lnTo>
                      <a:pt x="0" y="1693167"/>
                    </a:lnTo>
                    <a:close/>
                  </a:path>
                </a:pathLst>
              </a:custGeom>
              <a:solidFill>
                <a:srgbClr val="1546BA"/>
              </a:solidFill>
            </p:spPr>
            <p:txBody>
              <a:bodyPr/>
              <a:lstStyle/>
              <a:p>
                <a:endParaRPr lang="en-US"/>
              </a:p>
            </p:txBody>
          </p:sp>
        </p:grpSp>
        <p:sp>
          <p:nvSpPr>
            <p:cNvPr id="15" name="TextBox 15"/>
            <p:cNvSpPr txBox="1"/>
            <p:nvPr/>
          </p:nvSpPr>
          <p:spPr>
            <a:xfrm>
              <a:off x="507568" y="277356"/>
              <a:ext cx="19079150" cy="614956"/>
            </a:xfrm>
            <a:prstGeom prst="rect">
              <a:avLst/>
            </a:prstGeom>
          </p:spPr>
          <p:txBody>
            <a:bodyPr lIns="0" tIns="0" rIns="0" bIns="0" rtlCol="0" anchor="t">
              <a:spAutoFit/>
            </a:bodyPr>
            <a:lstStyle/>
            <a:p>
              <a:pPr marL="0" lvl="0" indent="0">
                <a:lnSpc>
                  <a:spcPts val="3999"/>
                </a:lnSpc>
                <a:spcBef>
                  <a:spcPct val="0"/>
                </a:spcBef>
              </a:pPr>
              <a:r>
                <a:rPr lang="en-US" sz="2450" spc="49" dirty="0">
                  <a:solidFill>
                    <a:srgbClr val="FFFFFF"/>
                  </a:solidFill>
                  <a:latin typeface="Libre Franklin Light"/>
                </a:rPr>
                <a:t>To participate today, you will need this textbook and your Reading Response Journal.</a:t>
              </a:r>
            </a:p>
          </p:txBody>
        </p:sp>
      </p:grpSp>
      <p:sp>
        <p:nvSpPr>
          <p:cNvPr id="17" name="TextBox 17"/>
          <p:cNvSpPr txBox="1">
            <a:spLocks noGrp="1"/>
          </p:cNvSpPr>
          <p:nvPr>
            <p:ph type="title" idx="4294967295"/>
          </p:nvPr>
        </p:nvSpPr>
        <p:spPr>
          <a:xfrm>
            <a:off x="9901524" y="1032511"/>
            <a:ext cx="6274313" cy="2338380"/>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ts val="5999"/>
              </a:lnSpc>
              <a:spcBef>
                <a:spcPts val="0"/>
              </a:spcBef>
              <a:spcAft>
                <a:spcPts val="0"/>
              </a:spcAft>
              <a:buClrTx/>
              <a:buSzTx/>
              <a:buFontTx/>
              <a:buNone/>
              <a:tabLst/>
              <a:defRPr/>
            </a:pPr>
            <a:r>
              <a:rPr kumimoji="0" lang="en-US" sz="5999" b="0" i="0" u="none" strike="noStrike" kern="1200" cap="none" spc="95" normalizeH="0" baseline="0" noProof="0" dirty="0">
                <a:ln>
                  <a:noFill/>
                </a:ln>
                <a:solidFill>
                  <a:srgbClr val="011C5D"/>
                </a:solidFill>
                <a:effectLst/>
                <a:uLnTx/>
                <a:uFillTx/>
                <a:latin typeface="Montserrat Classic Bold"/>
                <a:ea typeface="+mn-ea"/>
                <a:cs typeface="+mn-cs"/>
              </a:rPr>
              <a:t>Welcome</a:t>
            </a:r>
          </a:p>
          <a:p>
            <a:pPr marL="0" marR="0" lvl="0" indent="0" algn="l" defTabSz="914400" rtl="0" eaLnBrk="1" fontAlgn="auto" latinLnBrk="0" hangingPunct="1">
              <a:lnSpc>
                <a:spcPts val="6000"/>
              </a:lnSpc>
              <a:spcBef>
                <a:spcPts val="0"/>
              </a:spcBef>
              <a:spcAft>
                <a:spcPts val="0"/>
              </a:spcAft>
              <a:buClrTx/>
              <a:buSzTx/>
              <a:buFontTx/>
              <a:buNone/>
              <a:tabLst/>
              <a:defRPr/>
            </a:pPr>
            <a:r>
              <a:rPr kumimoji="0" lang="en-US" sz="6000" b="0" i="0" u="none" strike="noStrike" kern="1200" cap="none" spc="96" normalizeH="0" baseline="0" noProof="0" dirty="0">
                <a:ln>
                  <a:noFill/>
                </a:ln>
                <a:solidFill>
                  <a:srgbClr val="1546BA"/>
                </a:solidFill>
                <a:effectLst/>
                <a:uLnTx/>
                <a:uFillTx/>
                <a:latin typeface="Montserrat Classic Bold"/>
                <a:ea typeface="+mn-ea"/>
                <a:cs typeface="+mn-cs"/>
              </a:rPr>
              <a:t>to today's class!</a:t>
            </a:r>
          </a:p>
        </p:txBody>
      </p:sp>
      <p:sp>
        <p:nvSpPr>
          <p:cNvPr id="20" name="TextBox 20"/>
          <p:cNvSpPr txBox="1"/>
          <p:nvPr/>
        </p:nvSpPr>
        <p:spPr>
          <a:xfrm>
            <a:off x="9901524" y="3664332"/>
            <a:ext cx="6274313" cy="585882"/>
          </a:xfrm>
          <a:prstGeom prst="rect">
            <a:avLst/>
          </a:prstGeom>
        </p:spPr>
        <p:txBody>
          <a:bodyPr lIns="0" tIns="0" rIns="0" bIns="0" rtlCol="0" anchor="t">
            <a:spAutoFit/>
          </a:bodyPr>
          <a:lstStyle/>
          <a:p>
            <a:pPr>
              <a:lnSpc>
                <a:spcPts val="3500"/>
              </a:lnSpc>
            </a:pPr>
            <a:r>
              <a:rPr lang="en-US" sz="3500" dirty="0">
                <a:solidFill>
                  <a:srgbClr val="1546BA"/>
                </a:solidFill>
                <a:latin typeface="Libre Franklin Light"/>
              </a:rPr>
              <a:t>Today's Agenda</a:t>
            </a:r>
          </a:p>
        </p:txBody>
      </p:sp>
      <p:sp>
        <p:nvSpPr>
          <p:cNvPr id="18" name="TextBox 18"/>
          <p:cNvSpPr txBox="1"/>
          <p:nvPr/>
        </p:nvSpPr>
        <p:spPr>
          <a:xfrm>
            <a:off x="9901524" y="3952659"/>
            <a:ext cx="327629" cy="4102869"/>
          </a:xfrm>
          <a:prstGeom prst="rect">
            <a:avLst/>
          </a:prstGeom>
        </p:spPr>
        <p:txBody>
          <a:bodyPr lIns="0" tIns="0" rIns="0" bIns="0" rtlCol="0" anchor="t">
            <a:spAutoFit/>
          </a:bodyPr>
          <a:lstStyle/>
          <a:p>
            <a:pPr algn="r">
              <a:lnSpc>
                <a:spcPts val="4249"/>
              </a:lnSpc>
            </a:pPr>
            <a:endParaRPr dirty="0"/>
          </a:p>
          <a:p>
            <a:pPr algn="r">
              <a:lnSpc>
                <a:spcPts val="4250"/>
              </a:lnSpc>
            </a:pPr>
            <a:r>
              <a:rPr lang="en-US" sz="1700" dirty="0">
                <a:solidFill>
                  <a:srgbClr val="1546BA"/>
                </a:solidFill>
                <a:latin typeface="Libre Franklin Bold"/>
              </a:rPr>
              <a:t>01</a:t>
            </a:r>
          </a:p>
          <a:p>
            <a:pPr algn="r">
              <a:lnSpc>
                <a:spcPts val="4250"/>
              </a:lnSpc>
            </a:pPr>
            <a:r>
              <a:rPr lang="en-US" sz="1700" dirty="0">
                <a:solidFill>
                  <a:srgbClr val="1546BA"/>
                </a:solidFill>
                <a:latin typeface="Libre Franklin Bold"/>
              </a:rPr>
              <a:t>02</a:t>
            </a:r>
          </a:p>
          <a:p>
            <a:pPr algn="r">
              <a:lnSpc>
                <a:spcPts val="4250"/>
              </a:lnSpc>
            </a:pPr>
            <a:r>
              <a:rPr lang="en-US" sz="1700" dirty="0">
                <a:solidFill>
                  <a:srgbClr val="1546BA"/>
                </a:solidFill>
                <a:latin typeface="Libre Franklin Bold"/>
              </a:rPr>
              <a:t>03</a:t>
            </a:r>
          </a:p>
          <a:p>
            <a:pPr algn="r">
              <a:lnSpc>
                <a:spcPts val="4250"/>
              </a:lnSpc>
            </a:pPr>
            <a:r>
              <a:rPr lang="en-US" sz="1700" dirty="0">
                <a:solidFill>
                  <a:srgbClr val="1546BA"/>
                </a:solidFill>
                <a:latin typeface="Libre Franklin Bold"/>
              </a:rPr>
              <a:t>04</a:t>
            </a:r>
          </a:p>
          <a:p>
            <a:pPr algn="r">
              <a:lnSpc>
                <a:spcPts val="4249"/>
              </a:lnSpc>
            </a:pPr>
            <a:r>
              <a:rPr lang="en-US" sz="1699" dirty="0">
                <a:solidFill>
                  <a:srgbClr val="1546BA"/>
                </a:solidFill>
                <a:latin typeface="Libre Franklin Bold"/>
              </a:rPr>
              <a:t>05</a:t>
            </a:r>
          </a:p>
          <a:p>
            <a:pPr algn="r">
              <a:lnSpc>
                <a:spcPts val="4250"/>
              </a:lnSpc>
            </a:pPr>
            <a:endParaRPr lang="en-US" sz="1699" dirty="0">
              <a:solidFill>
                <a:srgbClr val="1546BA"/>
              </a:solidFill>
              <a:latin typeface="Libre Franklin Bold"/>
            </a:endParaRPr>
          </a:p>
          <a:p>
            <a:pPr algn="r">
              <a:lnSpc>
                <a:spcPts val="4250"/>
              </a:lnSpc>
            </a:pPr>
            <a:endParaRPr lang="en-US" sz="1699" dirty="0">
              <a:solidFill>
                <a:srgbClr val="1546BA"/>
              </a:solidFill>
              <a:latin typeface="Libre Franklin Bold"/>
            </a:endParaRPr>
          </a:p>
        </p:txBody>
      </p:sp>
      <p:sp>
        <p:nvSpPr>
          <p:cNvPr id="19" name="TextBox 19"/>
          <p:cNvSpPr txBox="1"/>
          <p:nvPr/>
        </p:nvSpPr>
        <p:spPr>
          <a:xfrm>
            <a:off x="10535159" y="3952659"/>
            <a:ext cx="5640678" cy="4102869"/>
          </a:xfrm>
          <a:prstGeom prst="rect">
            <a:avLst/>
          </a:prstGeom>
        </p:spPr>
        <p:txBody>
          <a:bodyPr lIns="0" tIns="0" rIns="0" bIns="0" rtlCol="0" anchor="t">
            <a:spAutoFit/>
          </a:bodyPr>
          <a:lstStyle/>
          <a:p>
            <a:pPr>
              <a:lnSpc>
                <a:spcPts val="4249"/>
              </a:lnSpc>
            </a:pPr>
            <a:endParaRPr dirty="0"/>
          </a:p>
          <a:p>
            <a:pPr>
              <a:lnSpc>
                <a:spcPts val="4250"/>
              </a:lnSpc>
            </a:pPr>
            <a:r>
              <a:rPr lang="en-US" sz="1700" dirty="0">
                <a:solidFill>
                  <a:srgbClr val="1546BA"/>
                </a:solidFill>
                <a:latin typeface="Libre Franklin Light"/>
              </a:rPr>
              <a:t>Research Synthesis Summary &amp; Review Activity </a:t>
            </a:r>
          </a:p>
          <a:p>
            <a:pPr>
              <a:lnSpc>
                <a:spcPts val="4249"/>
              </a:lnSpc>
            </a:pPr>
            <a:r>
              <a:rPr lang="en-US" sz="1699" dirty="0">
                <a:solidFill>
                  <a:srgbClr val="1546BA"/>
                </a:solidFill>
                <a:latin typeface="Libre Franklin Light"/>
              </a:rPr>
              <a:t>HLP12 Video Review </a:t>
            </a:r>
          </a:p>
          <a:p>
            <a:pPr>
              <a:lnSpc>
                <a:spcPts val="4250"/>
              </a:lnSpc>
            </a:pPr>
            <a:r>
              <a:rPr lang="en-US" sz="1700" dirty="0">
                <a:solidFill>
                  <a:srgbClr val="1546BA"/>
                </a:solidFill>
                <a:latin typeface="Libre Franklin Light"/>
              </a:rPr>
              <a:t>ACCOMPLISH Framework </a:t>
            </a:r>
          </a:p>
          <a:p>
            <a:pPr>
              <a:lnSpc>
                <a:spcPts val="4249"/>
              </a:lnSpc>
            </a:pPr>
            <a:r>
              <a:rPr lang="en-US" sz="1699" dirty="0">
                <a:solidFill>
                  <a:srgbClr val="1546BA"/>
                </a:solidFill>
                <a:latin typeface="Libre Franklin Light"/>
              </a:rPr>
              <a:t>Systematic Design Principles </a:t>
            </a:r>
          </a:p>
          <a:p>
            <a:pPr>
              <a:lnSpc>
                <a:spcPts val="4250"/>
              </a:lnSpc>
            </a:pPr>
            <a:r>
              <a:rPr lang="en-US" sz="1700" dirty="0">
                <a:solidFill>
                  <a:srgbClr val="1546BA"/>
                </a:solidFill>
                <a:latin typeface="Libre Franklin Light"/>
              </a:rPr>
              <a:t>Classroom Connection: Learning Target Analysis </a:t>
            </a:r>
          </a:p>
          <a:p>
            <a:pPr>
              <a:lnSpc>
                <a:spcPts val="4250"/>
              </a:lnSpc>
            </a:pPr>
            <a:r>
              <a:rPr lang="en-US" sz="1700" dirty="0">
                <a:solidFill>
                  <a:srgbClr val="1546BA"/>
                </a:solidFill>
                <a:latin typeface="Libre Franklin Light"/>
              </a:rPr>
              <a:t> </a:t>
            </a:r>
          </a:p>
          <a:p>
            <a:pPr>
              <a:lnSpc>
                <a:spcPts val="4250"/>
              </a:lnSpc>
            </a:pPr>
            <a:endParaRPr lang="en-US" sz="1700" dirty="0">
              <a:solidFill>
                <a:srgbClr val="1546BA"/>
              </a:solidFill>
              <a:latin typeface="Libre Franklin Light"/>
            </a:endParaRPr>
          </a:p>
        </p:txBody>
      </p:sp>
      <p:sp>
        <p:nvSpPr>
          <p:cNvPr id="21" name="TextBox 21">
            <a:extLst>
              <a:ext uri="{C183D7F6-B498-43B3-948B-1728B52AA6E4}">
                <adec:decorative xmlns:adec="http://schemas.microsoft.com/office/drawing/2017/decorative" val="1"/>
              </a:ext>
            </a:extLst>
          </p:cNvPr>
          <p:cNvSpPr txBox="1"/>
          <p:nvPr/>
        </p:nvSpPr>
        <p:spPr>
          <a:xfrm rot="-5400000">
            <a:off x="-78806" y="1446066"/>
            <a:ext cx="1804414" cy="424852"/>
          </a:xfrm>
          <a:prstGeom prst="rect">
            <a:avLst/>
          </a:prstGeom>
        </p:spPr>
        <p:txBody>
          <a:bodyPr lIns="0" tIns="0" rIns="0" bIns="0" rtlCol="0" anchor="t">
            <a:spAutoFit/>
          </a:bodyPr>
          <a:lstStyle/>
          <a:p>
            <a:pPr>
              <a:lnSpc>
                <a:spcPts val="1710"/>
              </a:lnSpc>
            </a:pPr>
            <a:r>
              <a:rPr lang="en-US" sz="1710" dirty="0">
                <a:solidFill>
                  <a:srgbClr val="1546BA"/>
                </a:solidFill>
                <a:latin typeface="Montserrat Classic"/>
              </a:rPr>
              <a:t>HLP Lesson Study Series</a:t>
            </a:r>
          </a:p>
        </p:txBody>
      </p:sp>
      <p:sp>
        <p:nvSpPr>
          <p:cNvPr id="22" name="TextBox 22">
            <a:extLst>
              <a:ext uri="{C183D7F6-B498-43B3-948B-1728B52AA6E4}">
                <adec:decorative xmlns:adec="http://schemas.microsoft.com/office/drawing/2017/decorative" val="1"/>
              </a:ext>
            </a:extLst>
          </p:cNvPr>
          <p:cNvSpPr txBox="1"/>
          <p:nvPr/>
        </p:nvSpPr>
        <p:spPr>
          <a:xfrm>
            <a:off x="647700" y="9535203"/>
            <a:ext cx="658470" cy="183084"/>
          </a:xfrm>
          <a:prstGeom prst="rect">
            <a:avLst/>
          </a:prstGeom>
        </p:spPr>
        <p:txBody>
          <a:bodyPr lIns="0" tIns="0" rIns="0" bIns="0" rtlCol="0" anchor="t">
            <a:spAutoFit/>
          </a:bodyPr>
          <a:lstStyle/>
          <a:p>
            <a:pPr>
              <a:lnSpc>
                <a:spcPts val="1399"/>
              </a:lnSpc>
            </a:pPr>
            <a:r>
              <a:rPr lang="en-US" sz="1399" dirty="0">
                <a:solidFill>
                  <a:srgbClr val="1546BA"/>
                </a:solidFill>
                <a:latin typeface="Libre Franklin Bold"/>
              </a:rPr>
              <a:t>02</a:t>
            </a:r>
          </a:p>
        </p:txBody>
      </p:sp>
      <p:pic>
        <p:nvPicPr>
          <p:cNvPr id="23" name="Picture 23" descr="HLP Book"/>
          <p:cNvPicPr>
            <a:picLocks noChangeAspect="1"/>
          </p:cNvPicPr>
          <p:nvPr/>
        </p:nvPicPr>
        <p:blipFill>
          <a:blip r:embed="rId7"/>
          <a:srcRect/>
          <a:stretch>
            <a:fillRect/>
          </a:stretch>
        </p:blipFill>
        <p:spPr>
          <a:xfrm>
            <a:off x="15887608" y="7325898"/>
            <a:ext cx="2049160" cy="262332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546BA"/>
        </a:solidFill>
        <a:effectLst/>
      </p:bgPr>
    </p:bg>
    <p:spTree>
      <p:nvGrpSpPr>
        <p:cNvPr id="1" name=""/>
        <p:cNvGrpSpPr/>
        <p:nvPr/>
      </p:nvGrpSpPr>
      <p:grpSpPr>
        <a:xfrm>
          <a:off x="0" y="0"/>
          <a:ext cx="0" cy="0"/>
          <a:chOff x="0" y="0"/>
          <a:chExt cx="0" cy="0"/>
        </a:xfrm>
      </p:grpSpPr>
      <p:grpSp>
        <p:nvGrpSpPr>
          <p:cNvPr id="2" name="Group 2">
            <a:extLst>
              <a:ext uri="{C183D7F6-B498-43B3-948B-1728B52AA6E4}">
                <adec:decorative xmlns:adec="http://schemas.microsoft.com/office/drawing/2017/decorative" val="1"/>
              </a:ext>
            </a:extLst>
          </p:cNvPr>
          <p:cNvGrpSpPr/>
          <p:nvPr/>
        </p:nvGrpSpPr>
        <p:grpSpPr>
          <a:xfrm>
            <a:off x="17555768" y="1110614"/>
            <a:ext cx="381000" cy="381000"/>
            <a:chOff x="0" y="0"/>
            <a:chExt cx="508000" cy="508000"/>
          </a:xfrm>
        </p:grpSpPr>
        <p:grpSp>
          <p:nvGrpSpPr>
            <p:cNvPr id="3" name="Group 3"/>
            <p:cNvGrpSpPr>
              <a:grpSpLocks noChangeAspect="1"/>
            </p:cNvGrpSpPr>
            <p:nvPr/>
          </p:nvGrpSpPr>
          <p:grpSpPr>
            <a:xfrm>
              <a:off x="0" y="0"/>
              <a:ext cx="508000" cy="508000"/>
              <a:chOff x="0" y="0"/>
              <a:chExt cx="6355080" cy="6355080"/>
            </a:xfrm>
          </p:grpSpPr>
          <p:sp>
            <p:nvSpPr>
              <p:cNvPr id="4" name="Freeform 4"/>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FFFFFF"/>
              </a:solidFill>
            </p:spPr>
            <p:txBody>
              <a:bodyPr/>
              <a:lstStyle/>
              <a:p>
                <a:endParaRPr lang="en-US"/>
              </a:p>
            </p:txBody>
          </p:sp>
        </p:gr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5400000">
              <a:off x="84667" y="84667"/>
              <a:ext cx="338667" cy="338667"/>
            </a:xfrm>
            <a:prstGeom prst="rect">
              <a:avLst/>
            </a:prstGeom>
          </p:spPr>
        </p:pic>
      </p:grpSp>
      <p:grpSp>
        <p:nvGrpSpPr>
          <p:cNvPr id="6" name="Group 6">
            <a:extLst>
              <a:ext uri="{C183D7F6-B498-43B3-948B-1728B52AA6E4}">
                <adec:decorative xmlns:adec="http://schemas.microsoft.com/office/drawing/2017/decorative" val="1"/>
              </a:ext>
            </a:extLst>
          </p:cNvPr>
          <p:cNvGrpSpPr/>
          <p:nvPr/>
        </p:nvGrpSpPr>
        <p:grpSpPr>
          <a:xfrm rot="-10800000">
            <a:off x="17555768" y="565786"/>
            <a:ext cx="381000" cy="381000"/>
            <a:chOff x="0" y="0"/>
            <a:chExt cx="508000" cy="508000"/>
          </a:xfrm>
        </p:grpSpPr>
        <p:grpSp>
          <p:nvGrpSpPr>
            <p:cNvPr id="7" name="Group 7"/>
            <p:cNvGrpSpPr>
              <a:grpSpLocks noChangeAspect="1"/>
            </p:cNvGrpSpPr>
            <p:nvPr/>
          </p:nvGrpSpPr>
          <p:grpSpPr>
            <a:xfrm>
              <a:off x="0" y="0"/>
              <a:ext cx="508000" cy="508000"/>
              <a:chOff x="0" y="0"/>
              <a:chExt cx="6355080" cy="6355080"/>
            </a:xfrm>
          </p:grpSpPr>
          <p:sp>
            <p:nvSpPr>
              <p:cNvPr id="8" name="Freeform 8"/>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FFFFFF"/>
              </a:solidFill>
            </p:spPr>
            <p:txBody>
              <a:bodyPr/>
              <a:lstStyle/>
              <a:p>
                <a:endParaRPr lang="en-US"/>
              </a:p>
            </p:txBody>
          </p:sp>
        </p:grpSp>
        <p:pic>
          <p:nvPicPr>
            <p:cNvPr id="9" name="Picture 9"/>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5400000">
              <a:off x="84667" y="84667"/>
              <a:ext cx="338667" cy="338667"/>
            </a:xfrm>
            <a:prstGeom prst="rect">
              <a:avLst/>
            </a:prstGeom>
          </p:spPr>
        </p:pic>
      </p:grpSp>
      <p:grpSp>
        <p:nvGrpSpPr>
          <p:cNvPr id="11" name="Group 11">
            <a:extLst>
              <a:ext uri="{C183D7F6-B498-43B3-948B-1728B52AA6E4}">
                <adec:decorative xmlns:adec="http://schemas.microsoft.com/office/drawing/2017/decorative" val="1"/>
              </a:ext>
            </a:extLst>
          </p:cNvPr>
          <p:cNvGrpSpPr/>
          <p:nvPr/>
        </p:nvGrpSpPr>
        <p:grpSpPr>
          <a:xfrm>
            <a:off x="2383537" y="3242235"/>
            <a:ext cx="3859415" cy="1264798"/>
            <a:chOff x="0" y="0"/>
            <a:chExt cx="29310222" cy="9605470"/>
          </a:xfrm>
        </p:grpSpPr>
        <p:sp>
          <p:nvSpPr>
            <p:cNvPr id="12" name="Freeform 12"/>
            <p:cNvSpPr/>
            <p:nvPr/>
          </p:nvSpPr>
          <p:spPr>
            <a:xfrm>
              <a:off x="0" y="0"/>
              <a:ext cx="29310223" cy="9605470"/>
            </a:xfrm>
            <a:custGeom>
              <a:avLst/>
              <a:gdLst/>
              <a:ahLst/>
              <a:cxnLst/>
              <a:rect l="l" t="t" r="r" b="b"/>
              <a:pathLst>
                <a:path w="29310223" h="9605470">
                  <a:moveTo>
                    <a:pt x="0" y="0"/>
                  </a:moveTo>
                  <a:lnTo>
                    <a:pt x="0" y="9605470"/>
                  </a:lnTo>
                  <a:lnTo>
                    <a:pt x="29310223" y="9605470"/>
                  </a:lnTo>
                  <a:lnTo>
                    <a:pt x="29310223" y="0"/>
                  </a:lnTo>
                  <a:lnTo>
                    <a:pt x="0" y="0"/>
                  </a:lnTo>
                  <a:close/>
                  <a:moveTo>
                    <a:pt x="29249263" y="9544510"/>
                  </a:moveTo>
                  <a:lnTo>
                    <a:pt x="59690" y="9544510"/>
                  </a:lnTo>
                  <a:lnTo>
                    <a:pt x="59690" y="59690"/>
                  </a:lnTo>
                  <a:lnTo>
                    <a:pt x="29249263" y="59690"/>
                  </a:lnTo>
                  <a:lnTo>
                    <a:pt x="29249263" y="9544510"/>
                  </a:lnTo>
                  <a:close/>
                </a:path>
              </a:pathLst>
            </a:custGeom>
            <a:solidFill>
              <a:srgbClr val="FFFFFF"/>
            </a:solidFill>
          </p:spPr>
          <p:txBody>
            <a:bodyPr/>
            <a:lstStyle/>
            <a:p>
              <a:endParaRPr lang="en-US"/>
            </a:p>
          </p:txBody>
        </p:sp>
      </p:grpSp>
      <p:sp>
        <p:nvSpPr>
          <p:cNvPr id="25" name="TextBox 25"/>
          <p:cNvSpPr txBox="1">
            <a:spLocks noGrp="1"/>
          </p:cNvSpPr>
          <p:nvPr>
            <p:ph type="title" idx="4294967295"/>
          </p:nvPr>
        </p:nvSpPr>
        <p:spPr>
          <a:xfrm>
            <a:off x="2383537" y="1531191"/>
            <a:ext cx="10991835" cy="806958"/>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ts val="6216"/>
              </a:lnSpc>
              <a:spcBef>
                <a:spcPts val="0"/>
              </a:spcBef>
              <a:spcAft>
                <a:spcPts val="0"/>
              </a:spcAft>
              <a:buClrTx/>
              <a:buSzTx/>
              <a:buFontTx/>
              <a:buNone/>
              <a:tabLst/>
              <a:defRPr/>
            </a:pPr>
            <a:r>
              <a:rPr kumimoji="0" lang="en-US" sz="5600" b="0" i="0" u="none" strike="noStrike" kern="1200" cap="none" spc="89" normalizeH="0" baseline="0" noProof="0" dirty="0">
                <a:ln>
                  <a:noFill/>
                </a:ln>
                <a:solidFill>
                  <a:srgbClr val="FFFFFF"/>
                </a:solidFill>
                <a:effectLst/>
                <a:uLnTx/>
                <a:uFillTx/>
                <a:latin typeface="Montserrat Classic Bold"/>
                <a:ea typeface="+mn-ea"/>
                <a:cs typeface="+mn-cs"/>
              </a:rPr>
              <a:t>Learning Objectives</a:t>
            </a:r>
          </a:p>
        </p:txBody>
      </p:sp>
      <p:sp>
        <p:nvSpPr>
          <p:cNvPr id="13" name="TextBox 13"/>
          <p:cNvSpPr txBox="1"/>
          <p:nvPr/>
        </p:nvSpPr>
        <p:spPr>
          <a:xfrm>
            <a:off x="2643479" y="3753269"/>
            <a:ext cx="3339529" cy="271304"/>
          </a:xfrm>
          <a:prstGeom prst="rect">
            <a:avLst/>
          </a:prstGeom>
        </p:spPr>
        <p:txBody>
          <a:bodyPr lIns="0" tIns="0" rIns="0" bIns="0" rtlCol="0" anchor="t">
            <a:spAutoFit/>
          </a:bodyPr>
          <a:lstStyle/>
          <a:p>
            <a:pPr algn="ctr">
              <a:lnSpc>
                <a:spcPts val="2100"/>
              </a:lnSpc>
            </a:pPr>
            <a:r>
              <a:rPr lang="en-US" sz="2100" dirty="0">
                <a:solidFill>
                  <a:srgbClr val="FFFFFF"/>
                </a:solidFill>
                <a:latin typeface="Montserrat Classic Bold"/>
              </a:rPr>
              <a:t>Clear Learning Goals</a:t>
            </a:r>
          </a:p>
        </p:txBody>
      </p:sp>
      <p:sp>
        <p:nvSpPr>
          <p:cNvPr id="22" name="TextBox 22"/>
          <p:cNvSpPr txBox="1"/>
          <p:nvPr/>
        </p:nvSpPr>
        <p:spPr>
          <a:xfrm>
            <a:off x="6840669" y="3508239"/>
            <a:ext cx="8228847" cy="666115"/>
          </a:xfrm>
          <a:prstGeom prst="rect">
            <a:avLst/>
          </a:prstGeom>
        </p:spPr>
        <p:txBody>
          <a:bodyPr lIns="0" tIns="0" rIns="0" bIns="0" rtlCol="0" anchor="t">
            <a:spAutoFit/>
          </a:bodyPr>
          <a:lstStyle/>
          <a:p>
            <a:pPr marL="0" lvl="0" indent="0" algn="l">
              <a:lnSpc>
                <a:spcPts val="2720"/>
              </a:lnSpc>
              <a:spcBef>
                <a:spcPct val="0"/>
              </a:spcBef>
            </a:pPr>
            <a:r>
              <a:rPr lang="en-US" sz="1700" spc="34" dirty="0">
                <a:solidFill>
                  <a:srgbClr val="FFFFFF"/>
                </a:solidFill>
                <a:latin typeface="Libre Franklin Light"/>
              </a:rPr>
              <a:t>Describe the characteristics and the importance of establishing clear learning goals.</a:t>
            </a:r>
          </a:p>
        </p:txBody>
      </p:sp>
      <p:grpSp>
        <p:nvGrpSpPr>
          <p:cNvPr id="15" name="Group 15">
            <a:extLst>
              <a:ext uri="{C183D7F6-B498-43B3-948B-1728B52AA6E4}">
                <adec:decorative xmlns:adec="http://schemas.microsoft.com/office/drawing/2017/decorative" val="1"/>
              </a:ext>
            </a:extLst>
          </p:cNvPr>
          <p:cNvGrpSpPr/>
          <p:nvPr/>
        </p:nvGrpSpPr>
        <p:grpSpPr>
          <a:xfrm>
            <a:off x="2383537" y="5274235"/>
            <a:ext cx="3859415" cy="1264798"/>
            <a:chOff x="0" y="0"/>
            <a:chExt cx="29310222" cy="9605470"/>
          </a:xfrm>
        </p:grpSpPr>
        <p:sp>
          <p:nvSpPr>
            <p:cNvPr id="16" name="Freeform 16"/>
            <p:cNvSpPr/>
            <p:nvPr/>
          </p:nvSpPr>
          <p:spPr>
            <a:xfrm>
              <a:off x="0" y="0"/>
              <a:ext cx="29310223" cy="9605470"/>
            </a:xfrm>
            <a:custGeom>
              <a:avLst/>
              <a:gdLst/>
              <a:ahLst/>
              <a:cxnLst/>
              <a:rect l="l" t="t" r="r" b="b"/>
              <a:pathLst>
                <a:path w="29310223" h="9605470">
                  <a:moveTo>
                    <a:pt x="0" y="0"/>
                  </a:moveTo>
                  <a:lnTo>
                    <a:pt x="0" y="9605470"/>
                  </a:lnTo>
                  <a:lnTo>
                    <a:pt x="29310223" y="9605470"/>
                  </a:lnTo>
                  <a:lnTo>
                    <a:pt x="29310223" y="0"/>
                  </a:lnTo>
                  <a:lnTo>
                    <a:pt x="0" y="0"/>
                  </a:lnTo>
                  <a:close/>
                  <a:moveTo>
                    <a:pt x="29249263" y="9544510"/>
                  </a:moveTo>
                  <a:lnTo>
                    <a:pt x="59690" y="9544510"/>
                  </a:lnTo>
                  <a:lnTo>
                    <a:pt x="59690" y="59690"/>
                  </a:lnTo>
                  <a:lnTo>
                    <a:pt x="29249263" y="59690"/>
                  </a:lnTo>
                  <a:lnTo>
                    <a:pt x="29249263" y="9544510"/>
                  </a:lnTo>
                  <a:close/>
                </a:path>
              </a:pathLst>
            </a:custGeom>
            <a:solidFill>
              <a:srgbClr val="FFFFFF"/>
            </a:solidFill>
          </p:spPr>
          <p:txBody>
            <a:bodyPr/>
            <a:lstStyle/>
            <a:p>
              <a:endParaRPr lang="en-US"/>
            </a:p>
          </p:txBody>
        </p:sp>
      </p:grpSp>
      <p:sp>
        <p:nvSpPr>
          <p:cNvPr id="17" name="TextBox 17"/>
          <p:cNvSpPr txBox="1"/>
          <p:nvPr/>
        </p:nvSpPr>
        <p:spPr>
          <a:xfrm>
            <a:off x="2643479" y="5785269"/>
            <a:ext cx="3339529" cy="271304"/>
          </a:xfrm>
          <a:prstGeom prst="rect">
            <a:avLst/>
          </a:prstGeom>
        </p:spPr>
        <p:txBody>
          <a:bodyPr lIns="0" tIns="0" rIns="0" bIns="0" rtlCol="0" anchor="t">
            <a:spAutoFit/>
          </a:bodyPr>
          <a:lstStyle/>
          <a:p>
            <a:pPr algn="ctr">
              <a:lnSpc>
                <a:spcPts val="2100"/>
              </a:lnSpc>
            </a:pPr>
            <a:r>
              <a:rPr lang="en-US" sz="2100" dirty="0">
                <a:solidFill>
                  <a:srgbClr val="FFFFFF"/>
                </a:solidFill>
                <a:latin typeface="Montserrat Classic Bold"/>
              </a:rPr>
              <a:t>Logical Sequence</a:t>
            </a:r>
          </a:p>
        </p:txBody>
      </p:sp>
      <p:sp>
        <p:nvSpPr>
          <p:cNvPr id="23" name="TextBox 23"/>
          <p:cNvSpPr txBox="1"/>
          <p:nvPr/>
        </p:nvSpPr>
        <p:spPr>
          <a:xfrm>
            <a:off x="6840669" y="5540239"/>
            <a:ext cx="8228847" cy="666115"/>
          </a:xfrm>
          <a:prstGeom prst="rect">
            <a:avLst/>
          </a:prstGeom>
        </p:spPr>
        <p:txBody>
          <a:bodyPr lIns="0" tIns="0" rIns="0" bIns="0" rtlCol="0" anchor="t">
            <a:spAutoFit/>
          </a:bodyPr>
          <a:lstStyle/>
          <a:p>
            <a:pPr marL="0" lvl="0" indent="0" algn="l">
              <a:lnSpc>
                <a:spcPts val="2720"/>
              </a:lnSpc>
              <a:spcBef>
                <a:spcPct val="0"/>
              </a:spcBef>
            </a:pPr>
            <a:r>
              <a:rPr lang="en-US" sz="1700" spc="34" dirty="0">
                <a:solidFill>
                  <a:srgbClr val="FFFFFF"/>
                </a:solidFill>
                <a:latin typeface="Libre Franklin Light"/>
              </a:rPr>
              <a:t>Explain how to logically sequence and prioritize knowledge and skills within the context of instructional delivery.  </a:t>
            </a:r>
          </a:p>
        </p:txBody>
      </p:sp>
      <p:grpSp>
        <p:nvGrpSpPr>
          <p:cNvPr id="19" name="Group 19">
            <a:extLst>
              <a:ext uri="{C183D7F6-B498-43B3-948B-1728B52AA6E4}">
                <adec:decorative xmlns:adec="http://schemas.microsoft.com/office/drawing/2017/decorative" val="1"/>
              </a:ext>
            </a:extLst>
          </p:cNvPr>
          <p:cNvGrpSpPr/>
          <p:nvPr/>
        </p:nvGrpSpPr>
        <p:grpSpPr>
          <a:xfrm>
            <a:off x="2383537" y="7486792"/>
            <a:ext cx="3859415" cy="1264798"/>
            <a:chOff x="0" y="0"/>
            <a:chExt cx="29310222" cy="9605470"/>
          </a:xfrm>
        </p:grpSpPr>
        <p:sp>
          <p:nvSpPr>
            <p:cNvPr id="20" name="Freeform 20"/>
            <p:cNvSpPr/>
            <p:nvPr/>
          </p:nvSpPr>
          <p:spPr>
            <a:xfrm>
              <a:off x="0" y="0"/>
              <a:ext cx="29310223" cy="9605470"/>
            </a:xfrm>
            <a:custGeom>
              <a:avLst/>
              <a:gdLst/>
              <a:ahLst/>
              <a:cxnLst/>
              <a:rect l="l" t="t" r="r" b="b"/>
              <a:pathLst>
                <a:path w="29310223" h="9605470">
                  <a:moveTo>
                    <a:pt x="0" y="0"/>
                  </a:moveTo>
                  <a:lnTo>
                    <a:pt x="0" y="9605470"/>
                  </a:lnTo>
                  <a:lnTo>
                    <a:pt x="29310223" y="9605470"/>
                  </a:lnTo>
                  <a:lnTo>
                    <a:pt x="29310223" y="0"/>
                  </a:lnTo>
                  <a:lnTo>
                    <a:pt x="0" y="0"/>
                  </a:lnTo>
                  <a:close/>
                  <a:moveTo>
                    <a:pt x="29249263" y="9544510"/>
                  </a:moveTo>
                  <a:lnTo>
                    <a:pt x="59690" y="9544510"/>
                  </a:lnTo>
                  <a:lnTo>
                    <a:pt x="59690" y="59690"/>
                  </a:lnTo>
                  <a:lnTo>
                    <a:pt x="29249263" y="59690"/>
                  </a:lnTo>
                  <a:lnTo>
                    <a:pt x="29249263" y="9544510"/>
                  </a:lnTo>
                  <a:close/>
                </a:path>
              </a:pathLst>
            </a:custGeom>
            <a:solidFill>
              <a:srgbClr val="FFFFFF"/>
            </a:solidFill>
          </p:spPr>
          <p:txBody>
            <a:bodyPr/>
            <a:lstStyle/>
            <a:p>
              <a:endParaRPr lang="en-US"/>
            </a:p>
          </p:txBody>
        </p:sp>
      </p:grpSp>
      <p:sp>
        <p:nvSpPr>
          <p:cNvPr id="21" name="TextBox 21"/>
          <p:cNvSpPr txBox="1"/>
          <p:nvPr/>
        </p:nvSpPr>
        <p:spPr>
          <a:xfrm>
            <a:off x="2643479" y="7997826"/>
            <a:ext cx="3339529" cy="271304"/>
          </a:xfrm>
          <a:prstGeom prst="rect">
            <a:avLst/>
          </a:prstGeom>
        </p:spPr>
        <p:txBody>
          <a:bodyPr lIns="0" tIns="0" rIns="0" bIns="0" rtlCol="0" anchor="t">
            <a:spAutoFit/>
          </a:bodyPr>
          <a:lstStyle/>
          <a:p>
            <a:pPr algn="ctr">
              <a:lnSpc>
                <a:spcPts val="2100"/>
              </a:lnSpc>
            </a:pPr>
            <a:r>
              <a:rPr lang="en-US" sz="2100" dirty="0">
                <a:solidFill>
                  <a:srgbClr val="FFFFFF"/>
                </a:solidFill>
                <a:latin typeface="Montserrat Classic Bold"/>
              </a:rPr>
              <a:t>Lesson Planning</a:t>
            </a:r>
          </a:p>
        </p:txBody>
      </p:sp>
      <p:sp>
        <p:nvSpPr>
          <p:cNvPr id="24" name="TextBox 24"/>
          <p:cNvSpPr txBox="1"/>
          <p:nvPr/>
        </p:nvSpPr>
        <p:spPr>
          <a:xfrm>
            <a:off x="6840669" y="7581345"/>
            <a:ext cx="8228847" cy="1009015"/>
          </a:xfrm>
          <a:prstGeom prst="rect">
            <a:avLst/>
          </a:prstGeom>
        </p:spPr>
        <p:txBody>
          <a:bodyPr lIns="0" tIns="0" rIns="0" bIns="0" rtlCol="0" anchor="t">
            <a:spAutoFit/>
          </a:bodyPr>
          <a:lstStyle/>
          <a:p>
            <a:pPr>
              <a:lnSpc>
                <a:spcPts val="2720"/>
              </a:lnSpc>
              <a:spcBef>
                <a:spcPct val="0"/>
              </a:spcBef>
            </a:pPr>
            <a:r>
              <a:rPr lang="en-US" sz="1700" spc="34" dirty="0">
                <a:solidFill>
                  <a:srgbClr val="FFFFFF"/>
                </a:solidFill>
                <a:latin typeface="Libre Franklin Light"/>
              </a:rPr>
              <a:t>Effectively design a lesson with careful consideration of student assessment data and learning goals. Demonstrate an understanding of why each lesson should build on previous concepts taught. </a:t>
            </a:r>
          </a:p>
        </p:txBody>
      </p:sp>
      <p:pic>
        <p:nvPicPr>
          <p:cNvPr id="26" name="Picture 26">
            <a:extLs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rot="-5400000">
            <a:off x="565746" y="2785442"/>
            <a:ext cx="544908" cy="381000"/>
          </a:xfrm>
          <a:prstGeom prst="rect">
            <a:avLst/>
          </a:prstGeom>
        </p:spPr>
      </p:pic>
      <p:sp>
        <p:nvSpPr>
          <p:cNvPr id="27" name="TextBox 27">
            <a:extLst>
              <a:ext uri="{C183D7F6-B498-43B3-948B-1728B52AA6E4}">
                <adec:decorative xmlns:adec="http://schemas.microsoft.com/office/drawing/2017/decorative" val="1"/>
              </a:ext>
            </a:extLst>
          </p:cNvPr>
          <p:cNvSpPr txBox="1"/>
          <p:nvPr/>
        </p:nvSpPr>
        <p:spPr>
          <a:xfrm>
            <a:off x="647700" y="9535203"/>
            <a:ext cx="658470" cy="183084"/>
          </a:xfrm>
          <a:prstGeom prst="rect">
            <a:avLst/>
          </a:prstGeom>
        </p:spPr>
        <p:txBody>
          <a:bodyPr lIns="0" tIns="0" rIns="0" bIns="0" rtlCol="0" anchor="t">
            <a:spAutoFit/>
          </a:bodyPr>
          <a:lstStyle/>
          <a:p>
            <a:pPr>
              <a:lnSpc>
                <a:spcPts val="1399"/>
              </a:lnSpc>
            </a:pPr>
            <a:r>
              <a:rPr lang="en-US" sz="1399" dirty="0">
                <a:solidFill>
                  <a:srgbClr val="FFFFFF"/>
                </a:solidFill>
                <a:latin typeface="Libre Franklin Bold"/>
              </a:rPr>
              <a:t>03</a:t>
            </a:r>
          </a:p>
        </p:txBody>
      </p:sp>
      <p:sp>
        <p:nvSpPr>
          <p:cNvPr id="28" name="TextBox 28">
            <a:extLst>
              <a:ext uri="{C183D7F6-B498-43B3-948B-1728B52AA6E4}">
                <adec:decorative xmlns:adec="http://schemas.microsoft.com/office/drawing/2017/decorative" val="1"/>
              </a:ext>
            </a:extLst>
          </p:cNvPr>
          <p:cNvSpPr txBox="1"/>
          <p:nvPr/>
        </p:nvSpPr>
        <p:spPr>
          <a:xfrm rot="-5400000">
            <a:off x="-49720" y="1441512"/>
            <a:ext cx="1804414" cy="433961"/>
          </a:xfrm>
          <a:prstGeom prst="rect">
            <a:avLst/>
          </a:prstGeom>
        </p:spPr>
        <p:txBody>
          <a:bodyPr lIns="0" tIns="0" rIns="0" bIns="0" rtlCol="0" anchor="t">
            <a:spAutoFit/>
          </a:bodyPr>
          <a:lstStyle/>
          <a:p>
            <a:pPr>
              <a:lnSpc>
                <a:spcPts val="1710"/>
              </a:lnSpc>
            </a:pPr>
            <a:r>
              <a:rPr lang="en-US" sz="1710" dirty="0">
                <a:solidFill>
                  <a:srgbClr val="FFFFFF"/>
                </a:solidFill>
                <a:latin typeface="Montserrat Classic"/>
              </a:rPr>
              <a:t>HLP Lesson Study Series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C183D7F6-B498-43B3-948B-1728B52AA6E4}">
                <adec:decorative xmlns:adec="http://schemas.microsoft.com/office/drawing/2017/decorative" val="1"/>
              </a:ext>
            </a:extLst>
          </p:cNvPr>
          <p:cNvGrpSpPr/>
          <p:nvPr/>
        </p:nvGrpSpPr>
        <p:grpSpPr>
          <a:xfrm>
            <a:off x="17555768" y="1110614"/>
            <a:ext cx="381000" cy="381000"/>
            <a:chOff x="0" y="0"/>
            <a:chExt cx="508000" cy="508000"/>
          </a:xfrm>
        </p:grpSpPr>
        <p:grpSp>
          <p:nvGrpSpPr>
            <p:cNvPr id="3" name="Group 3"/>
            <p:cNvGrpSpPr>
              <a:grpSpLocks noChangeAspect="1"/>
            </p:cNvGrpSpPr>
            <p:nvPr/>
          </p:nvGrpSpPr>
          <p:grpSpPr>
            <a:xfrm>
              <a:off x="0" y="0"/>
              <a:ext cx="508000" cy="508000"/>
              <a:chOff x="0" y="0"/>
              <a:chExt cx="6355080" cy="6355080"/>
            </a:xfrm>
          </p:grpSpPr>
          <p:sp>
            <p:nvSpPr>
              <p:cNvPr id="4" name="Freeform 4"/>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1546BA"/>
              </a:solidFill>
            </p:spPr>
            <p:txBody>
              <a:bodyPr/>
              <a:lstStyle/>
              <a:p>
                <a:endParaRPr lang="en-US"/>
              </a:p>
            </p:txBody>
          </p:sp>
        </p:gr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5400000">
              <a:off x="84667" y="84667"/>
              <a:ext cx="338667" cy="338667"/>
            </a:xfrm>
            <a:prstGeom prst="rect">
              <a:avLst/>
            </a:prstGeom>
          </p:spPr>
        </p:pic>
      </p:grpSp>
      <p:grpSp>
        <p:nvGrpSpPr>
          <p:cNvPr id="6" name="Group 6">
            <a:extLst>
              <a:ext uri="{C183D7F6-B498-43B3-948B-1728B52AA6E4}">
                <adec:decorative xmlns:adec="http://schemas.microsoft.com/office/drawing/2017/decorative" val="1"/>
              </a:ext>
            </a:extLst>
          </p:cNvPr>
          <p:cNvGrpSpPr/>
          <p:nvPr/>
        </p:nvGrpSpPr>
        <p:grpSpPr>
          <a:xfrm rot="-10800000">
            <a:off x="17555768" y="565786"/>
            <a:ext cx="381000" cy="381000"/>
            <a:chOff x="0" y="0"/>
            <a:chExt cx="508000" cy="508000"/>
          </a:xfrm>
        </p:grpSpPr>
        <p:grpSp>
          <p:nvGrpSpPr>
            <p:cNvPr id="7" name="Group 7"/>
            <p:cNvGrpSpPr>
              <a:grpSpLocks noChangeAspect="1"/>
            </p:cNvGrpSpPr>
            <p:nvPr/>
          </p:nvGrpSpPr>
          <p:grpSpPr>
            <a:xfrm>
              <a:off x="0" y="0"/>
              <a:ext cx="508000" cy="508000"/>
              <a:chOff x="0" y="0"/>
              <a:chExt cx="6355080" cy="6355080"/>
            </a:xfrm>
          </p:grpSpPr>
          <p:sp>
            <p:nvSpPr>
              <p:cNvPr id="8" name="Freeform 8"/>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1546BA"/>
              </a:solidFill>
            </p:spPr>
            <p:txBody>
              <a:bodyPr/>
              <a:lstStyle/>
              <a:p>
                <a:endParaRPr lang="en-US"/>
              </a:p>
            </p:txBody>
          </p:sp>
        </p:grpSp>
        <p:pic>
          <p:nvPicPr>
            <p:cNvPr id="9" name="Picture 9"/>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5400000">
              <a:off x="84667" y="84667"/>
              <a:ext cx="338667" cy="338667"/>
            </a:xfrm>
            <a:prstGeom prst="rect">
              <a:avLst/>
            </a:prstGeom>
          </p:spPr>
        </p:pic>
      </p:grpSp>
      <p:pic>
        <p:nvPicPr>
          <p:cNvPr id="10" name="Picture 10">
            <a:extLs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rot="-5400000">
            <a:off x="565746" y="2785442"/>
            <a:ext cx="544908" cy="381000"/>
          </a:xfrm>
          <a:prstGeom prst="rect">
            <a:avLst/>
          </a:prstGeom>
        </p:spPr>
      </p:pic>
      <p:sp>
        <p:nvSpPr>
          <p:cNvPr id="13" name="TextBox 13"/>
          <p:cNvSpPr txBox="1">
            <a:spLocks noGrp="1"/>
          </p:cNvSpPr>
          <p:nvPr>
            <p:ph type="title" idx="4294967295"/>
          </p:nvPr>
        </p:nvSpPr>
        <p:spPr>
          <a:xfrm>
            <a:off x="1676014" y="4030109"/>
            <a:ext cx="9456367" cy="1758046"/>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ts val="6884"/>
              </a:lnSpc>
              <a:spcBef>
                <a:spcPts val="0"/>
              </a:spcBef>
              <a:spcAft>
                <a:spcPts val="0"/>
              </a:spcAft>
              <a:buClrTx/>
              <a:buSzTx/>
              <a:buFontTx/>
              <a:buNone/>
              <a:tabLst/>
              <a:defRPr/>
            </a:pPr>
            <a:r>
              <a:rPr kumimoji="0" lang="en-US" sz="6201" b="0" i="0" u="none" strike="noStrike" kern="1200" cap="none" spc="99" normalizeH="0" baseline="0" noProof="0" dirty="0">
                <a:ln>
                  <a:noFill/>
                </a:ln>
                <a:solidFill>
                  <a:srgbClr val="011C5D"/>
                </a:solidFill>
                <a:effectLst/>
                <a:uLnTx/>
                <a:uFillTx/>
                <a:latin typeface="Montserrat Classic Bold"/>
                <a:ea typeface="+mn-ea"/>
                <a:cs typeface="+mn-cs"/>
              </a:rPr>
              <a:t>Today's</a:t>
            </a:r>
          </a:p>
          <a:p>
            <a:pPr marL="0" marR="0" lvl="0" indent="0" algn="l" defTabSz="914400" rtl="0" eaLnBrk="1" fontAlgn="auto" latinLnBrk="0" hangingPunct="1">
              <a:lnSpc>
                <a:spcPts val="6884"/>
              </a:lnSpc>
              <a:spcBef>
                <a:spcPts val="0"/>
              </a:spcBef>
              <a:spcAft>
                <a:spcPts val="0"/>
              </a:spcAft>
              <a:buClrTx/>
              <a:buSzTx/>
              <a:buFontTx/>
              <a:buNone/>
              <a:tabLst/>
              <a:defRPr/>
            </a:pPr>
            <a:r>
              <a:rPr kumimoji="0" lang="en-US" sz="6201" b="0" i="0" u="none" strike="noStrike" kern="1200" cap="none" spc="99" normalizeH="0" baseline="0" noProof="0" dirty="0">
                <a:ln>
                  <a:noFill/>
                </a:ln>
                <a:solidFill>
                  <a:srgbClr val="1546BA"/>
                </a:solidFill>
                <a:effectLst/>
                <a:uLnTx/>
                <a:uFillTx/>
                <a:latin typeface="Montserrat Classic Bold"/>
                <a:ea typeface="+mn-ea"/>
                <a:cs typeface="+mn-cs"/>
              </a:rPr>
              <a:t>topic</a:t>
            </a:r>
          </a:p>
        </p:txBody>
      </p:sp>
      <p:pic>
        <p:nvPicPr>
          <p:cNvPr id="11" name="Picture 11">
            <a:extLs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a:off x="11281593" y="3355824"/>
            <a:ext cx="4236602" cy="4114800"/>
          </a:xfrm>
          <a:prstGeom prst="rect">
            <a:avLst/>
          </a:prstGeom>
        </p:spPr>
      </p:pic>
      <p:sp>
        <p:nvSpPr>
          <p:cNvPr id="15" name="TextBox 15"/>
          <p:cNvSpPr txBox="1"/>
          <p:nvPr/>
        </p:nvSpPr>
        <p:spPr>
          <a:xfrm>
            <a:off x="1676014" y="6126913"/>
            <a:ext cx="9456367" cy="997907"/>
          </a:xfrm>
          <a:prstGeom prst="rect">
            <a:avLst/>
          </a:prstGeom>
        </p:spPr>
        <p:txBody>
          <a:bodyPr lIns="0" tIns="0" rIns="0" bIns="0" rtlCol="0" anchor="t">
            <a:spAutoFit/>
          </a:bodyPr>
          <a:lstStyle/>
          <a:p>
            <a:pPr>
              <a:lnSpc>
                <a:spcPts val="3876"/>
              </a:lnSpc>
            </a:pPr>
            <a:r>
              <a:rPr lang="en-US" sz="3876" dirty="0">
                <a:solidFill>
                  <a:srgbClr val="1546BA"/>
                </a:solidFill>
                <a:latin typeface="Libre Franklin Light"/>
              </a:rPr>
              <a:t>HLP #12: Systematically Design Instruction</a:t>
            </a:r>
          </a:p>
        </p:txBody>
      </p:sp>
      <p:sp>
        <p:nvSpPr>
          <p:cNvPr id="14" name="TextBox 14"/>
          <p:cNvSpPr txBox="1"/>
          <p:nvPr/>
        </p:nvSpPr>
        <p:spPr>
          <a:xfrm>
            <a:off x="1676014" y="7421139"/>
            <a:ext cx="9456367" cy="1162787"/>
          </a:xfrm>
          <a:prstGeom prst="rect">
            <a:avLst/>
          </a:prstGeom>
        </p:spPr>
        <p:txBody>
          <a:bodyPr lIns="0" tIns="0" rIns="0" bIns="0" rtlCol="0" anchor="t">
            <a:spAutoFit/>
          </a:bodyPr>
          <a:lstStyle/>
          <a:p>
            <a:pPr>
              <a:lnSpc>
                <a:spcPts val="3543"/>
              </a:lnSpc>
            </a:pPr>
            <a:r>
              <a:rPr lang="en-US" sz="2214" spc="44" dirty="0">
                <a:solidFill>
                  <a:srgbClr val="1546BA"/>
                </a:solidFill>
                <a:latin typeface="Libre Franklin Light"/>
              </a:rPr>
              <a:t>Systematically design instruction toward a specific learning goal. </a:t>
            </a:r>
          </a:p>
          <a:p>
            <a:pPr>
              <a:lnSpc>
                <a:spcPts val="3012"/>
              </a:lnSpc>
            </a:pPr>
            <a:endParaRPr lang="en-US" sz="2214" spc="44" dirty="0">
              <a:solidFill>
                <a:srgbClr val="1546BA"/>
              </a:solidFill>
              <a:latin typeface="Libre Franklin Light"/>
            </a:endParaRPr>
          </a:p>
          <a:p>
            <a:pPr marL="0" lvl="0" indent="0" algn="l">
              <a:lnSpc>
                <a:spcPts val="3012"/>
              </a:lnSpc>
              <a:spcBef>
                <a:spcPct val="0"/>
              </a:spcBef>
            </a:pPr>
            <a:endParaRPr lang="en-US" sz="2214" spc="44" dirty="0">
              <a:solidFill>
                <a:srgbClr val="1546BA"/>
              </a:solidFill>
              <a:latin typeface="Libre Franklin Light"/>
            </a:endParaRPr>
          </a:p>
        </p:txBody>
      </p:sp>
      <p:sp>
        <p:nvSpPr>
          <p:cNvPr id="16" name="TextBox 16">
            <a:extLst>
              <a:ext uri="{C183D7F6-B498-43B3-948B-1728B52AA6E4}">
                <adec:decorative xmlns:adec="http://schemas.microsoft.com/office/drawing/2017/decorative" val="1"/>
              </a:ext>
            </a:extLst>
          </p:cNvPr>
          <p:cNvSpPr txBox="1"/>
          <p:nvPr/>
        </p:nvSpPr>
        <p:spPr>
          <a:xfrm rot="-5400000">
            <a:off x="-78806" y="1446066"/>
            <a:ext cx="1804414" cy="424852"/>
          </a:xfrm>
          <a:prstGeom prst="rect">
            <a:avLst/>
          </a:prstGeom>
        </p:spPr>
        <p:txBody>
          <a:bodyPr lIns="0" tIns="0" rIns="0" bIns="0" rtlCol="0" anchor="t">
            <a:spAutoFit/>
          </a:bodyPr>
          <a:lstStyle/>
          <a:p>
            <a:pPr>
              <a:lnSpc>
                <a:spcPts val="1710"/>
              </a:lnSpc>
            </a:pPr>
            <a:r>
              <a:rPr lang="en-US" sz="1710" dirty="0">
                <a:solidFill>
                  <a:srgbClr val="1546BA"/>
                </a:solidFill>
                <a:latin typeface="Montserrat Classic"/>
              </a:rPr>
              <a:t>HLP Lesson Study Series</a:t>
            </a:r>
          </a:p>
        </p:txBody>
      </p:sp>
      <p:sp>
        <p:nvSpPr>
          <p:cNvPr id="17" name="TextBox 17">
            <a:extLst>
              <a:ext uri="{C183D7F6-B498-43B3-948B-1728B52AA6E4}">
                <adec:decorative xmlns:adec="http://schemas.microsoft.com/office/drawing/2017/decorative" val="1"/>
              </a:ext>
            </a:extLst>
          </p:cNvPr>
          <p:cNvSpPr txBox="1"/>
          <p:nvPr/>
        </p:nvSpPr>
        <p:spPr>
          <a:xfrm>
            <a:off x="647700" y="9535203"/>
            <a:ext cx="658470" cy="183084"/>
          </a:xfrm>
          <a:prstGeom prst="rect">
            <a:avLst/>
          </a:prstGeom>
        </p:spPr>
        <p:txBody>
          <a:bodyPr lIns="0" tIns="0" rIns="0" bIns="0" rtlCol="0" anchor="t">
            <a:spAutoFit/>
          </a:bodyPr>
          <a:lstStyle/>
          <a:p>
            <a:pPr>
              <a:lnSpc>
                <a:spcPts val="1399"/>
              </a:lnSpc>
            </a:pPr>
            <a:r>
              <a:rPr lang="en-US" sz="1399" dirty="0">
                <a:solidFill>
                  <a:srgbClr val="1546BA"/>
                </a:solidFill>
                <a:latin typeface="Libre Franklin Bold"/>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C183D7F6-B498-43B3-948B-1728B52AA6E4}">
                <adec:decorative xmlns:adec="http://schemas.microsoft.com/office/drawing/2017/decorative" val="1"/>
              </a:ext>
            </a:extLst>
          </p:cNvPr>
          <p:cNvGrpSpPr/>
          <p:nvPr/>
        </p:nvGrpSpPr>
        <p:grpSpPr>
          <a:xfrm>
            <a:off x="-389745" y="-86668"/>
            <a:ext cx="7701599" cy="10741024"/>
            <a:chOff x="0" y="0"/>
            <a:chExt cx="3831059" cy="5342981"/>
          </a:xfrm>
        </p:grpSpPr>
        <p:sp>
          <p:nvSpPr>
            <p:cNvPr id="3" name="Freeform 3"/>
            <p:cNvSpPr/>
            <p:nvPr/>
          </p:nvSpPr>
          <p:spPr>
            <a:xfrm>
              <a:off x="0" y="0"/>
              <a:ext cx="3831059" cy="5342981"/>
            </a:xfrm>
            <a:custGeom>
              <a:avLst/>
              <a:gdLst/>
              <a:ahLst/>
              <a:cxnLst/>
              <a:rect l="l" t="t" r="r" b="b"/>
              <a:pathLst>
                <a:path w="3831059" h="5342981">
                  <a:moveTo>
                    <a:pt x="0" y="0"/>
                  </a:moveTo>
                  <a:lnTo>
                    <a:pt x="3831059" y="0"/>
                  </a:lnTo>
                  <a:lnTo>
                    <a:pt x="3831059" y="5342981"/>
                  </a:lnTo>
                  <a:lnTo>
                    <a:pt x="0" y="5342981"/>
                  </a:lnTo>
                  <a:close/>
                </a:path>
              </a:pathLst>
            </a:custGeom>
            <a:solidFill>
              <a:srgbClr val="1546BA"/>
            </a:solidFill>
          </p:spPr>
          <p:txBody>
            <a:bodyPr/>
            <a:lstStyle/>
            <a:p>
              <a:endParaRPr lang="en-US"/>
            </a:p>
          </p:txBody>
        </p:sp>
      </p:grpSp>
      <p:sp>
        <p:nvSpPr>
          <p:cNvPr id="4" name="TextBox 4"/>
          <p:cNvSpPr txBox="1">
            <a:spLocks noGrp="1"/>
          </p:cNvSpPr>
          <p:nvPr>
            <p:ph type="title" idx="4294967295"/>
          </p:nvPr>
        </p:nvSpPr>
        <p:spPr>
          <a:xfrm>
            <a:off x="2055795" y="3696098"/>
            <a:ext cx="3696016" cy="3931158"/>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ts val="6216"/>
              </a:lnSpc>
              <a:spcBef>
                <a:spcPts val="0"/>
              </a:spcBef>
              <a:spcAft>
                <a:spcPts val="0"/>
              </a:spcAft>
              <a:buClrTx/>
              <a:buSzTx/>
              <a:buFontTx/>
              <a:buNone/>
              <a:tabLst/>
              <a:defRPr/>
            </a:pPr>
            <a:r>
              <a:rPr kumimoji="0" lang="en-US" sz="5600" b="0" i="0" u="none" strike="noStrike" kern="1200" cap="none" spc="89" normalizeH="0" baseline="0" noProof="0" dirty="0">
                <a:ln>
                  <a:noFill/>
                </a:ln>
                <a:solidFill>
                  <a:srgbClr val="FFFFFF"/>
                </a:solidFill>
                <a:effectLst/>
                <a:uLnTx/>
                <a:uFillTx/>
                <a:latin typeface="Montserrat Classic Bold"/>
                <a:ea typeface="+mn-ea"/>
                <a:cs typeface="+mn-cs"/>
              </a:rPr>
              <a:t>Let's Discuss and Analyze Together</a:t>
            </a:r>
          </a:p>
        </p:txBody>
      </p:sp>
      <p:grpSp>
        <p:nvGrpSpPr>
          <p:cNvPr id="5" name="Group 5">
            <a:extLst>
              <a:ext uri="{C183D7F6-B498-43B3-948B-1728B52AA6E4}">
                <adec:decorative xmlns:adec="http://schemas.microsoft.com/office/drawing/2017/decorative" val="1"/>
              </a:ext>
            </a:extLst>
          </p:cNvPr>
          <p:cNvGrpSpPr/>
          <p:nvPr/>
        </p:nvGrpSpPr>
        <p:grpSpPr>
          <a:xfrm>
            <a:off x="17555768" y="1110614"/>
            <a:ext cx="381000" cy="381000"/>
            <a:chOff x="0" y="0"/>
            <a:chExt cx="508000" cy="508000"/>
          </a:xfrm>
        </p:grpSpPr>
        <p:grpSp>
          <p:nvGrpSpPr>
            <p:cNvPr id="6" name="Group 6"/>
            <p:cNvGrpSpPr>
              <a:grpSpLocks noChangeAspect="1"/>
            </p:cNvGrpSpPr>
            <p:nvPr/>
          </p:nvGrpSpPr>
          <p:grpSpPr>
            <a:xfrm>
              <a:off x="0" y="0"/>
              <a:ext cx="508000" cy="508000"/>
              <a:chOff x="0" y="0"/>
              <a:chExt cx="6355080" cy="6355080"/>
            </a:xfrm>
          </p:grpSpPr>
          <p:sp>
            <p:nvSpPr>
              <p:cNvPr id="7" name="Freeform 7"/>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1546BA"/>
              </a:solidFill>
            </p:spPr>
            <p:txBody>
              <a:bodyPr/>
              <a:lstStyle/>
              <a:p>
                <a:endParaRPr lang="en-US"/>
              </a:p>
            </p:txBody>
          </p:sp>
        </p:grpSp>
        <p:pic>
          <p:nvPicPr>
            <p:cNvPr id="8" name="Picture 8"/>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5400000">
              <a:off x="84667" y="84667"/>
              <a:ext cx="338667" cy="338667"/>
            </a:xfrm>
            <a:prstGeom prst="rect">
              <a:avLst/>
            </a:prstGeom>
          </p:spPr>
        </p:pic>
      </p:grpSp>
      <p:grpSp>
        <p:nvGrpSpPr>
          <p:cNvPr id="9" name="Group 9">
            <a:extLst>
              <a:ext uri="{C183D7F6-B498-43B3-948B-1728B52AA6E4}">
                <adec:decorative xmlns:adec="http://schemas.microsoft.com/office/drawing/2017/decorative" val="1"/>
              </a:ext>
            </a:extLst>
          </p:cNvPr>
          <p:cNvGrpSpPr/>
          <p:nvPr/>
        </p:nvGrpSpPr>
        <p:grpSpPr>
          <a:xfrm rot="-10800000">
            <a:off x="17555768" y="565786"/>
            <a:ext cx="381000" cy="381000"/>
            <a:chOff x="0" y="0"/>
            <a:chExt cx="508000" cy="508000"/>
          </a:xfrm>
        </p:grpSpPr>
        <p:grpSp>
          <p:nvGrpSpPr>
            <p:cNvPr id="10" name="Group 10"/>
            <p:cNvGrpSpPr>
              <a:grpSpLocks noChangeAspect="1"/>
            </p:cNvGrpSpPr>
            <p:nvPr/>
          </p:nvGrpSpPr>
          <p:grpSpPr>
            <a:xfrm>
              <a:off x="0" y="0"/>
              <a:ext cx="508000" cy="508000"/>
              <a:chOff x="0" y="0"/>
              <a:chExt cx="6355080" cy="6355080"/>
            </a:xfrm>
          </p:grpSpPr>
          <p:sp>
            <p:nvSpPr>
              <p:cNvPr id="11" name="Freeform 11"/>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1546BA"/>
              </a:solidFill>
            </p:spPr>
            <p:txBody>
              <a:bodyPr/>
              <a:lstStyle/>
              <a:p>
                <a:endParaRPr lang="en-US"/>
              </a:p>
            </p:txBody>
          </p:sp>
        </p:grpSp>
        <p:pic>
          <p:nvPicPr>
            <p:cNvPr id="12" name="Picture 12"/>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5400000">
              <a:off x="84667" y="84667"/>
              <a:ext cx="338667" cy="338667"/>
            </a:xfrm>
            <a:prstGeom prst="rect">
              <a:avLst/>
            </a:prstGeom>
          </p:spPr>
        </p:pic>
      </p:grpSp>
      <p:sp>
        <p:nvSpPr>
          <p:cNvPr id="15" name="TextBox 15"/>
          <p:cNvSpPr txBox="1"/>
          <p:nvPr/>
        </p:nvSpPr>
        <p:spPr>
          <a:xfrm>
            <a:off x="7937116" y="778205"/>
            <a:ext cx="9477496" cy="310392"/>
          </a:xfrm>
          <a:prstGeom prst="rect">
            <a:avLst/>
          </a:prstGeom>
        </p:spPr>
        <p:txBody>
          <a:bodyPr lIns="0" tIns="0" rIns="0" bIns="0" rtlCol="0" anchor="t">
            <a:spAutoFit/>
          </a:bodyPr>
          <a:lstStyle/>
          <a:p>
            <a:pPr>
              <a:lnSpc>
                <a:spcPts val="2373"/>
              </a:lnSpc>
            </a:pPr>
            <a:r>
              <a:rPr lang="en-US" sz="2373" dirty="0">
                <a:solidFill>
                  <a:srgbClr val="1546BA"/>
                </a:solidFill>
                <a:latin typeface="Montserrat Classic Bold"/>
              </a:rPr>
              <a:t>HLP12 </a:t>
            </a:r>
          </a:p>
        </p:txBody>
      </p:sp>
      <p:sp>
        <p:nvSpPr>
          <p:cNvPr id="14" name="TextBox 14"/>
          <p:cNvSpPr txBox="1"/>
          <p:nvPr/>
        </p:nvSpPr>
        <p:spPr>
          <a:xfrm>
            <a:off x="7937116" y="1311466"/>
            <a:ext cx="9477496" cy="3140347"/>
          </a:xfrm>
          <a:prstGeom prst="rect">
            <a:avLst/>
          </a:prstGeom>
        </p:spPr>
        <p:txBody>
          <a:bodyPr lIns="0" tIns="0" rIns="0" bIns="0" rtlCol="0" anchor="t">
            <a:spAutoFit/>
          </a:bodyPr>
          <a:lstStyle/>
          <a:p>
            <a:pPr marL="0" lvl="0" indent="0" algn="l">
              <a:lnSpc>
                <a:spcPts val="3074"/>
              </a:lnSpc>
              <a:spcBef>
                <a:spcPct val="0"/>
              </a:spcBef>
            </a:pPr>
            <a:r>
              <a:rPr lang="en-US" sz="1900" spc="38" dirty="0">
                <a:solidFill>
                  <a:srgbClr val="241D27"/>
                </a:solidFill>
                <a:latin typeface="Libre Franklin Light"/>
              </a:rPr>
              <a:t>Teachers help students to develop more important concepts and skills that provide the foundation for more complex learning. Teachers sequence lessons that build on each other and make connections explicit in both planning and delivery. They activate students' prior knowledge and show how each lesson "fits" with previous ones. Planning involves careful consideration of learning goals, what is involved in reaching the goals, and allocating time accordingly. Ongoing changes (e.g., pacing, examples) occur throughout the sequence based on student performance (McLeskey et al., 2017, p. 72).</a:t>
            </a:r>
          </a:p>
        </p:txBody>
      </p:sp>
      <p:sp>
        <p:nvSpPr>
          <p:cNvPr id="18" name="TextBox 18"/>
          <p:cNvSpPr txBox="1"/>
          <p:nvPr/>
        </p:nvSpPr>
        <p:spPr>
          <a:xfrm>
            <a:off x="7937116" y="5138588"/>
            <a:ext cx="9667996" cy="271761"/>
          </a:xfrm>
          <a:prstGeom prst="rect">
            <a:avLst/>
          </a:prstGeom>
        </p:spPr>
        <p:txBody>
          <a:bodyPr lIns="0" tIns="0" rIns="0" bIns="0" rtlCol="0" anchor="t">
            <a:spAutoFit/>
          </a:bodyPr>
          <a:lstStyle/>
          <a:p>
            <a:pPr>
              <a:lnSpc>
                <a:spcPts val="2053"/>
              </a:lnSpc>
            </a:pPr>
            <a:r>
              <a:rPr lang="en-US" sz="2053" dirty="0">
                <a:solidFill>
                  <a:srgbClr val="1546BA"/>
                </a:solidFill>
                <a:latin typeface="Montserrat Classic Bold"/>
              </a:rPr>
              <a:t>Pause, Reflect, and Connect = 20 minutes </a:t>
            </a:r>
          </a:p>
        </p:txBody>
      </p:sp>
      <p:sp>
        <p:nvSpPr>
          <p:cNvPr id="17" name="TextBox 17"/>
          <p:cNvSpPr txBox="1"/>
          <p:nvPr/>
        </p:nvSpPr>
        <p:spPr>
          <a:xfrm>
            <a:off x="7937116" y="5609691"/>
            <a:ext cx="9667996" cy="4120358"/>
          </a:xfrm>
          <a:prstGeom prst="rect">
            <a:avLst/>
          </a:prstGeom>
        </p:spPr>
        <p:txBody>
          <a:bodyPr lIns="0" tIns="0" rIns="0" bIns="0" rtlCol="0" anchor="t">
            <a:spAutoFit/>
          </a:bodyPr>
          <a:lstStyle/>
          <a:p>
            <a:pPr marL="358775" lvl="1" indent="-179070">
              <a:lnSpc>
                <a:spcPts val="2659"/>
              </a:lnSpc>
              <a:buFont typeface="Arial"/>
              <a:buChar char="•"/>
            </a:pPr>
            <a:r>
              <a:rPr lang="en-US" sz="1650" b="1" spc="33" dirty="0">
                <a:solidFill>
                  <a:srgbClr val="241D27"/>
                </a:solidFill>
                <a:latin typeface="Libre Franklin Light"/>
              </a:rPr>
              <a:t>Pause</a:t>
            </a:r>
            <a:r>
              <a:rPr lang="en-US" sz="1650" spc="33" dirty="0">
                <a:solidFill>
                  <a:srgbClr val="241D27"/>
                </a:solidFill>
                <a:latin typeface="Libre Franklin Light"/>
              </a:rPr>
              <a:t> to re-read this HLP once more, reviewing your notes and highlights on pp. 70-73 in your HLP text. </a:t>
            </a:r>
            <a:endParaRPr lang="en-US" dirty="0"/>
          </a:p>
          <a:p>
            <a:pPr>
              <a:lnSpc>
                <a:spcPts val="2659"/>
              </a:lnSpc>
            </a:pPr>
            <a:endParaRPr lang="en-US" sz="1662" spc="33" dirty="0">
              <a:solidFill>
                <a:srgbClr val="241D27"/>
              </a:solidFill>
              <a:latin typeface="Libre Franklin Light"/>
            </a:endParaRPr>
          </a:p>
          <a:p>
            <a:pPr marL="358775" lvl="1" indent="-179070">
              <a:lnSpc>
                <a:spcPts val="2659"/>
              </a:lnSpc>
              <a:buFont typeface="Arial"/>
              <a:buChar char="•"/>
            </a:pPr>
            <a:r>
              <a:rPr lang="en-US" sz="1650" b="1" spc="33" dirty="0">
                <a:solidFill>
                  <a:srgbClr val="241D27"/>
                </a:solidFill>
                <a:latin typeface="Libre Franklin Light"/>
              </a:rPr>
              <a:t>Reflect</a:t>
            </a:r>
            <a:r>
              <a:rPr lang="en-US" sz="1650" spc="33" dirty="0">
                <a:solidFill>
                  <a:srgbClr val="241D27"/>
                </a:solidFill>
                <a:latin typeface="Libre Franklin Light"/>
              </a:rPr>
              <a:t> on what the research states in your text about (a) identifying and prioritizing long- and short-term learning goals (HLP11) and (b) systematically designing instruction toward a specific learning goal. Why are these HLPs integral to our teaching practice in the context of inclusive classrooms?</a:t>
            </a:r>
          </a:p>
          <a:p>
            <a:pPr>
              <a:lnSpc>
                <a:spcPts val="2659"/>
              </a:lnSpc>
            </a:pPr>
            <a:endParaRPr lang="en-US" sz="1662" spc="33" dirty="0">
              <a:solidFill>
                <a:srgbClr val="241D27"/>
              </a:solidFill>
              <a:latin typeface="Libre Franklin Light"/>
            </a:endParaRPr>
          </a:p>
          <a:p>
            <a:pPr marL="358775" lvl="1" indent="-179070">
              <a:lnSpc>
                <a:spcPts val="2659"/>
              </a:lnSpc>
              <a:buFont typeface="Arial"/>
              <a:buChar char="•"/>
            </a:pPr>
            <a:r>
              <a:rPr lang="en-US" sz="1650" b="1" spc="33" dirty="0">
                <a:solidFill>
                  <a:srgbClr val="241D27"/>
                </a:solidFill>
                <a:latin typeface="Libre Franklin Light"/>
              </a:rPr>
              <a:t>Connect</a:t>
            </a:r>
            <a:r>
              <a:rPr lang="en-US" sz="1650" spc="33" dirty="0">
                <a:solidFill>
                  <a:srgbClr val="241D27"/>
                </a:solidFill>
                <a:latin typeface="Libre Franklin Light"/>
              </a:rPr>
              <a:t> the concept of systematically designed instruction to your practicum classroom. What does planning look like in your practicum classroom? How do you currently plan and prepare for lessons that you teach? </a:t>
            </a:r>
          </a:p>
          <a:p>
            <a:pPr marL="0" lvl="0" indent="0" algn="l">
              <a:lnSpc>
                <a:spcPts val="2659"/>
              </a:lnSpc>
              <a:spcBef>
                <a:spcPct val="0"/>
              </a:spcBef>
            </a:pPr>
            <a:endParaRPr lang="en-US" sz="1662" spc="33" dirty="0">
              <a:solidFill>
                <a:srgbClr val="241D27"/>
              </a:solidFill>
              <a:latin typeface="Libre Franklin Light"/>
            </a:endParaRPr>
          </a:p>
        </p:txBody>
      </p:sp>
      <p:grpSp>
        <p:nvGrpSpPr>
          <p:cNvPr id="19" name="Group 19">
            <a:extLst>
              <a:ext uri="{C183D7F6-B498-43B3-948B-1728B52AA6E4}">
                <adec:decorative xmlns:adec="http://schemas.microsoft.com/office/drawing/2017/decorative" val="1"/>
              </a:ext>
            </a:extLst>
          </p:cNvPr>
          <p:cNvGrpSpPr/>
          <p:nvPr/>
        </p:nvGrpSpPr>
        <p:grpSpPr>
          <a:xfrm>
            <a:off x="2055795" y="2241926"/>
            <a:ext cx="1157531" cy="1157531"/>
            <a:chOff x="0" y="0"/>
            <a:chExt cx="1543375" cy="1543375"/>
          </a:xfrm>
        </p:grpSpPr>
        <p:grpSp>
          <p:nvGrpSpPr>
            <p:cNvPr id="20" name="Group 20"/>
            <p:cNvGrpSpPr/>
            <p:nvPr/>
          </p:nvGrpSpPr>
          <p:grpSpPr>
            <a:xfrm>
              <a:off x="0" y="0"/>
              <a:ext cx="1543375" cy="1543375"/>
              <a:chOff x="0" y="0"/>
              <a:chExt cx="6350000" cy="6350000"/>
            </a:xfrm>
          </p:grpSpPr>
          <p:sp>
            <p:nvSpPr>
              <p:cNvPr id="21" name="Freeform 21"/>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FFFF"/>
              </a:solidFill>
            </p:spPr>
            <p:txBody>
              <a:bodyPr/>
              <a:lstStyle/>
              <a:p>
                <a:endParaRPr lang="en-US"/>
              </a:p>
            </p:txBody>
          </p:sp>
        </p:grpSp>
        <p:pic>
          <p:nvPicPr>
            <p:cNvPr id="22" name="Picture 22"/>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307325" y="436502"/>
              <a:ext cx="928724" cy="670370"/>
            </a:xfrm>
            <a:prstGeom prst="rect">
              <a:avLst/>
            </a:prstGeom>
          </p:spPr>
        </p:pic>
      </p:grpSp>
      <p:pic>
        <p:nvPicPr>
          <p:cNvPr id="23" name="Picture 23">
            <a:extLst>
              <a:ext uri="{C183D7F6-B498-43B3-948B-1728B52AA6E4}">
                <adec:decorative xmlns:adec="http://schemas.microsoft.com/office/drawing/2017/decorative" val="1"/>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rot="-5400000">
            <a:off x="565746" y="2785442"/>
            <a:ext cx="544908" cy="381000"/>
          </a:xfrm>
          <a:prstGeom prst="rect">
            <a:avLst/>
          </a:prstGeom>
        </p:spPr>
      </p:pic>
      <p:sp>
        <p:nvSpPr>
          <p:cNvPr id="24" name="TextBox 24">
            <a:extLst>
              <a:ext uri="{C183D7F6-B498-43B3-948B-1728B52AA6E4}">
                <adec:decorative xmlns:adec="http://schemas.microsoft.com/office/drawing/2017/decorative" val="1"/>
              </a:ext>
            </a:extLst>
          </p:cNvPr>
          <p:cNvSpPr txBox="1"/>
          <p:nvPr/>
        </p:nvSpPr>
        <p:spPr>
          <a:xfrm rot="-5400000">
            <a:off x="-78806" y="1446066"/>
            <a:ext cx="1804414" cy="424852"/>
          </a:xfrm>
          <a:prstGeom prst="rect">
            <a:avLst/>
          </a:prstGeom>
        </p:spPr>
        <p:txBody>
          <a:bodyPr lIns="0" tIns="0" rIns="0" bIns="0" rtlCol="0" anchor="t">
            <a:spAutoFit/>
          </a:bodyPr>
          <a:lstStyle/>
          <a:p>
            <a:pPr>
              <a:lnSpc>
                <a:spcPts val="1710"/>
              </a:lnSpc>
            </a:pPr>
            <a:r>
              <a:rPr lang="en-US" sz="1710" dirty="0">
                <a:solidFill>
                  <a:srgbClr val="FFFFFF"/>
                </a:solidFill>
                <a:latin typeface="Montserrat Classic"/>
              </a:rPr>
              <a:t>HLP Lesson Study Series </a:t>
            </a:r>
          </a:p>
        </p:txBody>
      </p:sp>
      <p:sp>
        <p:nvSpPr>
          <p:cNvPr id="25" name="TextBox 25">
            <a:extLst>
              <a:ext uri="{C183D7F6-B498-43B3-948B-1728B52AA6E4}">
                <adec:decorative xmlns:adec="http://schemas.microsoft.com/office/drawing/2017/decorative" val="1"/>
              </a:ext>
            </a:extLst>
          </p:cNvPr>
          <p:cNvSpPr txBox="1"/>
          <p:nvPr/>
        </p:nvSpPr>
        <p:spPr>
          <a:xfrm>
            <a:off x="647700" y="9535203"/>
            <a:ext cx="658470" cy="183084"/>
          </a:xfrm>
          <a:prstGeom prst="rect">
            <a:avLst/>
          </a:prstGeom>
        </p:spPr>
        <p:txBody>
          <a:bodyPr lIns="0" tIns="0" rIns="0" bIns="0" rtlCol="0" anchor="t">
            <a:spAutoFit/>
          </a:bodyPr>
          <a:lstStyle/>
          <a:p>
            <a:pPr>
              <a:lnSpc>
                <a:spcPts val="1399"/>
              </a:lnSpc>
            </a:pPr>
            <a:r>
              <a:rPr lang="en-US" sz="1399" dirty="0">
                <a:solidFill>
                  <a:srgbClr val="FFFFFF"/>
                </a:solidFill>
                <a:latin typeface="Libre Franklin Bold"/>
              </a:rP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11C5D"/>
        </a:solidFill>
        <a:effectLst/>
      </p:bgPr>
    </p:bg>
    <p:spTree>
      <p:nvGrpSpPr>
        <p:cNvPr id="1" name=""/>
        <p:cNvGrpSpPr/>
        <p:nvPr/>
      </p:nvGrpSpPr>
      <p:grpSpPr>
        <a:xfrm>
          <a:off x="0" y="0"/>
          <a:ext cx="0" cy="0"/>
          <a:chOff x="0" y="0"/>
          <a:chExt cx="0" cy="0"/>
        </a:xfrm>
      </p:grpSpPr>
      <p:grpSp>
        <p:nvGrpSpPr>
          <p:cNvPr id="2" name="Group 2">
            <a:extLst>
              <a:ext uri="{C183D7F6-B498-43B3-948B-1728B52AA6E4}">
                <adec:decorative xmlns:adec="http://schemas.microsoft.com/office/drawing/2017/decorative" val="1"/>
              </a:ext>
            </a:extLst>
          </p:cNvPr>
          <p:cNvGrpSpPr/>
          <p:nvPr/>
        </p:nvGrpSpPr>
        <p:grpSpPr>
          <a:xfrm>
            <a:off x="17555768" y="1110614"/>
            <a:ext cx="381000" cy="381000"/>
            <a:chOff x="0" y="0"/>
            <a:chExt cx="508000" cy="508000"/>
          </a:xfrm>
        </p:grpSpPr>
        <p:grpSp>
          <p:nvGrpSpPr>
            <p:cNvPr id="3" name="Group 3"/>
            <p:cNvGrpSpPr>
              <a:grpSpLocks noChangeAspect="1"/>
            </p:cNvGrpSpPr>
            <p:nvPr/>
          </p:nvGrpSpPr>
          <p:grpSpPr>
            <a:xfrm>
              <a:off x="0" y="0"/>
              <a:ext cx="508000" cy="508000"/>
              <a:chOff x="0" y="0"/>
              <a:chExt cx="6355080" cy="6355080"/>
            </a:xfrm>
          </p:grpSpPr>
          <p:sp>
            <p:nvSpPr>
              <p:cNvPr id="4" name="Freeform 4"/>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FFFFFF"/>
              </a:solidFill>
            </p:spPr>
            <p:txBody>
              <a:bodyPr/>
              <a:lstStyle/>
              <a:p>
                <a:endParaRPr lang="en-US"/>
              </a:p>
            </p:txBody>
          </p:sp>
        </p:gr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5400000">
              <a:off x="84667" y="84667"/>
              <a:ext cx="338667" cy="338667"/>
            </a:xfrm>
            <a:prstGeom prst="rect">
              <a:avLst/>
            </a:prstGeom>
          </p:spPr>
        </p:pic>
      </p:grpSp>
      <p:grpSp>
        <p:nvGrpSpPr>
          <p:cNvPr id="6" name="Group 6">
            <a:extLst>
              <a:ext uri="{C183D7F6-B498-43B3-948B-1728B52AA6E4}">
                <adec:decorative xmlns:adec="http://schemas.microsoft.com/office/drawing/2017/decorative" val="1"/>
              </a:ext>
            </a:extLst>
          </p:cNvPr>
          <p:cNvGrpSpPr/>
          <p:nvPr/>
        </p:nvGrpSpPr>
        <p:grpSpPr>
          <a:xfrm rot="-10800000">
            <a:off x="17555768" y="565786"/>
            <a:ext cx="381000" cy="381000"/>
            <a:chOff x="0" y="0"/>
            <a:chExt cx="508000" cy="508000"/>
          </a:xfrm>
        </p:grpSpPr>
        <p:grpSp>
          <p:nvGrpSpPr>
            <p:cNvPr id="7" name="Group 7"/>
            <p:cNvGrpSpPr>
              <a:grpSpLocks noChangeAspect="1"/>
            </p:cNvGrpSpPr>
            <p:nvPr/>
          </p:nvGrpSpPr>
          <p:grpSpPr>
            <a:xfrm>
              <a:off x="0" y="0"/>
              <a:ext cx="508000" cy="508000"/>
              <a:chOff x="0" y="0"/>
              <a:chExt cx="6355080" cy="6355080"/>
            </a:xfrm>
          </p:grpSpPr>
          <p:sp>
            <p:nvSpPr>
              <p:cNvPr id="8" name="Freeform 8"/>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FFFFFF"/>
              </a:solidFill>
            </p:spPr>
            <p:txBody>
              <a:bodyPr/>
              <a:lstStyle/>
              <a:p>
                <a:endParaRPr lang="en-US"/>
              </a:p>
            </p:txBody>
          </p:sp>
        </p:grpSp>
        <p:pic>
          <p:nvPicPr>
            <p:cNvPr id="9" name="Picture 9"/>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5400000">
              <a:off x="84667" y="84667"/>
              <a:ext cx="338667" cy="338667"/>
            </a:xfrm>
            <a:prstGeom prst="rect">
              <a:avLst/>
            </a:prstGeom>
          </p:spPr>
        </p:pic>
      </p:grpSp>
      <p:sp>
        <p:nvSpPr>
          <p:cNvPr id="10" name="TextBox 10"/>
          <p:cNvSpPr txBox="1">
            <a:spLocks noGrp="1"/>
          </p:cNvSpPr>
          <p:nvPr>
            <p:ph type="title" idx="4294967295"/>
          </p:nvPr>
        </p:nvSpPr>
        <p:spPr>
          <a:xfrm>
            <a:off x="3937193" y="2319059"/>
            <a:ext cx="8071062" cy="806958"/>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ts val="6216"/>
              </a:lnSpc>
              <a:spcBef>
                <a:spcPts val="0"/>
              </a:spcBef>
              <a:spcAft>
                <a:spcPts val="0"/>
              </a:spcAft>
              <a:buClrTx/>
              <a:buSzTx/>
              <a:buFontTx/>
              <a:buNone/>
              <a:tabLst/>
              <a:defRPr/>
            </a:pPr>
            <a:r>
              <a:rPr kumimoji="0" lang="en-US" sz="5600" b="0" i="0" u="none" strike="noStrike" kern="1200" cap="none" spc="89" normalizeH="0" baseline="0" noProof="0" dirty="0">
                <a:ln>
                  <a:noFill/>
                </a:ln>
                <a:solidFill>
                  <a:srgbClr val="FFFFFF"/>
                </a:solidFill>
                <a:effectLst/>
                <a:uLnTx/>
                <a:uFillTx/>
                <a:latin typeface="Montserrat Classic Bold"/>
                <a:ea typeface="+mn-ea"/>
                <a:cs typeface="+mn-cs"/>
              </a:rPr>
              <a:t>Clear Learning Goals</a:t>
            </a:r>
          </a:p>
        </p:txBody>
      </p:sp>
      <p:grpSp>
        <p:nvGrpSpPr>
          <p:cNvPr id="11" name="Group 11">
            <a:extLst>
              <a:ext uri="{C183D7F6-B498-43B3-948B-1728B52AA6E4}">
                <adec:decorative xmlns:adec="http://schemas.microsoft.com/office/drawing/2017/decorative" val="1"/>
              </a:ext>
            </a:extLst>
          </p:cNvPr>
          <p:cNvGrpSpPr/>
          <p:nvPr/>
        </p:nvGrpSpPr>
        <p:grpSpPr>
          <a:xfrm>
            <a:off x="2076025" y="3884320"/>
            <a:ext cx="15183275" cy="3826753"/>
            <a:chOff x="0" y="0"/>
            <a:chExt cx="20244366" cy="5102337"/>
          </a:xfrm>
        </p:grpSpPr>
        <p:grpSp>
          <p:nvGrpSpPr>
            <p:cNvPr id="12" name="Group 12"/>
            <p:cNvGrpSpPr/>
            <p:nvPr/>
          </p:nvGrpSpPr>
          <p:grpSpPr>
            <a:xfrm>
              <a:off x="0" y="0"/>
              <a:ext cx="20244366" cy="5102337"/>
              <a:chOff x="0" y="0"/>
              <a:chExt cx="18000471" cy="4536791"/>
            </a:xfrm>
          </p:grpSpPr>
          <p:sp>
            <p:nvSpPr>
              <p:cNvPr id="13" name="Freeform 13"/>
              <p:cNvSpPr/>
              <p:nvPr/>
            </p:nvSpPr>
            <p:spPr>
              <a:xfrm>
                <a:off x="0" y="0"/>
                <a:ext cx="18000472" cy="4536791"/>
              </a:xfrm>
              <a:custGeom>
                <a:avLst/>
                <a:gdLst/>
                <a:ahLst/>
                <a:cxnLst/>
                <a:rect l="l" t="t" r="r" b="b"/>
                <a:pathLst>
                  <a:path w="18000472" h="4536791">
                    <a:moveTo>
                      <a:pt x="0" y="0"/>
                    </a:moveTo>
                    <a:lnTo>
                      <a:pt x="18000472" y="0"/>
                    </a:lnTo>
                    <a:lnTo>
                      <a:pt x="18000472" y="4536791"/>
                    </a:lnTo>
                    <a:lnTo>
                      <a:pt x="0" y="4536791"/>
                    </a:lnTo>
                    <a:close/>
                  </a:path>
                </a:pathLst>
              </a:custGeom>
              <a:solidFill>
                <a:srgbClr val="1546BA"/>
              </a:solidFill>
            </p:spPr>
            <p:txBody>
              <a:bodyPr/>
              <a:lstStyle/>
              <a:p>
                <a:endParaRPr lang="en-US"/>
              </a:p>
            </p:txBody>
          </p:sp>
        </p:grpSp>
        <p:sp>
          <p:nvSpPr>
            <p:cNvPr id="14" name="TextBox 14"/>
            <p:cNvSpPr txBox="1"/>
            <p:nvPr/>
          </p:nvSpPr>
          <p:spPr>
            <a:xfrm>
              <a:off x="510032" y="451367"/>
              <a:ext cx="19171790" cy="4051774"/>
            </a:xfrm>
            <a:prstGeom prst="rect">
              <a:avLst/>
            </a:prstGeom>
          </p:spPr>
          <p:txBody>
            <a:bodyPr lIns="0" tIns="0" rIns="0" bIns="0" rtlCol="0" anchor="t">
              <a:spAutoFit/>
            </a:bodyPr>
            <a:lstStyle/>
            <a:p>
              <a:pPr marL="0" lvl="0" indent="0">
                <a:lnSpc>
                  <a:spcPts val="4094"/>
                </a:lnSpc>
                <a:spcBef>
                  <a:spcPct val="0"/>
                </a:spcBef>
              </a:pPr>
              <a:r>
                <a:rPr lang="en-US" sz="2559" spc="51" dirty="0">
                  <a:solidFill>
                    <a:srgbClr val="FFFFFF"/>
                  </a:solidFill>
                  <a:latin typeface="Libre Franklin Light"/>
                </a:rPr>
                <a:t>Establishing and communicating clear learning goals gives teachers and students directions for planning. Clear learning goals help teachers know what to teach and assess, students understand what they are expected to learn, and parents better understand student progress to become more engaged in student learning. More importantly, when teachers are clear about their learning targets, student achievement is POSITIVELY AFFECTED (Konrad et al., 2019, p. 158)</a:t>
              </a:r>
            </a:p>
          </p:txBody>
        </p:sp>
      </p:grpSp>
      <p:pic>
        <p:nvPicPr>
          <p:cNvPr id="15" name="Picture 15">
            <a:extLs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2076025" y="1643527"/>
            <a:ext cx="1529774" cy="1482490"/>
          </a:xfrm>
          <a:prstGeom prst="rect">
            <a:avLst/>
          </a:prstGeom>
        </p:spPr>
      </p:pic>
      <p:pic>
        <p:nvPicPr>
          <p:cNvPr id="16" name="Picture 16">
            <a:extLst>
              <a:ext uri="{C183D7F6-B498-43B3-948B-1728B52AA6E4}">
                <adec:decorative xmlns:adec="http://schemas.microsoft.com/office/drawing/2017/decorative" val="1"/>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rot="-5400000">
            <a:off x="565746" y="2785442"/>
            <a:ext cx="544908" cy="381000"/>
          </a:xfrm>
          <a:prstGeom prst="rect">
            <a:avLst/>
          </a:prstGeom>
        </p:spPr>
      </p:pic>
      <p:sp>
        <p:nvSpPr>
          <p:cNvPr id="17" name="TextBox 17"/>
          <p:cNvSpPr txBox="1"/>
          <p:nvPr/>
        </p:nvSpPr>
        <p:spPr>
          <a:xfrm rot="-5400000">
            <a:off x="-78806" y="1446066"/>
            <a:ext cx="1804414" cy="424852"/>
          </a:xfrm>
          <a:prstGeom prst="rect">
            <a:avLst/>
          </a:prstGeom>
        </p:spPr>
        <p:txBody>
          <a:bodyPr lIns="0" tIns="0" rIns="0" bIns="0" rtlCol="0" anchor="t">
            <a:spAutoFit/>
          </a:bodyPr>
          <a:lstStyle/>
          <a:p>
            <a:pPr>
              <a:lnSpc>
                <a:spcPts val="1710"/>
              </a:lnSpc>
            </a:pPr>
            <a:r>
              <a:rPr lang="en-US" sz="1710" dirty="0">
                <a:solidFill>
                  <a:srgbClr val="FFFFFF"/>
                </a:solidFill>
                <a:latin typeface="Montserrat Classic"/>
              </a:rPr>
              <a:t>HLP Lesson Study Series</a:t>
            </a:r>
          </a:p>
        </p:txBody>
      </p:sp>
      <p:sp>
        <p:nvSpPr>
          <p:cNvPr id="18" name="TextBox 18"/>
          <p:cNvSpPr txBox="1"/>
          <p:nvPr/>
        </p:nvSpPr>
        <p:spPr>
          <a:xfrm>
            <a:off x="647700" y="9535203"/>
            <a:ext cx="658470" cy="183084"/>
          </a:xfrm>
          <a:prstGeom prst="rect">
            <a:avLst/>
          </a:prstGeom>
        </p:spPr>
        <p:txBody>
          <a:bodyPr lIns="0" tIns="0" rIns="0" bIns="0" rtlCol="0" anchor="t">
            <a:spAutoFit/>
          </a:bodyPr>
          <a:lstStyle/>
          <a:p>
            <a:pPr>
              <a:lnSpc>
                <a:spcPts val="1399"/>
              </a:lnSpc>
            </a:pPr>
            <a:r>
              <a:rPr lang="en-US" sz="1399" dirty="0">
                <a:solidFill>
                  <a:srgbClr val="FFFFFF"/>
                </a:solidFill>
                <a:latin typeface="Libre Franklin Bold"/>
              </a:rP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11C5D"/>
        </a:solidFill>
        <a:effectLst/>
      </p:bgPr>
    </p:bg>
    <p:spTree>
      <p:nvGrpSpPr>
        <p:cNvPr id="1" name=""/>
        <p:cNvGrpSpPr/>
        <p:nvPr/>
      </p:nvGrpSpPr>
      <p:grpSpPr>
        <a:xfrm>
          <a:off x="0" y="0"/>
          <a:ext cx="0" cy="0"/>
          <a:chOff x="0" y="0"/>
          <a:chExt cx="0" cy="0"/>
        </a:xfrm>
      </p:grpSpPr>
      <p:grpSp>
        <p:nvGrpSpPr>
          <p:cNvPr id="2" name="Group 2">
            <a:extLst>
              <a:ext uri="{C183D7F6-B498-43B3-948B-1728B52AA6E4}">
                <adec:decorative xmlns:adec="http://schemas.microsoft.com/office/drawing/2017/decorative" val="1"/>
              </a:ext>
            </a:extLst>
          </p:cNvPr>
          <p:cNvGrpSpPr/>
          <p:nvPr/>
        </p:nvGrpSpPr>
        <p:grpSpPr>
          <a:xfrm>
            <a:off x="17555768" y="1110614"/>
            <a:ext cx="381000" cy="381000"/>
            <a:chOff x="0" y="0"/>
            <a:chExt cx="508000" cy="508000"/>
          </a:xfrm>
        </p:grpSpPr>
        <p:grpSp>
          <p:nvGrpSpPr>
            <p:cNvPr id="3" name="Group 3"/>
            <p:cNvGrpSpPr>
              <a:grpSpLocks noChangeAspect="1"/>
            </p:cNvGrpSpPr>
            <p:nvPr/>
          </p:nvGrpSpPr>
          <p:grpSpPr>
            <a:xfrm>
              <a:off x="0" y="0"/>
              <a:ext cx="508000" cy="508000"/>
              <a:chOff x="0" y="0"/>
              <a:chExt cx="6355080" cy="6355080"/>
            </a:xfrm>
          </p:grpSpPr>
          <p:sp>
            <p:nvSpPr>
              <p:cNvPr id="4" name="Freeform 4"/>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FFFFFF"/>
              </a:solidFill>
            </p:spPr>
            <p:txBody>
              <a:bodyPr/>
              <a:lstStyle/>
              <a:p>
                <a:endParaRPr lang="en-US"/>
              </a:p>
            </p:txBody>
          </p:sp>
        </p:grp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rot="5400000">
              <a:off x="84667" y="84667"/>
              <a:ext cx="338667" cy="338667"/>
            </a:xfrm>
            <a:prstGeom prst="rect">
              <a:avLst/>
            </a:prstGeom>
          </p:spPr>
        </p:pic>
      </p:grpSp>
      <p:grpSp>
        <p:nvGrpSpPr>
          <p:cNvPr id="6" name="Group 6">
            <a:extLst>
              <a:ext uri="{C183D7F6-B498-43B3-948B-1728B52AA6E4}">
                <adec:decorative xmlns:adec="http://schemas.microsoft.com/office/drawing/2017/decorative" val="1"/>
              </a:ext>
            </a:extLst>
          </p:cNvPr>
          <p:cNvGrpSpPr/>
          <p:nvPr/>
        </p:nvGrpSpPr>
        <p:grpSpPr>
          <a:xfrm rot="-10800000">
            <a:off x="17555768" y="565786"/>
            <a:ext cx="381000" cy="381000"/>
            <a:chOff x="0" y="0"/>
            <a:chExt cx="508000" cy="508000"/>
          </a:xfrm>
        </p:grpSpPr>
        <p:grpSp>
          <p:nvGrpSpPr>
            <p:cNvPr id="7" name="Group 7"/>
            <p:cNvGrpSpPr>
              <a:grpSpLocks noChangeAspect="1"/>
            </p:cNvGrpSpPr>
            <p:nvPr/>
          </p:nvGrpSpPr>
          <p:grpSpPr>
            <a:xfrm>
              <a:off x="0" y="0"/>
              <a:ext cx="508000" cy="508000"/>
              <a:chOff x="0" y="0"/>
              <a:chExt cx="6355080" cy="6355080"/>
            </a:xfrm>
          </p:grpSpPr>
          <p:sp>
            <p:nvSpPr>
              <p:cNvPr id="8" name="Freeform 8"/>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FFFFFF"/>
              </a:solidFill>
            </p:spPr>
            <p:txBody>
              <a:bodyPr/>
              <a:lstStyle/>
              <a:p>
                <a:endParaRPr lang="en-US"/>
              </a:p>
            </p:txBody>
          </p:sp>
        </p:gr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rot="5400000">
              <a:off x="84667" y="84667"/>
              <a:ext cx="338667" cy="338667"/>
            </a:xfrm>
            <a:prstGeom prst="rect">
              <a:avLst/>
            </a:prstGeom>
          </p:spPr>
        </p:pic>
      </p:grpSp>
      <p:pic>
        <p:nvPicPr>
          <p:cNvPr id="10" name="Picture 10">
            <a:extLst>
              <a:ext uri="{C183D7F6-B498-43B3-948B-1728B52AA6E4}">
                <adec:decorative xmlns:adec="http://schemas.microsoft.com/office/drawing/2017/decorative" val="1"/>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rot="-5400000">
            <a:off x="565746" y="2785442"/>
            <a:ext cx="544908" cy="381000"/>
          </a:xfrm>
          <a:prstGeom prst="rect">
            <a:avLst/>
          </a:prstGeom>
        </p:spPr>
      </p:pic>
      <p:sp>
        <p:nvSpPr>
          <p:cNvPr id="11" name="TextBox 11"/>
          <p:cNvSpPr txBox="1">
            <a:spLocks noGrp="1"/>
          </p:cNvSpPr>
          <p:nvPr>
            <p:ph type="title" idx="4294967295"/>
          </p:nvPr>
        </p:nvSpPr>
        <p:spPr>
          <a:xfrm>
            <a:off x="1764110" y="1753742"/>
            <a:ext cx="13478319" cy="806958"/>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ts val="6216"/>
              </a:lnSpc>
              <a:spcBef>
                <a:spcPts val="0"/>
              </a:spcBef>
              <a:spcAft>
                <a:spcPts val="0"/>
              </a:spcAft>
              <a:buClrTx/>
              <a:buSzTx/>
              <a:buFontTx/>
              <a:buNone/>
              <a:tabLst/>
              <a:defRPr/>
            </a:pPr>
            <a:r>
              <a:rPr kumimoji="0" lang="en-US" sz="5600" b="0" i="0" u="none" strike="noStrike" kern="1200" cap="none" spc="89" normalizeH="0" baseline="0" noProof="0" dirty="0">
                <a:ln>
                  <a:noFill/>
                </a:ln>
                <a:solidFill>
                  <a:srgbClr val="FFFFFF"/>
                </a:solidFill>
                <a:effectLst/>
                <a:uLnTx/>
                <a:uFillTx/>
                <a:latin typeface="Montserrat Classic Bold"/>
                <a:ea typeface="+mn-ea"/>
                <a:cs typeface="+mn-cs"/>
              </a:rPr>
              <a:t>HLP12 Video Review = 25 minutes </a:t>
            </a:r>
          </a:p>
        </p:txBody>
      </p:sp>
      <p:sp>
        <p:nvSpPr>
          <p:cNvPr id="12" name="TextBox 12"/>
          <p:cNvSpPr txBox="1"/>
          <p:nvPr/>
        </p:nvSpPr>
        <p:spPr>
          <a:xfrm rot="-5400000">
            <a:off x="-78806" y="1446066"/>
            <a:ext cx="1804414" cy="424852"/>
          </a:xfrm>
          <a:prstGeom prst="rect">
            <a:avLst/>
          </a:prstGeom>
        </p:spPr>
        <p:txBody>
          <a:bodyPr lIns="0" tIns="0" rIns="0" bIns="0" rtlCol="0" anchor="t">
            <a:spAutoFit/>
          </a:bodyPr>
          <a:lstStyle/>
          <a:p>
            <a:pPr>
              <a:lnSpc>
                <a:spcPts val="1710"/>
              </a:lnSpc>
            </a:pPr>
            <a:r>
              <a:rPr lang="en-US" sz="1710" dirty="0">
                <a:solidFill>
                  <a:srgbClr val="FFFFFF"/>
                </a:solidFill>
                <a:latin typeface="Montserrat Classic"/>
              </a:rPr>
              <a:t>HLP Lesson Study Series</a:t>
            </a:r>
          </a:p>
        </p:txBody>
      </p:sp>
      <p:sp>
        <p:nvSpPr>
          <p:cNvPr id="13" name="TextBox 13"/>
          <p:cNvSpPr txBox="1"/>
          <p:nvPr/>
        </p:nvSpPr>
        <p:spPr>
          <a:xfrm>
            <a:off x="647700" y="9535203"/>
            <a:ext cx="658470" cy="183084"/>
          </a:xfrm>
          <a:prstGeom prst="rect">
            <a:avLst/>
          </a:prstGeom>
        </p:spPr>
        <p:txBody>
          <a:bodyPr lIns="0" tIns="0" rIns="0" bIns="0" rtlCol="0" anchor="t">
            <a:spAutoFit/>
          </a:bodyPr>
          <a:lstStyle/>
          <a:p>
            <a:pPr>
              <a:lnSpc>
                <a:spcPts val="1399"/>
              </a:lnSpc>
            </a:pPr>
            <a:r>
              <a:rPr lang="en-US" sz="1399" dirty="0">
                <a:solidFill>
                  <a:srgbClr val="FFFFFF"/>
                </a:solidFill>
                <a:latin typeface="Libre Franklin Bold"/>
              </a:rPr>
              <a:t>07</a:t>
            </a:r>
          </a:p>
        </p:txBody>
      </p:sp>
      <p:grpSp>
        <p:nvGrpSpPr>
          <p:cNvPr id="14" name="Group 14">
            <a:extLst>
              <a:ext uri="{C183D7F6-B498-43B3-948B-1728B52AA6E4}">
                <adec:decorative xmlns:adec="http://schemas.microsoft.com/office/drawing/2017/decorative" val="1"/>
              </a:ext>
            </a:extLst>
          </p:cNvPr>
          <p:cNvGrpSpPr/>
          <p:nvPr/>
        </p:nvGrpSpPr>
        <p:grpSpPr>
          <a:xfrm>
            <a:off x="12496049" y="2838946"/>
            <a:ext cx="4598659" cy="3173410"/>
            <a:chOff x="0" y="0"/>
            <a:chExt cx="6131546" cy="4231213"/>
          </a:xfrm>
        </p:grpSpPr>
        <p:grpSp>
          <p:nvGrpSpPr>
            <p:cNvPr id="15" name="Group 15"/>
            <p:cNvGrpSpPr/>
            <p:nvPr/>
          </p:nvGrpSpPr>
          <p:grpSpPr>
            <a:xfrm>
              <a:off x="0" y="0"/>
              <a:ext cx="6131546" cy="4231213"/>
              <a:chOff x="0" y="0"/>
              <a:chExt cx="12887021" cy="8892984"/>
            </a:xfrm>
          </p:grpSpPr>
          <p:sp>
            <p:nvSpPr>
              <p:cNvPr id="16" name="Freeform 16"/>
              <p:cNvSpPr/>
              <p:nvPr/>
            </p:nvSpPr>
            <p:spPr>
              <a:xfrm>
                <a:off x="0" y="0"/>
                <a:ext cx="12887021" cy="8892984"/>
              </a:xfrm>
              <a:custGeom>
                <a:avLst/>
                <a:gdLst/>
                <a:ahLst/>
                <a:cxnLst/>
                <a:rect l="l" t="t" r="r" b="b"/>
                <a:pathLst>
                  <a:path w="12887021" h="8892984">
                    <a:moveTo>
                      <a:pt x="0" y="0"/>
                    </a:moveTo>
                    <a:lnTo>
                      <a:pt x="12887021" y="0"/>
                    </a:lnTo>
                    <a:lnTo>
                      <a:pt x="12887021" y="8892984"/>
                    </a:lnTo>
                    <a:lnTo>
                      <a:pt x="0" y="8892984"/>
                    </a:lnTo>
                    <a:close/>
                  </a:path>
                </a:pathLst>
              </a:custGeom>
              <a:solidFill>
                <a:srgbClr val="1546BA"/>
              </a:solidFill>
            </p:spPr>
            <p:txBody>
              <a:bodyPr/>
              <a:lstStyle/>
              <a:p>
                <a:endParaRPr lang="en-US"/>
              </a:p>
            </p:txBody>
          </p:sp>
        </p:grpSp>
        <p:sp>
          <p:nvSpPr>
            <p:cNvPr id="17" name="TextBox 17"/>
            <p:cNvSpPr txBox="1"/>
            <p:nvPr/>
          </p:nvSpPr>
          <p:spPr>
            <a:xfrm>
              <a:off x="154477" y="164574"/>
              <a:ext cx="5806687" cy="3813146"/>
            </a:xfrm>
            <a:prstGeom prst="rect">
              <a:avLst/>
            </a:prstGeom>
          </p:spPr>
          <p:txBody>
            <a:bodyPr lIns="0" tIns="0" rIns="0" bIns="0" rtlCol="0" anchor="t">
              <a:spAutoFit/>
            </a:bodyPr>
            <a:lstStyle/>
            <a:p>
              <a:pPr>
                <a:lnSpc>
                  <a:spcPts val="2883"/>
                </a:lnSpc>
              </a:pPr>
              <a:r>
                <a:rPr lang="en-US" sz="1802" spc="36" dirty="0">
                  <a:solidFill>
                    <a:srgbClr val="FFFFFF"/>
                  </a:solidFill>
                  <a:latin typeface="Libre Franklin Light"/>
                </a:rPr>
                <a:t>In your Reading Response Journal, respond to the prompts in the graphic organizer under HLP12 as you watch the video. </a:t>
              </a:r>
            </a:p>
            <a:p>
              <a:pPr>
                <a:lnSpc>
                  <a:spcPts val="2883"/>
                </a:lnSpc>
              </a:pPr>
              <a:endParaRPr lang="en-US" sz="1802" spc="36" dirty="0">
                <a:solidFill>
                  <a:srgbClr val="FFFFFF"/>
                </a:solidFill>
                <a:latin typeface="Libre Franklin Light"/>
              </a:endParaRPr>
            </a:p>
            <a:p>
              <a:pPr marL="0" lvl="0" indent="0">
                <a:lnSpc>
                  <a:spcPts val="2883"/>
                </a:lnSpc>
                <a:spcBef>
                  <a:spcPct val="0"/>
                </a:spcBef>
              </a:pPr>
              <a:r>
                <a:rPr lang="en-US" sz="1802" spc="36" dirty="0">
                  <a:solidFill>
                    <a:srgbClr val="FFFFFF"/>
                  </a:solidFill>
                  <a:latin typeface="Libre Franklin Light"/>
                </a:rPr>
                <a:t>Pause the video to record your thoughts and refer to your text as needed. </a:t>
              </a:r>
            </a:p>
          </p:txBody>
        </p:sp>
      </p:grpSp>
      <p:pic>
        <p:nvPicPr>
          <p:cNvPr id="18" name="Picture 18">
            <a:extLst>
              <a:ext uri="{C183D7F6-B498-43B3-948B-1728B52AA6E4}">
                <adec:decorative xmlns:adec="http://schemas.microsoft.com/office/drawing/2017/decorative" val="1"/>
              </a:ext>
            </a:extLst>
          </p:cNvPr>
          <p:cNvPicPr>
            <a:picLocks noChangeAspect="1"/>
          </p:cNvPicPr>
          <p:nvPr>
            <a:videoFile r:link="rId1"/>
          </p:nvPr>
        </p:nvPicPr>
        <p:blipFill>
          <a:blip r:embed="rId7"/>
          <a:stretch>
            <a:fillRect/>
          </a:stretch>
        </p:blipFill>
        <p:spPr>
          <a:xfrm>
            <a:off x="1764110" y="2838946"/>
            <a:ext cx="10443608" cy="587452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C183D7F6-B498-43B3-948B-1728B52AA6E4}">
                <adec:decorative xmlns:adec="http://schemas.microsoft.com/office/drawing/2017/decorative" val="1"/>
              </a:ext>
            </a:extLst>
          </p:cNvPr>
          <p:cNvGrpSpPr/>
          <p:nvPr/>
        </p:nvGrpSpPr>
        <p:grpSpPr>
          <a:xfrm>
            <a:off x="17555768" y="1110614"/>
            <a:ext cx="381000" cy="381000"/>
            <a:chOff x="0" y="0"/>
            <a:chExt cx="508000" cy="508000"/>
          </a:xfrm>
        </p:grpSpPr>
        <p:grpSp>
          <p:nvGrpSpPr>
            <p:cNvPr id="3" name="Group 3"/>
            <p:cNvGrpSpPr>
              <a:grpSpLocks noChangeAspect="1"/>
            </p:cNvGrpSpPr>
            <p:nvPr/>
          </p:nvGrpSpPr>
          <p:grpSpPr>
            <a:xfrm>
              <a:off x="0" y="0"/>
              <a:ext cx="508000" cy="508000"/>
              <a:chOff x="0" y="0"/>
              <a:chExt cx="6355080" cy="6355080"/>
            </a:xfrm>
          </p:grpSpPr>
          <p:sp>
            <p:nvSpPr>
              <p:cNvPr id="4" name="Freeform 4"/>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1546BA"/>
              </a:solidFill>
            </p:spPr>
            <p:txBody>
              <a:bodyPr/>
              <a:lstStyle/>
              <a:p>
                <a:endParaRPr lang="en-US"/>
              </a:p>
            </p:txBody>
          </p:sp>
        </p:gr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5400000">
              <a:off x="84667" y="84667"/>
              <a:ext cx="338667" cy="338667"/>
            </a:xfrm>
            <a:prstGeom prst="rect">
              <a:avLst/>
            </a:prstGeom>
          </p:spPr>
        </p:pic>
      </p:grpSp>
      <p:grpSp>
        <p:nvGrpSpPr>
          <p:cNvPr id="6" name="Group 6">
            <a:extLst>
              <a:ext uri="{C183D7F6-B498-43B3-948B-1728B52AA6E4}">
                <adec:decorative xmlns:adec="http://schemas.microsoft.com/office/drawing/2017/decorative" val="1"/>
              </a:ext>
            </a:extLst>
          </p:cNvPr>
          <p:cNvGrpSpPr/>
          <p:nvPr/>
        </p:nvGrpSpPr>
        <p:grpSpPr>
          <a:xfrm rot="-10800000">
            <a:off x="17555768" y="565786"/>
            <a:ext cx="381000" cy="381000"/>
            <a:chOff x="0" y="0"/>
            <a:chExt cx="508000" cy="508000"/>
          </a:xfrm>
        </p:grpSpPr>
        <p:grpSp>
          <p:nvGrpSpPr>
            <p:cNvPr id="7" name="Group 7"/>
            <p:cNvGrpSpPr>
              <a:grpSpLocks noChangeAspect="1"/>
            </p:cNvGrpSpPr>
            <p:nvPr/>
          </p:nvGrpSpPr>
          <p:grpSpPr>
            <a:xfrm>
              <a:off x="0" y="0"/>
              <a:ext cx="508000" cy="508000"/>
              <a:chOff x="0" y="0"/>
              <a:chExt cx="6355080" cy="6355080"/>
            </a:xfrm>
          </p:grpSpPr>
          <p:sp>
            <p:nvSpPr>
              <p:cNvPr id="8" name="Freeform 8"/>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1546BA"/>
              </a:solidFill>
            </p:spPr>
            <p:txBody>
              <a:bodyPr/>
              <a:lstStyle/>
              <a:p>
                <a:endParaRPr lang="en-US"/>
              </a:p>
            </p:txBody>
          </p:sp>
        </p:grpSp>
        <p:pic>
          <p:nvPicPr>
            <p:cNvPr id="9" name="Picture 9"/>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5400000">
              <a:off x="84667" y="84667"/>
              <a:ext cx="338667" cy="338667"/>
            </a:xfrm>
            <a:prstGeom prst="rect">
              <a:avLst/>
            </a:prstGeom>
          </p:spPr>
        </p:pic>
      </p:grpSp>
      <p:pic>
        <p:nvPicPr>
          <p:cNvPr id="10" name="Picture 10">
            <a:extLs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rot="-5400000">
            <a:off x="565746" y="2785442"/>
            <a:ext cx="544908" cy="381000"/>
          </a:xfrm>
          <a:prstGeom prst="rect">
            <a:avLst/>
          </a:prstGeom>
        </p:spPr>
      </p:pic>
      <p:sp>
        <p:nvSpPr>
          <p:cNvPr id="13" name="TextBox 13"/>
          <p:cNvSpPr txBox="1">
            <a:spLocks noGrp="1"/>
          </p:cNvSpPr>
          <p:nvPr>
            <p:ph type="title" idx="4294967295"/>
          </p:nvPr>
        </p:nvSpPr>
        <p:spPr>
          <a:xfrm>
            <a:off x="1724938" y="2419141"/>
            <a:ext cx="5561613" cy="484187"/>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ts val="3500"/>
              </a:lnSpc>
              <a:spcBef>
                <a:spcPts val="0"/>
              </a:spcBef>
              <a:spcAft>
                <a:spcPts val="0"/>
              </a:spcAft>
              <a:buClrTx/>
              <a:buSzTx/>
              <a:buFontTx/>
              <a:buNone/>
              <a:tabLst/>
              <a:defRPr/>
            </a:pPr>
            <a:r>
              <a:rPr kumimoji="0" lang="en-US" sz="3500" b="0" i="0" u="none" strike="noStrike" kern="1200" cap="none" spc="0" normalizeH="0" baseline="0" noProof="0" dirty="0">
                <a:ln>
                  <a:noFill/>
                </a:ln>
                <a:solidFill>
                  <a:srgbClr val="1546BA"/>
                </a:solidFill>
                <a:effectLst/>
                <a:uLnTx/>
                <a:uFillTx/>
                <a:latin typeface="Libre Franklin Bold"/>
                <a:ea typeface="+mn-ea"/>
                <a:cs typeface="+mn-cs"/>
              </a:rPr>
              <a:t>ACCOMPLISH</a:t>
            </a:r>
          </a:p>
        </p:txBody>
      </p:sp>
      <p:sp>
        <p:nvSpPr>
          <p:cNvPr id="12" name="TextBox 12"/>
          <p:cNvSpPr txBox="1"/>
          <p:nvPr/>
        </p:nvSpPr>
        <p:spPr>
          <a:xfrm>
            <a:off x="1724938" y="3232418"/>
            <a:ext cx="5561613" cy="4061460"/>
          </a:xfrm>
          <a:prstGeom prst="rect">
            <a:avLst/>
          </a:prstGeom>
        </p:spPr>
        <p:txBody>
          <a:bodyPr lIns="0" tIns="0" rIns="0" bIns="0" rtlCol="0" anchor="t">
            <a:spAutoFit/>
          </a:bodyPr>
          <a:lstStyle/>
          <a:p>
            <a:pPr>
              <a:lnSpc>
                <a:spcPts val="2940"/>
              </a:lnSpc>
            </a:pPr>
            <a:r>
              <a:rPr lang="en-US" sz="2100" spc="42" dirty="0">
                <a:solidFill>
                  <a:srgbClr val="1546BA"/>
                </a:solidFill>
                <a:latin typeface="Libre Franklin Light Bold"/>
              </a:rPr>
              <a:t>Mnemonic for Designing Clear Learning Goals (Grahm-Day &amp; Konrad, 2019). </a:t>
            </a:r>
          </a:p>
          <a:p>
            <a:pPr>
              <a:lnSpc>
                <a:spcPts val="2940"/>
              </a:lnSpc>
            </a:pPr>
            <a:endParaRPr lang="en-US" sz="2100" spc="42" dirty="0">
              <a:solidFill>
                <a:srgbClr val="1546BA"/>
              </a:solidFill>
              <a:latin typeface="Libre Franklin Light Bold"/>
            </a:endParaRPr>
          </a:p>
          <a:p>
            <a:pPr>
              <a:lnSpc>
                <a:spcPts val="2940"/>
              </a:lnSpc>
            </a:pPr>
            <a:r>
              <a:rPr lang="en-US" sz="2100" spc="42" dirty="0">
                <a:solidFill>
                  <a:srgbClr val="1546BA"/>
                </a:solidFill>
                <a:latin typeface="Libre Franklin Light Bold"/>
              </a:rPr>
              <a:t>This framework helps teachers:</a:t>
            </a:r>
          </a:p>
          <a:p>
            <a:pPr marL="453390" lvl="1" indent="-226695">
              <a:lnSpc>
                <a:spcPts val="2940"/>
              </a:lnSpc>
              <a:buFont typeface="Arial"/>
              <a:buChar char="•"/>
            </a:pPr>
            <a:r>
              <a:rPr lang="en-US" sz="2100" spc="42" dirty="0">
                <a:solidFill>
                  <a:srgbClr val="1546BA"/>
                </a:solidFill>
                <a:latin typeface="Libre Franklin Light Bold"/>
              </a:rPr>
              <a:t>Deconstruct curriculum standards.</a:t>
            </a:r>
          </a:p>
          <a:p>
            <a:pPr marL="453390" lvl="1" indent="-226695">
              <a:lnSpc>
                <a:spcPts val="2940"/>
              </a:lnSpc>
              <a:buFont typeface="Arial"/>
              <a:buChar char="•"/>
            </a:pPr>
            <a:r>
              <a:rPr lang="en-US" sz="2100" spc="42" dirty="0">
                <a:solidFill>
                  <a:srgbClr val="1546BA"/>
                </a:solidFill>
                <a:latin typeface="Libre Franklin Light Bold"/>
              </a:rPr>
              <a:t>Clearly articulate the conditions when/where/how learning will happen.</a:t>
            </a:r>
          </a:p>
          <a:p>
            <a:pPr marL="453390" lvl="1" indent="-226695">
              <a:lnSpc>
                <a:spcPts val="2940"/>
              </a:lnSpc>
              <a:buFont typeface="Arial"/>
              <a:buChar char="•"/>
            </a:pPr>
            <a:r>
              <a:rPr lang="en-US" sz="2100" spc="42" dirty="0">
                <a:solidFill>
                  <a:srgbClr val="1546BA"/>
                </a:solidFill>
                <a:latin typeface="Libre Franklin Light Bold"/>
              </a:rPr>
              <a:t>Develop mastery criteria.</a:t>
            </a:r>
          </a:p>
          <a:p>
            <a:pPr marL="453390" lvl="1" indent="-226695">
              <a:lnSpc>
                <a:spcPts val="2940"/>
              </a:lnSpc>
              <a:buFont typeface="Arial"/>
              <a:buChar char="•"/>
            </a:pPr>
            <a:r>
              <a:rPr lang="en-US" sz="2100" spc="42" dirty="0">
                <a:solidFill>
                  <a:srgbClr val="1546BA"/>
                </a:solidFill>
                <a:latin typeface="Libre Franklin Light Bold"/>
              </a:rPr>
              <a:t>Make sure goals are within a student's ZPD.</a:t>
            </a:r>
          </a:p>
          <a:p>
            <a:pPr marL="0" lvl="0" indent="0">
              <a:lnSpc>
                <a:spcPts val="2940"/>
              </a:lnSpc>
            </a:pPr>
            <a:endParaRPr lang="en-US" sz="2100" spc="42" dirty="0">
              <a:solidFill>
                <a:srgbClr val="1546BA"/>
              </a:solidFill>
              <a:latin typeface="Libre Franklin Light Bold"/>
            </a:endParaRPr>
          </a:p>
        </p:txBody>
      </p:sp>
      <p:sp>
        <p:nvSpPr>
          <p:cNvPr id="14" name="TextBox 14">
            <a:extLst>
              <a:ext uri="{C183D7F6-B498-43B3-948B-1728B52AA6E4}">
                <adec:decorative xmlns:adec="http://schemas.microsoft.com/office/drawing/2017/decorative" val="1"/>
              </a:ext>
            </a:extLst>
          </p:cNvPr>
          <p:cNvSpPr txBox="1"/>
          <p:nvPr/>
        </p:nvSpPr>
        <p:spPr>
          <a:xfrm rot="-5400000">
            <a:off x="-78806" y="1446066"/>
            <a:ext cx="1804414" cy="424852"/>
          </a:xfrm>
          <a:prstGeom prst="rect">
            <a:avLst/>
          </a:prstGeom>
        </p:spPr>
        <p:txBody>
          <a:bodyPr lIns="0" tIns="0" rIns="0" bIns="0" rtlCol="0" anchor="t">
            <a:spAutoFit/>
          </a:bodyPr>
          <a:lstStyle/>
          <a:p>
            <a:pPr>
              <a:lnSpc>
                <a:spcPts val="1710"/>
              </a:lnSpc>
            </a:pPr>
            <a:r>
              <a:rPr lang="en-US" sz="1710" dirty="0">
                <a:solidFill>
                  <a:srgbClr val="1546BA"/>
                </a:solidFill>
                <a:latin typeface="Montserrat Classic"/>
              </a:rPr>
              <a:t>HLP Lesson Study Series</a:t>
            </a:r>
          </a:p>
        </p:txBody>
      </p:sp>
      <p:sp>
        <p:nvSpPr>
          <p:cNvPr id="15" name="TextBox 15">
            <a:extLst>
              <a:ext uri="{C183D7F6-B498-43B3-948B-1728B52AA6E4}">
                <adec:decorative xmlns:adec="http://schemas.microsoft.com/office/drawing/2017/decorative" val="1"/>
              </a:ext>
            </a:extLst>
          </p:cNvPr>
          <p:cNvSpPr txBox="1"/>
          <p:nvPr/>
        </p:nvSpPr>
        <p:spPr>
          <a:xfrm>
            <a:off x="647700" y="9535203"/>
            <a:ext cx="658470" cy="183084"/>
          </a:xfrm>
          <a:prstGeom prst="rect">
            <a:avLst/>
          </a:prstGeom>
        </p:spPr>
        <p:txBody>
          <a:bodyPr lIns="0" tIns="0" rIns="0" bIns="0" rtlCol="0" anchor="t">
            <a:spAutoFit/>
          </a:bodyPr>
          <a:lstStyle/>
          <a:p>
            <a:pPr>
              <a:lnSpc>
                <a:spcPts val="1399"/>
              </a:lnSpc>
            </a:pPr>
            <a:r>
              <a:rPr lang="en-US" sz="1399" dirty="0">
                <a:solidFill>
                  <a:srgbClr val="1546BA"/>
                </a:solidFill>
                <a:latin typeface="Libre Franklin Bold"/>
              </a:rPr>
              <a:t>08</a:t>
            </a:r>
          </a:p>
        </p:txBody>
      </p:sp>
      <p:sp>
        <p:nvSpPr>
          <p:cNvPr id="17" name="TextBox 17"/>
          <p:cNvSpPr txBox="1"/>
          <p:nvPr/>
        </p:nvSpPr>
        <p:spPr>
          <a:xfrm>
            <a:off x="7741225" y="1761938"/>
            <a:ext cx="11490268" cy="7120604"/>
          </a:xfrm>
          <a:prstGeom prst="rect">
            <a:avLst/>
          </a:prstGeom>
        </p:spPr>
        <p:txBody>
          <a:bodyPr lIns="0" tIns="0" rIns="0" bIns="0" rtlCol="0" anchor="t">
            <a:spAutoFit/>
          </a:bodyPr>
          <a:lstStyle/>
          <a:p>
            <a:pPr>
              <a:lnSpc>
                <a:spcPts val="5178"/>
              </a:lnSpc>
            </a:pPr>
            <a:r>
              <a:rPr lang="en-US" sz="3698" u="sng" spc="73" dirty="0">
                <a:solidFill>
                  <a:srgbClr val="1546BA"/>
                </a:solidFill>
                <a:latin typeface="Libre Franklin Bold Bold"/>
              </a:rPr>
              <a:t>A</a:t>
            </a:r>
            <a:r>
              <a:rPr lang="en-US" sz="3698" spc="73" dirty="0">
                <a:solidFill>
                  <a:srgbClr val="1546BA"/>
                </a:solidFill>
                <a:latin typeface="Libre Franklin Bold Bold"/>
              </a:rPr>
              <a:t>ntecedent condition </a:t>
            </a:r>
          </a:p>
          <a:p>
            <a:pPr>
              <a:lnSpc>
                <a:spcPts val="5178"/>
              </a:lnSpc>
            </a:pPr>
            <a:r>
              <a:rPr lang="en-US" sz="3698" u="sng" spc="73" dirty="0">
                <a:solidFill>
                  <a:srgbClr val="1546BA"/>
                </a:solidFill>
                <a:latin typeface="Libre Franklin Bold Bold"/>
              </a:rPr>
              <a:t>C</a:t>
            </a:r>
            <a:r>
              <a:rPr lang="en-US" sz="3698" spc="73" dirty="0">
                <a:solidFill>
                  <a:srgbClr val="1546BA"/>
                </a:solidFill>
                <a:latin typeface="Libre Franklin Bold Bold"/>
              </a:rPr>
              <a:t>onspicuous behavior </a:t>
            </a:r>
          </a:p>
          <a:p>
            <a:pPr>
              <a:lnSpc>
                <a:spcPts val="5178"/>
              </a:lnSpc>
            </a:pPr>
            <a:r>
              <a:rPr lang="en-US" sz="3698" u="sng" spc="73" dirty="0">
                <a:solidFill>
                  <a:srgbClr val="1546BA"/>
                </a:solidFill>
                <a:latin typeface="Libre Franklin Bold Bold"/>
              </a:rPr>
              <a:t>C</a:t>
            </a:r>
            <a:r>
              <a:rPr lang="en-US" sz="3698" spc="73" dirty="0">
                <a:solidFill>
                  <a:srgbClr val="1546BA"/>
                </a:solidFill>
                <a:latin typeface="Libre Franklin Bold Bold"/>
              </a:rPr>
              <a:t>lear criteria </a:t>
            </a:r>
          </a:p>
          <a:p>
            <a:pPr>
              <a:lnSpc>
                <a:spcPts val="5178"/>
              </a:lnSpc>
            </a:pPr>
            <a:r>
              <a:rPr lang="en-US" sz="3698" u="sng" spc="73" dirty="0">
                <a:solidFill>
                  <a:srgbClr val="1546BA"/>
                </a:solidFill>
                <a:latin typeface="Libre Franklin Bold Bold"/>
              </a:rPr>
              <a:t>O</a:t>
            </a:r>
            <a:r>
              <a:rPr lang="en-US" sz="3698" spc="73" dirty="0">
                <a:solidFill>
                  <a:srgbClr val="1546BA"/>
                </a:solidFill>
                <a:latin typeface="Libre Franklin Bold Bold"/>
              </a:rPr>
              <a:t>bservable</a:t>
            </a:r>
          </a:p>
          <a:p>
            <a:pPr>
              <a:lnSpc>
                <a:spcPts val="5178"/>
              </a:lnSpc>
            </a:pPr>
            <a:r>
              <a:rPr lang="en-US" sz="3698" u="sng" spc="73" dirty="0">
                <a:solidFill>
                  <a:srgbClr val="1546BA"/>
                </a:solidFill>
                <a:latin typeface="Libre Franklin Bold Bold"/>
              </a:rPr>
              <a:t>M</a:t>
            </a:r>
            <a:r>
              <a:rPr lang="en-US" sz="3698" spc="73" dirty="0">
                <a:solidFill>
                  <a:srgbClr val="1546BA"/>
                </a:solidFill>
                <a:latin typeface="Libre Franklin Bold Bold"/>
              </a:rPr>
              <a:t>easurable </a:t>
            </a:r>
          </a:p>
          <a:p>
            <a:pPr>
              <a:lnSpc>
                <a:spcPts val="5178"/>
              </a:lnSpc>
            </a:pPr>
            <a:r>
              <a:rPr lang="en-US" sz="3698" u="sng" spc="73" dirty="0">
                <a:solidFill>
                  <a:srgbClr val="1546BA"/>
                </a:solidFill>
                <a:latin typeface="Libre Franklin Bold Bold"/>
              </a:rPr>
              <a:t>P</a:t>
            </a:r>
            <a:r>
              <a:rPr lang="en-US" sz="3698" spc="73" dirty="0">
                <a:solidFill>
                  <a:srgbClr val="1546BA"/>
                </a:solidFill>
                <a:latin typeface="Libre Franklin Bold Bold"/>
              </a:rPr>
              <a:t>ositive </a:t>
            </a:r>
          </a:p>
          <a:p>
            <a:pPr>
              <a:lnSpc>
                <a:spcPts val="5178"/>
              </a:lnSpc>
            </a:pPr>
            <a:r>
              <a:rPr lang="en-US" sz="3698" u="sng" spc="73" dirty="0">
                <a:solidFill>
                  <a:srgbClr val="1546BA"/>
                </a:solidFill>
                <a:latin typeface="Libre Franklin Bold Bold"/>
              </a:rPr>
              <a:t>L</a:t>
            </a:r>
            <a:r>
              <a:rPr lang="en-US" sz="3698" spc="73" dirty="0">
                <a:solidFill>
                  <a:srgbClr val="1546BA"/>
                </a:solidFill>
                <a:latin typeface="Libre Franklin Bold Bold"/>
              </a:rPr>
              <a:t>inked to the general education curriculum </a:t>
            </a:r>
          </a:p>
          <a:p>
            <a:pPr>
              <a:lnSpc>
                <a:spcPts val="5178"/>
              </a:lnSpc>
            </a:pPr>
            <a:r>
              <a:rPr lang="en-US" sz="3698" u="sng" spc="73" dirty="0">
                <a:solidFill>
                  <a:srgbClr val="1546BA"/>
                </a:solidFill>
                <a:latin typeface="Libre Franklin Bold Bold"/>
              </a:rPr>
              <a:t>I</a:t>
            </a:r>
            <a:r>
              <a:rPr lang="en-US" sz="3698" spc="73" dirty="0">
                <a:solidFill>
                  <a:srgbClr val="1546BA"/>
                </a:solidFill>
                <a:latin typeface="Libre Franklin Bold Bold"/>
              </a:rPr>
              <a:t>ndividualized </a:t>
            </a:r>
          </a:p>
          <a:p>
            <a:pPr>
              <a:lnSpc>
                <a:spcPts val="5178"/>
              </a:lnSpc>
            </a:pPr>
            <a:r>
              <a:rPr lang="en-US" sz="3698" u="sng" spc="73" dirty="0">
                <a:solidFill>
                  <a:srgbClr val="1546BA"/>
                </a:solidFill>
                <a:latin typeface="Libre Franklin Bold Bold"/>
              </a:rPr>
              <a:t>S</a:t>
            </a:r>
            <a:r>
              <a:rPr lang="en-US" sz="3698" spc="73" dirty="0">
                <a:solidFill>
                  <a:srgbClr val="1546BA"/>
                </a:solidFill>
                <a:latin typeface="Libre Franklin Bold Bold"/>
              </a:rPr>
              <a:t>ocially valid </a:t>
            </a:r>
          </a:p>
          <a:p>
            <a:pPr>
              <a:lnSpc>
                <a:spcPts val="5178"/>
              </a:lnSpc>
            </a:pPr>
            <a:r>
              <a:rPr lang="en-US" sz="3650" u="sng" spc="73" dirty="0">
                <a:solidFill>
                  <a:srgbClr val="1546BA"/>
                </a:solidFill>
                <a:latin typeface="Libre Franklin Bold Bold"/>
              </a:rPr>
              <a:t>H</a:t>
            </a:r>
            <a:r>
              <a:rPr lang="en-US" sz="3650" spc="73" dirty="0">
                <a:solidFill>
                  <a:srgbClr val="1546BA"/>
                </a:solidFill>
                <a:latin typeface="Libre Franklin Bold Bold"/>
              </a:rPr>
              <a:t>igh reaching </a:t>
            </a:r>
          </a:p>
          <a:p>
            <a:pPr marL="0" lvl="0" indent="0">
              <a:lnSpc>
                <a:spcPts val="3508"/>
              </a:lnSpc>
            </a:pPr>
            <a:endParaRPr lang="en-US" sz="3698" spc="73" dirty="0">
              <a:solidFill>
                <a:srgbClr val="1546BA"/>
              </a:solidFill>
              <a:latin typeface="Libre Franklin Bold Bold"/>
            </a:endParaRPr>
          </a:p>
        </p:txBody>
      </p:sp>
      <p:sp>
        <p:nvSpPr>
          <p:cNvPr id="18" name="TextBox 18">
            <a:extLst>
              <a:ext uri="{C183D7F6-B498-43B3-948B-1728B52AA6E4}">
                <adec:decorative xmlns:adec="http://schemas.microsoft.com/office/drawing/2017/decorative" val="1"/>
              </a:ext>
            </a:extLst>
          </p:cNvPr>
          <p:cNvSpPr txBox="1"/>
          <p:nvPr/>
        </p:nvSpPr>
        <p:spPr>
          <a:xfrm>
            <a:off x="7741225" y="820580"/>
            <a:ext cx="11490268" cy="564593"/>
          </a:xfrm>
          <a:prstGeom prst="rect">
            <a:avLst/>
          </a:prstGeom>
        </p:spPr>
        <p:txBody>
          <a:bodyPr lIns="0" tIns="0" rIns="0" bIns="0" rtlCol="0" anchor="t">
            <a:spAutoFit/>
          </a:bodyPr>
          <a:lstStyle/>
          <a:p>
            <a:pPr>
              <a:lnSpc>
                <a:spcPts val="4176"/>
              </a:lnSpc>
            </a:pP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C183D7F6-B498-43B3-948B-1728B52AA6E4}">
                <adec:decorative xmlns:adec="http://schemas.microsoft.com/office/drawing/2017/decorative" val="1"/>
              </a:ext>
            </a:extLst>
          </p:cNvPr>
          <p:cNvGrpSpPr/>
          <p:nvPr/>
        </p:nvGrpSpPr>
        <p:grpSpPr>
          <a:xfrm>
            <a:off x="17555768" y="1110614"/>
            <a:ext cx="381000" cy="381000"/>
            <a:chOff x="0" y="0"/>
            <a:chExt cx="508000" cy="508000"/>
          </a:xfrm>
        </p:grpSpPr>
        <p:grpSp>
          <p:nvGrpSpPr>
            <p:cNvPr id="3" name="Group 3"/>
            <p:cNvGrpSpPr>
              <a:grpSpLocks noChangeAspect="1"/>
            </p:cNvGrpSpPr>
            <p:nvPr/>
          </p:nvGrpSpPr>
          <p:grpSpPr>
            <a:xfrm>
              <a:off x="0" y="0"/>
              <a:ext cx="508000" cy="508000"/>
              <a:chOff x="0" y="0"/>
              <a:chExt cx="6355080" cy="6355080"/>
            </a:xfrm>
          </p:grpSpPr>
          <p:sp>
            <p:nvSpPr>
              <p:cNvPr id="4" name="Freeform 4"/>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1546BA"/>
              </a:solidFill>
            </p:spPr>
            <p:txBody>
              <a:bodyPr/>
              <a:lstStyle/>
              <a:p>
                <a:endParaRPr lang="en-US"/>
              </a:p>
            </p:txBody>
          </p:sp>
        </p:gr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5400000">
              <a:off x="84667" y="84667"/>
              <a:ext cx="338667" cy="338667"/>
            </a:xfrm>
            <a:prstGeom prst="rect">
              <a:avLst/>
            </a:prstGeom>
          </p:spPr>
        </p:pic>
      </p:grpSp>
      <p:grpSp>
        <p:nvGrpSpPr>
          <p:cNvPr id="6" name="Group 6">
            <a:extLst>
              <a:ext uri="{C183D7F6-B498-43B3-948B-1728B52AA6E4}">
                <adec:decorative xmlns:adec="http://schemas.microsoft.com/office/drawing/2017/decorative" val="1"/>
              </a:ext>
            </a:extLst>
          </p:cNvPr>
          <p:cNvGrpSpPr/>
          <p:nvPr/>
        </p:nvGrpSpPr>
        <p:grpSpPr>
          <a:xfrm rot="-10800000">
            <a:off x="17555768" y="565786"/>
            <a:ext cx="381000" cy="381000"/>
            <a:chOff x="0" y="0"/>
            <a:chExt cx="508000" cy="508000"/>
          </a:xfrm>
        </p:grpSpPr>
        <p:grpSp>
          <p:nvGrpSpPr>
            <p:cNvPr id="7" name="Group 7"/>
            <p:cNvGrpSpPr>
              <a:grpSpLocks noChangeAspect="1"/>
            </p:cNvGrpSpPr>
            <p:nvPr/>
          </p:nvGrpSpPr>
          <p:grpSpPr>
            <a:xfrm>
              <a:off x="0" y="0"/>
              <a:ext cx="508000" cy="508000"/>
              <a:chOff x="0" y="0"/>
              <a:chExt cx="6355080" cy="6355080"/>
            </a:xfrm>
          </p:grpSpPr>
          <p:sp>
            <p:nvSpPr>
              <p:cNvPr id="8" name="Freeform 8"/>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1546BA"/>
              </a:solidFill>
            </p:spPr>
            <p:txBody>
              <a:bodyPr/>
              <a:lstStyle/>
              <a:p>
                <a:endParaRPr lang="en-US"/>
              </a:p>
            </p:txBody>
          </p:sp>
        </p:grpSp>
        <p:pic>
          <p:nvPicPr>
            <p:cNvPr id="9" name="Picture 9"/>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5400000">
              <a:off x="84667" y="84667"/>
              <a:ext cx="338667" cy="338667"/>
            </a:xfrm>
            <a:prstGeom prst="rect">
              <a:avLst/>
            </a:prstGeom>
          </p:spPr>
        </p:pic>
      </p:grpSp>
      <p:grpSp>
        <p:nvGrpSpPr>
          <p:cNvPr id="10" name="Group 10">
            <a:extLst>
              <a:ext uri="{C183D7F6-B498-43B3-948B-1728B52AA6E4}">
                <adec:decorative xmlns:adec="http://schemas.microsoft.com/office/drawing/2017/decorative" val="1"/>
              </a:ext>
            </a:extLst>
          </p:cNvPr>
          <p:cNvGrpSpPr/>
          <p:nvPr/>
        </p:nvGrpSpPr>
        <p:grpSpPr>
          <a:xfrm>
            <a:off x="8175801" y="946786"/>
            <a:ext cx="7949483" cy="7696561"/>
            <a:chOff x="0" y="0"/>
            <a:chExt cx="4437469" cy="4296287"/>
          </a:xfrm>
        </p:grpSpPr>
        <p:sp>
          <p:nvSpPr>
            <p:cNvPr id="11" name="Freeform 11"/>
            <p:cNvSpPr/>
            <p:nvPr/>
          </p:nvSpPr>
          <p:spPr>
            <a:xfrm>
              <a:off x="0" y="0"/>
              <a:ext cx="4437469" cy="4296287"/>
            </a:xfrm>
            <a:custGeom>
              <a:avLst/>
              <a:gdLst/>
              <a:ahLst/>
              <a:cxnLst/>
              <a:rect l="l" t="t" r="r" b="b"/>
              <a:pathLst>
                <a:path w="4437469" h="4296287">
                  <a:moveTo>
                    <a:pt x="0" y="0"/>
                  </a:moveTo>
                  <a:lnTo>
                    <a:pt x="4437469" y="0"/>
                  </a:lnTo>
                  <a:lnTo>
                    <a:pt x="4437469" y="4296287"/>
                  </a:lnTo>
                  <a:lnTo>
                    <a:pt x="0" y="4296287"/>
                  </a:lnTo>
                  <a:close/>
                </a:path>
              </a:pathLst>
            </a:custGeom>
            <a:solidFill>
              <a:srgbClr val="1546BA"/>
            </a:solidFill>
          </p:spPr>
          <p:txBody>
            <a:bodyPr/>
            <a:lstStyle/>
            <a:p>
              <a:endParaRPr lang="en-US"/>
            </a:p>
          </p:txBody>
        </p:sp>
      </p:grpSp>
      <p:pic>
        <p:nvPicPr>
          <p:cNvPr id="12" name="Picture 12">
            <a:extLs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rot="-5400000">
            <a:off x="565746" y="2785442"/>
            <a:ext cx="544908" cy="381000"/>
          </a:xfrm>
          <a:prstGeom prst="rect">
            <a:avLst/>
          </a:prstGeom>
        </p:spPr>
      </p:pic>
      <p:pic>
        <p:nvPicPr>
          <p:cNvPr id="13" name="Picture 13">
            <a:extLs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a:off x="2739792" y="2755847"/>
            <a:ext cx="1098776" cy="1052078"/>
          </a:xfrm>
          <a:prstGeom prst="rect">
            <a:avLst/>
          </a:prstGeom>
        </p:spPr>
      </p:pic>
      <p:pic>
        <p:nvPicPr>
          <p:cNvPr id="14" name="Picture 14">
            <a:extLs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a:off x="4223445" y="3248396"/>
            <a:ext cx="1168730" cy="1119059"/>
          </a:xfrm>
          <a:prstGeom prst="rect">
            <a:avLst/>
          </a:prstGeom>
        </p:spPr>
      </p:pic>
      <p:sp>
        <p:nvSpPr>
          <p:cNvPr id="17" name="TextBox 17"/>
          <p:cNvSpPr txBox="1">
            <a:spLocks noGrp="1"/>
          </p:cNvSpPr>
          <p:nvPr>
            <p:ph type="title" idx="4294967295"/>
          </p:nvPr>
        </p:nvSpPr>
        <p:spPr>
          <a:xfrm>
            <a:off x="1035827" y="4675852"/>
            <a:ext cx="6686016" cy="902644"/>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ts val="3499"/>
              </a:lnSpc>
              <a:spcBef>
                <a:spcPts val="0"/>
              </a:spcBef>
              <a:spcAft>
                <a:spcPts val="0"/>
              </a:spcAft>
              <a:buClrTx/>
              <a:buSzTx/>
              <a:buFontTx/>
              <a:buNone/>
              <a:tabLst/>
              <a:defRPr/>
            </a:pPr>
            <a:r>
              <a:rPr kumimoji="0" lang="en-US" sz="3499" b="0" i="0" u="none" strike="noStrike" kern="1200" cap="none" spc="0" normalizeH="0" baseline="0" noProof="0" dirty="0">
                <a:ln>
                  <a:noFill/>
                </a:ln>
                <a:solidFill>
                  <a:srgbClr val="1546BA"/>
                </a:solidFill>
                <a:effectLst/>
                <a:uLnTx/>
                <a:uFillTx/>
                <a:latin typeface="Libre Franklin Light"/>
                <a:ea typeface="+mn-ea"/>
                <a:cs typeface="+mn-cs"/>
              </a:rPr>
              <a:t>Clear/Unclear Learning Goal Analysis Activity = 15 minutes </a:t>
            </a:r>
          </a:p>
        </p:txBody>
      </p:sp>
      <p:sp>
        <p:nvSpPr>
          <p:cNvPr id="16" name="TextBox 16"/>
          <p:cNvSpPr txBox="1"/>
          <p:nvPr/>
        </p:nvSpPr>
        <p:spPr>
          <a:xfrm>
            <a:off x="1035827" y="5907586"/>
            <a:ext cx="6686016" cy="2204085"/>
          </a:xfrm>
          <a:prstGeom prst="rect">
            <a:avLst/>
          </a:prstGeom>
        </p:spPr>
        <p:txBody>
          <a:bodyPr lIns="0" tIns="0" rIns="0" bIns="0" rtlCol="0" anchor="t">
            <a:spAutoFit/>
          </a:bodyPr>
          <a:lstStyle/>
          <a:p>
            <a:pPr>
              <a:lnSpc>
                <a:spcPts val="2940"/>
              </a:lnSpc>
            </a:pPr>
            <a:r>
              <a:rPr lang="en-US" sz="2100" spc="42" dirty="0">
                <a:solidFill>
                  <a:srgbClr val="1546BA"/>
                </a:solidFill>
                <a:latin typeface="Libre Franklin Light Bold"/>
              </a:rPr>
              <a:t>Review the following examples and give a thumbs-up if you think the learning goal is clear and meets the ACCOMPLISH criteria. </a:t>
            </a:r>
          </a:p>
          <a:p>
            <a:pPr>
              <a:lnSpc>
                <a:spcPts val="2940"/>
              </a:lnSpc>
            </a:pPr>
            <a:endParaRPr lang="en-US" sz="2100" spc="42" dirty="0">
              <a:solidFill>
                <a:srgbClr val="1546BA"/>
              </a:solidFill>
              <a:latin typeface="Libre Franklin Light Bold"/>
            </a:endParaRPr>
          </a:p>
          <a:p>
            <a:pPr marL="0" lvl="0" indent="0">
              <a:lnSpc>
                <a:spcPts val="2940"/>
              </a:lnSpc>
            </a:pPr>
            <a:r>
              <a:rPr lang="en-US" sz="2100" spc="42" dirty="0">
                <a:solidFill>
                  <a:srgbClr val="1546BA"/>
                </a:solidFill>
                <a:latin typeface="Libre Franklin Light Bold"/>
              </a:rPr>
              <a:t>If not, give the goal a thumbs-down and be able to explain to your table group WHY. </a:t>
            </a:r>
          </a:p>
        </p:txBody>
      </p:sp>
      <p:sp>
        <p:nvSpPr>
          <p:cNvPr id="18" name="TextBox 18">
            <a:extLst>
              <a:ext uri="{C183D7F6-B498-43B3-948B-1728B52AA6E4}">
                <adec:decorative xmlns:adec="http://schemas.microsoft.com/office/drawing/2017/decorative" val="1"/>
              </a:ext>
            </a:extLst>
          </p:cNvPr>
          <p:cNvSpPr txBox="1"/>
          <p:nvPr/>
        </p:nvSpPr>
        <p:spPr>
          <a:xfrm rot="-5400000">
            <a:off x="-78806" y="1446066"/>
            <a:ext cx="1804414" cy="424852"/>
          </a:xfrm>
          <a:prstGeom prst="rect">
            <a:avLst/>
          </a:prstGeom>
        </p:spPr>
        <p:txBody>
          <a:bodyPr lIns="0" tIns="0" rIns="0" bIns="0" rtlCol="0" anchor="t">
            <a:spAutoFit/>
          </a:bodyPr>
          <a:lstStyle/>
          <a:p>
            <a:pPr>
              <a:lnSpc>
                <a:spcPts val="1710"/>
              </a:lnSpc>
            </a:pPr>
            <a:r>
              <a:rPr lang="en-US" sz="1710" dirty="0">
                <a:solidFill>
                  <a:srgbClr val="1546BA"/>
                </a:solidFill>
                <a:latin typeface="Montserrat Classic"/>
              </a:rPr>
              <a:t>HLP Lesson Study Series</a:t>
            </a:r>
          </a:p>
        </p:txBody>
      </p:sp>
      <p:sp>
        <p:nvSpPr>
          <p:cNvPr id="19" name="TextBox 19">
            <a:extLst>
              <a:ext uri="{C183D7F6-B498-43B3-948B-1728B52AA6E4}">
                <adec:decorative xmlns:adec="http://schemas.microsoft.com/office/drawing/2017/decorative" val="1"/>
              </a:ext>
            </a:extLst>
          </p:cNvPr>
          <p:cNvSpPr txBox="1"/>
          <p:nvPr/>
        </p:nvSpPr>
        <p:spPr>
          <a:xfrm>
            <a:off x="647700" y="9535203"/>
            <a:ext cx="658470" cy="183084"/>
          </a:xfrm>
          <a:prstGeom prst="rect">
            <a:avLst/>
          </a:prstGeom>
        </p:spPr>
        <p:txBody>
          <a:bodyPr lIns="0" tIns="0" rIns="0" bIns="0" rtlCol="0" anchor="t">
            <a:spAutoFit/>
          </a:bodyPr>
          <a:lstStyle/>
          <a:p>
            <a:pPr>
              <a:lnSpc>
                <a:spcPts val="1399"/>
              </a:lnSpc>
            </a:pPr>
            <a:r>
              <a:rPr lang="en-US" sz="1399" dirty="0">
                <a:solidFill>
                  <a:srgbClr val="1546BA"/>
                </a:solidFill>
                <a:latin typeface="Libre Franklin Bold"/>
              </a:rPr>
              <a:t>09</a:t>
            </a:r>
          </a:p>
        </p:txBody>
      </p:sp>
      <p:sp>
        <p:nvSpPr>
          <p:cNvPr id="20" name="TextBox 20"/>
          <p:cNvSpPr txBox="1"/>
          <p:nvPr/>
        </p:nvSpPr>
        <p:spPr>
          <a:xfrm>
            <a:off x="8651567" y="1440362"/>
            <a:ext cx="6997949" cy="6671310"/>
          </a:xfrm>
          <a:prstGeom prst="rect">
            <a:avLst/>
          </a:prstGeom>
        </p:spPr>
        <p:txBody>
          <a:bodyPr lIns="0" tIns="0" rIns="0" bIns="0" rtlCol="0" anchor="t">
            <a:spAutoFit/>
          </a:bodyPr>
          <a:lstStyle/>
          <a:p>
            <a:pPr marL="453390" lvl="1" indent="-226695">
              <a:lnSpc>
                <a:spcPts val="2940"/>
              </a:lnSpc>
              <a:buFont typeface="Arial"/>
              <a:buChar char="•"/>
            </a:pPr>
            <a:r>
              <a:rPr lang="en-US" sz="2100" spc="42" dirty="0">
                <a:solidFill>
                  <a:srgbClr val="FFFFFF"/>
                </a:solidFill>
                <a:latin typeface="Libre Franklin Light Bold"/>
              </a:rPr>
              <a:t>Students will write a paragraph.</a:t>
            </a:r>
          </a:p>
          <a:p>
            <a:pPr marL="453390" lvl="1" indent="-226695">
              <a:lnSpc>
                <a:spcPts val="2940"/>
              </a:lnSpc>
              <a:buFont typeface="Arial"/>
              <a:buChar char="•"/>
            </a:pPr>
            <a:r>
              <a:rPr lang="en-US" sz="2100" spc="42" dirty="0">
                <a:solidFill>
                  <a:srgbClr val="FFFFFF"/>
                </a:solidFill>
                <a:latin typeface="Libre Franklin Light Bold"/>
              </a:rPr>
              <a:t>Given a specific task during cooperative learning group activities, students will take turns speaking. </a:t>
            </a:r>
          </a:p>
          <a:p>
            <a:pPr marL="453390" lvl="1" indent="-226695">
              <a:lnSpc>
                <a:spcPts val="2940"/>
              </a:lnSpc>
              <a:buFont typeface="Arial"/>
              <a:buChar char="•"/>
            </a:pPr>
            <a:r>
              <a:rPr lang="en-US" sz="2100" spc="42" dirty="0">
                <a:solidFill>
                  <a:srgbClr val="FFFFFF"/>
                </a:solidFill>
                <a:latin typeface="Libre Franklin Light Bold"/>
              </a:rPr>
              <a:t>Given feedback on their performance on a spelling pretest, students will write the weekly words they spelled incorrectly three times each. </a:t>
            </a:r>
          </a:p>
          <a:p>
            <a:pPr marL="453390" lvl="1" indent="-226695">
              <a:lnSpc>
                <a:spcPts val="2940"/>
              </a:lnSpc>
              <a:buFont typeface="Arial"/>
              <a:buChar char="•"/>
            </a:pPr>
            <a:r>
              <a:rPr lang="en-US" sz="2100" spc="42" dirty="0">
                <a:solidFill>
                  <a:srgbClr val="FFFFFF"/>
                </a:solidFill>
                <a:latin typeface="Libre Franklin Light Bold"/>
              </a:rPr>
              <a:t>Students will read a passage twice each session for five weeks. </a:t>
            </a:r>
          </a:p>
          <a:p>
            <a:pPr marL="453390" lvl="1" indent="-226695">
              <a:lnSpc>
                <a:spcPts val="2940"/>
              </a:lnSpc>
              <a:buFont typeface="Arial"/>
              <a:buChar char="•"/>
            </a:pPr>
            <a:r>
              <a:rPr lang="en-US" sz="2100" spc="42" dirty="0">
                <a:solidFill>
                  <a:srgbClr val="FFFFFF"/>
                </a:solidFill>
                <a:latin typeface="Libre Franklin Light Bold"/>
              </a:rPr>
              <a:t>Given 20 multiplication facts, students will write the products with 50% accuracy. </a:t>
            </a:r>
          </a:p>
          <a:p>
            <a:pPr marL="453390" lvl="1" indent="-226695">
              <a:lnSpc>
                <a:spcPts val="2940"/>
              </a:lnSpc>
              <a:buFont typeface="Arial"/>
              <a:buChar char="•"/>
            </a:pPr>
            <a:r>
              <a:rPr lang="en-US" sz="2100" spc="42" dirty="0">
                <a:solidFill>
                  <a:srgbClr val="FFFFFF"/>
                </a:solidFill>
                <a:latin typeface="Libre Franklin Light Bold"/>
              </a:rPr>
              <a:t>Given a descriptive writing prompt, students will write a paragraph consisting of a topic sentence, three to four supporting detail sentences, and no more than three transcription errors. </a:t>
            </a:r>
          </a:p>
          <a:p>
            <a:pPr marL="453390" lvl="1" indent="-226695">
              <a:lnSpc>
                <a:spcPts val="2940"/>
              </a:lnSpc>
              <a:buFont typeface="Arial"/>
              <a:buChar char="•"/>
            </a:pPr>
            <a:r>
              <a:rPr lang="en-US" sz="2100" spc="42" dirty="0">
                <a:solidFill>
                  <a:srgbClr val="FFFFFF"/>
                </a:solidFill>
                <a:latin typeface="Libre Franklin Light Bold"/>
              </a:rPr>
              <a:t>When presented with a word find of 20 science terms, students will locate and circle each term. </a:t>
            </a:r>
          </a:p>
          <a:p>
            <a:pPr>
              <a:lnSpc>
                <a:spcPts val="2940"/>
              </a:lnSpc>
            </a:pPr>
            <a:r>
              <a:rPr lang="en-US" sz="2100" spc="42" dirty="0">
                <a:solidFill>
                  <a:srgbClr val="FFFFFF"/>
                </a:solidFill>
                <a:latin typeface="Libre Franklin Light Bold"/>
              </a:rPr>
              <a:t>(Konrad et al., 2019, p. 159). </a:t>
            </a:r>
          </a:p>
          <a:p>
            <a:pPr marL="0" lvl="0" indent="0">
              <a:lnSpc>
                <a:spcPts val="2940"/>
              </a:lnSpc>
            </a:pPr>
            <a:r>
              <a:rPr lang="en-US" sz="2100" spc="42" dirty="0">
                <a:solidFill>
                  <a:srgbClr val="FFFFFF"/>
                </a:solidFill>
                <a:latin typeface="Libre Franklin Light Bold"/>
              </a:rPr>
              <a: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C183D7F6-B498-43B3-948B-1728B52AA6E4}">
                <adec:decorative xmlns:adec="http://schemas.microsoft.com/office/drawing/2017/decorative" val="1"/>
              </a:ext>
            </a:extLst>
          </p:cNvPr>
          <p:cNvGrpSpPr/>
          <p:nvPr/>
        </p:nvGrpSpPr>
        <p:grpSpPr>
          <a:xfrm>
            <a:off x="17555768" y="1110614"/>
            <a:ext cx="381000" cy="381000"/>
            <a:chOff x="0" y="0"/>
            <a:chExt cx="508000" cy="508000"/>
          </a:xfrm>
        </p:grpSpPr>
        <p:grpSp>
          <p:nvGrpSpPr>
            <p:cNvPr id="3" name="Group 3"/>
            <p:cNvGrpSpPr>
              <a:grpSpLocks noChangeAspect="1"/>
            </p:cNvGrpSpPr>
            <p:nvPr/>
          </p:nvGrpSpPr>
          <p:grpSpPr>
            <a:xfrm>
              <a:off x="0" y="0"/>
              <a:ext cx="508000" cy="508000"/>
              <a:chOff x="0" y="0"/>
              <a:chExt cx="6355080" cy="6355080"/>
            </a:xfrm>
          </p:grpSpPr>
          <p:sp>
            <p:nvSpPr>
              <p:cNvPr id="4" name="Freeform 4"/>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1546BA"/>
              </a:solidFill>
            </p:spPr>
            <p:txBody>
              <a:bodyPr/>
              <a:lstStyle/>
              <a:p>
                <a:endParaRPr lang="en-US"/>
              </a:p>
            </p:txBody>
          </p:sp>
        </p:grp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rot="5400000">
              <a:off x="84667" y="84667"/>
              <a:ext cx="338667" cy="338667"/>
            </a:xfrm>
            <a:prstGeom prst="rect">
              <a:avLst/>
            </a:prstGeom>
          </p:spPr>
        </p:pic>
      </p:grpSp>
      <p:grpSp>
        <p:nvGrpSpPr>
          <p:cNvPr id="6" name="Group 6">
            <a:extLst>
              <a:ext uri="{C183D7F6-B498-43B3-948B-1728B52AA6E4}">
                <adec:decorative xmlns:adec="http://schemas.microsoft.com/office/drawing/2017/decorative" val="1"/>
              </a:ext>
            </a:extLst>
          </p:cNvPr>
          <p:cNvGrpSpPr/>
          <p:nvPr/>
        </p:nvGrpSpPr>
        <p:grpSpPr>
          <a:xfrm rot="-10800000">
            <a:off x="17555768" y="565786"/>
            <a:ext cx="381000" cy="381000"/>
            <a:chOff x="0" y="0"/>
            <a:chExt cx="508000" cy="508000"/>
          </a:xfrm>
        </p:grpSpPr>
        <p:grpSp>
          <p:nvGrpSpPr>
            <p:cNvPr id="7" name="Group 7"/>
            <p:cNvGrpSpPr>
              <a:grpSpLocks noChangeAspect="1"/>
            </p:cNvGrpSpPr>
            <p:nvPr/>
          </p:nvGrpSpPr>
          <p:grpSpPr>
            <a:xfrm>
              <a:off x="0" y="0"/>
              <a:ext cx="508000" cy="508000"/>
              <a:chOff x="0" y="0"/>
              <a:chExt cx="6355080" cy="6355080"/>
            </a:xfrm>
          </p:grpSpPr>
          <p:sp>
            <p:nvSpPr>
              <p:cNvPr id="8" name="Freeform 8"/>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1546BA"/>
              </a:solidFill>
            </p:spPr>
            <p:txBody>
              <a:bodyPr/>
              <a:lstStyle/>
              <a:p>
                <a:endParaRPr lang="en-US"/>
              </a:p>
            </p:txBody>
          </p:sp>
        </p:gr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rot="5400000">
              <a:off x="84667" y="84667"/>
              <a:ext cx="338667" cy="338667"/>
            </a:xfrm>
            <a:prstGeom prst="rect">
              <a:avLst/>
            </a:prstGeom>
          </p:spPr>
        </p:pic>
      </p:grpSp>
      <p:pic>
        <p:nvPicPr>
          <p:cNvPr id="10" name="Picture 10">
            <a:extLst>
              <a:ext uri="{C183D7F6-B498-43B3-948B-1728B52AA6E4}">
                <adec:decorative xmlns:adec="http://schemas.microsoft.com/office/drawing/2017/decorative" val="1"/>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rot="-5400000">
            <a:off x="565746" y="2785442"/>
            <a:ext cx="544908" cy="381000"/>
          </a:xfrm>
          <a:prstGeom prst="rect">
            <a:avLst/>
          </a:prstGeom>
        </p:spPr>
      </p:pic>
      <p:pic>
        <p:nvPicPr>
          <p:cNvPr id="11" name="Picture 11">
            <a:extLs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p:blipFill>
        <p:spPr>
          <a:xfrm>
            <a:off x="9686711" y="3430637"/>
            <a:ext cx="5904668" cy="4937779"/>
          </a:xfrm>
          <a:prstGeom prst="rect">
            <a:avLst/>
          </a:prstGeom>
        </p:spPr>
      </p:pic>
      <p:sp>
        <p:nvSpPr>
          <p:cNvPr id="14" name="TextBox 14"/>
          <p:cNvSpPr txBox="1">
            <a:spLocks noGrp="1"/>
          </p:cNvSpPr>
          <p:nvPr>
            <p:ph type="title" idx="4294967295"/>
          </p:nvPr>
        </p:nvSpPr>
        <p:spPr>
          <a:xfrm>
            <a:off x="3304721" y="1139189"/>
            <a:ext cx="10536153" cy="816483"/>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914400" rtl="0" eaLnBrk="1" fontAlgn="auto" latinLnBrk="0" hangingPunct="1">
              <a:lnSpc>
                <a:spcPts val="6216"/>
              </a:lnSpc>
              <a:spcBef>
                <a:spcPts val="0"/>
              </a:spcBef>
              <a:spcAft>
                <a:spcPts val="0"/>
              </a:spcAft>
              <a:buClrTx/>
              <a:buSzTx/>
              <a:buFontTx/>
              <a:buNone/>
              <a:tabLst/>
              <a:defRPr/>
            </a:pPr>
            <a:r>
              <a:rPr kumimoji="0" lang="en-US" sz="5600" b="0" i="0" u="none" strike="noStrike" kern="1200" cap="none" spc="89" normalizeH="0" baseline="0" noProof="0" dirty="0">
                <a:ln>
                  <a:noFill/>
                </a:ln>
                <a:solidFill>
                  <a:srgbClr val="011C5D"/>
                </a:solidFill>
                <a:effectLst/>
                <a:uLnTx/>
                <a:uFillTx/>
                <a:latin typeface="Montserrat Classic Bold"/>
                <a:ea typeface="+mn-ea"/>
                <a:cs typeface="+mn-cs"/>
              </a:rPr>
              <a:t>Systematic Sequencing</a:t>
            </a:r>
          </a:p>
        </p:txBody>
      </p:sp>
      <p:sp>
        <p:nvSpPr>
          <p:cNvPr id="13" name="TextBox 13"/>
          <p:cNvSpPr txBox="1"/>
          <p:nvPr/>
        </p:nvSpPr>
        <p:spPr>
          <a:xfrm>
            <a:off x="3304721" y="2072639"/>
            <a:ext cx="10536153" cy="346710"/>
          </a:xfrm>
          <a:prstGeom prst="rect">
            <a:avLst/>
          </a:prstGeom>
        </p:spPr>
        <p:txBody>
          <a:bodyPr lIns="0" tIns="0" rIns="0" bIns="0" rtlCol="0" anchor="t">
            <a:spAutoFit/>
          </a:bodyPr>
          <a:lstStyle/>
          <a:p>
            <a:pPr marL="0" lvl="0" indent="0" algn="ctr">
              <a:lnSpc>
                <a:spcPts val="2940"/>
              </a:lnSpc>
            </a:pPr>
            <a:r>
              <a:rPr lang="en-US" sz="2100" spc="42" dirty="0">
                <a:solidFill>
                  <a:srgbClr val="1546BA"/>
                </a:solidFill>
                <a:latin typeface="Libre Franklin Light Bold"/>
              </a:rPr>
              <a:t>General Principles </a:t>
            </a:r>
          </a:p>
        </p:txBody>
      </p:sp>
      <p:sp>
        <p:nvSpPr>
          <p:cNvPr id="20" name="TextBox 20"/>
          <p:cNvSpPr txBox="1"/>
          <p:nvPr/>
        </p:nvSpPr>
        <p:spPr>
          <a:xfrm>
            <a:off x="5054623" y="3133777"/>
            <a:ext cx="3998341" cy="271304"/>
          </a:xfrm>
          <a:prstGeom prst="rect">
            <a:avLst/>
          </a:prstGeom>
        </p:spPr>
        <p:txBody>
          <a:bodyPr lIns="0" tIns="0" rIns="0" bIns="0" rtlCol="0" anchor="t">
            <a:spAutoFit/>
          </a:bodyPr>
          <a:lstStyle/>
          <a:p>
            <a:pPr algn="ctr">
              <a:lnSpc>
                <a:spcPts val="2100"/>
              </a:lnSpc>
            </a:pPr>
            <a:r>
              <a:rPr lang="en-US" sz="2100" dirty="0">
                <a:solidFill>
                  <a:srgbClr val="241D27"/>
                </a:solidFill>
                <a:latin typeface="Montserrat Classic Bold"/>
              </a:rPr>
              <a:t>BIG IDEAS </a:t>
            </a:r>
          </a:p>
        </p:txBody>
      </p:sp>
      <p:sp>
        <p:nvSpPr>
          <p:cNvPr id="19" name="TextBox 19"/>
          <p:cNvSpPr txBox="1"/>
          <p:nvPr/>
        </p:nvSpPr>
        <p:spPr>
          <a:xfrm>
            <a:off x="5054623" y="3589537"/>
            <a:ext cx="3998341" cy="1351524"/>
          </a:xfrm>
          <a:prstGeom prst="rect">
            <a:avLst/>
          </a:prstGeom>
        </p:spPr>
        <p:txBody>
          <a:bodyPr lIns="0" tIns="0" rIns="0" bIns="0" rtlCol="0" anchor="t">
            <a:spAutoFit/>
          </a:bodyPr>
          <a:lstStyle/>
          <a:p>
            <a:pPr algn="ctr">
              <a:lnSpc>
                <a:spcPts val="2720"/>
              </a:lnSpc>
            </a:pPr>
            <a:r>
              <a:rPr lang="en-US" sz="1700" spc="34" dirty="0">
                <a:solidFill>
                  <a:srgbClr val="1546BA"/>
                </a:solidFill>
                <a:latin typeface="Libre Franklin Light"/>
              </a:rPr>
              <a:t>Big ideas are foundational and should be taught first (i.e., phenomena in science is cyclical). </a:t>
            </a:r>
          </a:p>
          <a:p>
            <a:pPr marL="0" lvl="0" indent="0" algn="ctr">
              <a:lnSpc>
                <a:spcPts val="2720"/>
              </a:lnSpc>
              <a:spcBef>
                <a:spcPct val="0"/>
              </a:spcBef>
            </a:pPr>
            <a:endParaRPr lang="en-US" sz="1700" spc="34" dirty="0">
              <a:solidFill>
                <a:srgbClr val="1546BA"/>
              </a:solidFill>
              <a:latin typeface="Libre Franklin Light"/>
            </a:endParaRPr>
          </a:p>
        </p:txBody>
      </p:sp>
      <p:sp>
        <p:nvSpPr>
          <p:cNvPr id="27" name="TextBox 27"/>
          <p:cNvSpPr txBox="1"/>
          <p:nvPr/>
        </p:nvSpPr>
        <p:spPr>
          <a:xfrm>
            <a:off x="5145659" y="5258158"/>
            <a:ext cx="3998341" cy="271304"/>
          </a:xfrm>
          <a:prstGeom prst="rect">
            <a:avLst/>
          </a:prstGeom>
        </p:spPr>
        <p:txBody>
          <a:bodyPr lIns="0" tIns="0" rIns="0" bIns="0" rtlCol="0" anchor="t">
            <a:spAutoFit/>
          </a:bodyPr>
          <a:lstStyle/>
          <a:p>
            <a:pPr algn="ctr">
              <a:lnSpc>
                <a:spcPts val="2100"/>
              </a:lnSpc>
            </a:pPr>
            <a:r>
              <a:rPr lang="en-US" sz="2100" dirty="0">
                <a:solidFill>
                  <a:srgbClr val="241D27"/>
                </a:solidFill>
                <a:latin typeface="Montserrat Classic Bold"/>
              </a:rPr>
              <a:t>MAIN IDEAS </a:t>
            </a:r>
          </a:p>
        </p:txBody>
      </p:sp>
      <p:sp>
        <p:nvSpPr>
          <p:cNvPr id="26" name="TextBox 26"/>
          <p:cNvSpPr txBox="1"/>
          <p:nvPr/>
        </p:nvSpPr>
        <p:spPr>
          <a:xfrm>
            <a:off x="5145659" y="5713918"/>
            <a:ext cx="3998341" cy="1351524"/>
          </a:xfrm>
          <a:prstGeom prst="rect">
            <a:avLst/>
          </a:prstGeom>
        </p:spPr>
        <p:txBody>
          <a:bodyPr lIns="0" tIns="0" rIns="0" bIns="0" rtlCol="0" anchor="t">
            <a:spAutoFit/>
          </a:bodyPr>
          <a:lstStyle/>
          <a:p>
            <a:pPr algn="ctr">
              <a:lnSpc>
                <a:spcPts val="2720"/>
              </a:lnSpc>
            </a:pPr>
            <a:r>
              <a:rPr lang="en-US" sz="1700" spc="34" dirty="0">
                <a:solidFill>
                  <a:srgbClr val="1546BA"/>
                </a:solidFill>
                <a:latin typeface="Libre Franklin Light"/>
              </a:rPr>
              <a:t>Big ideas are foundational and should be taught first (i.e., phenomena in science is cyclical). </a:t>
            </a:r>
          </a:p>
          <a:p>
            <a:pPr marL="0" lvl="0" indent="0" algn="ctr">
              <a:lnSpc>
                <a:spcPts val="2720"/>
              </a:lnSpc>
              <a:spcBef>
                <a:spcPct val="0"/>
              </a:spcBef>
            </a:pPr>
            <a:endParaRPr lang="en-US" sz="1700" spc="34" dirty="0">
              <a:solidFill>
                <a:srgbClr val="1546BA"/>
              </a:solidFill>
              <a:latin typeface="Libre Franklin Light"/>
            </a:endParaRPr>
          </a:p>
        </p:txBody>
      </p:sp>
      <p:sp>
        <p:nvSpPr>
          <p:cNvPr id="16" name="TextBox 16"/>
          <p:cNvSpPr txBox="1"/>
          <p:nvPr/>
        </p:nvSpPr>
        <p:spPr>
          <a:xfrm>
            <a:off x="5236694" y="7382538"/>
            <a:ext cx="3816270" cy="271303"/>
          </a:xfrm>
          <a:prstGeom prst="rect">
            <a:avLst/>
          </a:prstGeom>
        </p:spPr>
        <p:txBody>
          <a:bodyPr lIns="0" tIns="0" rIns="0" bIns="0" rtlCol="0" anchor="t">
            <a:spAutoFit/>
          </a:bodyPr>
          <a:lstStyle/>
          <a:p>
            <a:pPr algn="ctr">
              <a:lnSpc>
                <a:spcPts val="2100"/>
              </a:lnSpc>
            </a:pPr>
            <a:r>
              <a:rPr lang="en-US" sz="2100" dirty="0">
                <a:solidFill>
                  <a:srgbClr val="241D27"/>
                </a:solidFill>
                <a:latin typeface="Montserrat Classic Bold"/>
              </a:rPr>
              <a:t>DETAILS</a:t>
            </a:r>
          </a:p>
        </p:txBody>
      </p:sp>
      <p:sp>
        <p:nvSpPr>
          <p:cNvPr id="17" name="TextBox 17"/>
          <p:cNvSpPr txBox="1"/>
          <p:nvPr/>
        </p:nvSpPr>
        <p:spPr>
          <a:xfrm>
            <a:off x="5236694" y="7838298"/>
            <a:ext cx="3816270" cy="1005275"/>
          </a:xfrm>
          <a:prstGeom prst="rect">
            <a:avLst/>
          </a:prstGeom>
        </p:spPr>
        <p:txBody>
          <a:bodyPr lIns="0" tIns="0" rIns="0" bIns="0" rtlCol="0" anchor="t">
            <a:spAutoFit/>
          </a:bodyPr>
          <a:lstStyle/>
          <a:p>
            <a:pPr algn="ctr">
              <a:lnSpc>
                <a:spcPts val="2720"/>
              </a:lnSpc>
              <a:spcBef>
                <a:spcPct val="0"/>
              </a:spcBef>
            </a:pPr>
            <a:r>
              <a:rPr lang="en-US" sz="1700" spc="34" dirty="0">
                <a:solidFill>
                  <a:srgbClr val="1546BA"/>
                </a:solidFill>
                <a:latin typeface="Libre Franklin Light"/>
              </a:rPr>
              <a:t>Specific information or unit concepts should follow (i.e., life cycle and water cycle).</a:t>
            </a:r>
          </a:p>
        </p:txBody>
      </p:sp>
      <p:sp>
        <p:nvSpPr>
          <p:cNvPr id="21" name="TextBox 21">
            <a:extLst>
              <a:ext uri="{C183D7F6-B498-43B3-948B-1728B52AA6E4}">
                <adec:decorative xmlns:adec="http://schemas.microsoft.com/office/drawing/2017/decorative" val="1"/>
              </a:ext>
            </a:extLst>
          </p:cNvPr>
          <p:cNvSpPr txBox="1"/>
          <p:nvPr/>
        </p:nvSpPr>
        <p:spPr>
          <a:xfrm rot="-5400000">
            <a:off x="-78806" y="1446066"/>
            <a:ext cx="1804414" cy="424852"/>
          </a:xfrm>
          <a:prstGeom prst="rect">
            <a:avLst/>
          </a:prstGeom>
        </p:spPr>
        <p:txBody>
          <a:bodyPr lIns="0" tIns="0" rIns="0" bIns="0" rtlCol="0" anchor="t">
            <a:spAutoFit/>
          </a:bodyPr>
          <a:lstStyle/>
          <a:p>
            <a:pPr>
              <a:lnSpc>
                <a:spcPts val="1710"/>
              </a:lnSpc>
            </a:pPr>
            <a:r>
              <a:rPr lang="en-US" sz="1710" dirty="0">
                <a:solidFill>
                  <a:srgbClr val="1546BA"/>
                </a:solidFill>
                <a:latin typeface="Montserrat Classic"/>
              </a:rPr>
              <a:t>HLP Lesson Study Series</a:t>
            </a:r>
          </a:p>
        </p:txBody>
      </p:sp>
      <p:sp>
        <p:nvSpPr>
          <p:cNvPr id="22" name="TextBox 22">
            <a:extLst>
              <a:ext uri="{C183D7F6-B498-43B3-948B-1728B52AA6E4}">
                <adec:decorative xmlns:adec="http://schemas.microsoft.com/office/drawing/2017/decorative" val="1"/>
              </a:ext>
            </a:extLst>
          </p:cNvPr>
          <p:cNvSpPr txBox="1"/>
          <p:nvPr/>
        </p:nvSpPr>
        <p:spPr>
          <a:xfrm>
            <a:off x="647700" y="9514973"/>
            <a:ext cx="658470" cy="183084"/>
          </a:xfrm>
          <a:prstGeom prst="rect">
            <a:avLst/>
          </a:prstGeom>
        </p:spPr>
        <p:txBody>
          <a:bodyPr lIns="0" tIns="0" rIns="0" bIns="0" rtlCol="0" anchor="t">
            <a:spAutoFit/>
          </a:bodyPr>
          <a:lstStyle/>
          <a:p>
            <a:pPr>
              <a:lnSpc>
                <a:spcPts val="1399"/>
              </a:lnSpc>
            </a:pPr>
            <a:r>
              <a:rPr lang="en-US" sz="1399" dirty="0">
                <a:solidFill>
                  <a:srgbClr val="1546BA"/>
                </a:solidFill>
                <a:latin typeface="Libre Franklin Bold"/>
              </a:rPr>
              <a:t>10</a:t>
            </a:r>
          </a:p>
        </p:txBody>
      </p:sp>
      <p:sp>
        <p:nvSpPr>
          <p:cNvPr id="23" name="TextBox 23"/>
          <p:cNvSpPr txBox="1"/>
          <p:nvPr/>
        </p:nvSpPr>
        <p:spPr>
          <a:xfrm>
            <a:off x="9938247" y="3828341"/>
            <a:ext cx="5401595" cy="376827"/>
          </a:xfrm>
          <a:prstGeom prst="rect">
            <a:avLst/>
          </a:prstGeom>
        </p:spPr>
        <p:txBody>
          <a:bodyPr lIns="0" tIns="0" rIns="0" bIns="0" rtlCol="0" anchor="t">
            <a:spAutoFit/>
          </a:bodyPr>
          <a:lstStyle/>
          <a:p>
            <a:pPr algn="ctr">
              <a:lnSpc>
                <a:spcPts val="2972"/>
              </a:lnSpc>
            </a:pPr>
            <a:r>
              <a:rPr lang="en-US" sz="2972" dirty="0">
                <a:solidFill>
                  <a:srgbClr val="241D27"/>
                </a:solidFill>
                <a:latin typeface="Montserrat Classic Bold"/>
              </a:rPr>
              <a:t>CYCLES </a:t>
            </a:r>
          </a:p>
        </p:txBody>
      </p:sp>
      <p:sp>
        <p:nvSpPr>
          <p:cNvPr id="24" name="TextBox 24"/>
          <p:cNvSpPr txBox="1"/>
          <p:nvPr/>
        </p:nvSpPr>
        <p:spPr>
          <a:xfrm>
            <a:off x="10857030" y="5743032"/>
            <a:ext cx="5401595" cy="351088"/>
          </a:xfrm>
          <a:prstGeom prst="rect">
            <a:avLst/>
          </a:prstGeom>
        </p:spPr>
        <p:txBody>
          <a:bodyPr lIns="0" tIns="0" rIns="0" bIns="0" rtlCol="0" anchor="t">
            <a:spAutoFit/>
          </a:bodyPr>
          <a:lstStyle/>
          <a:p>
            <a:pPr algn="ctr">
              <a:lnSpc>
                <a:spcPts val="2572"/>
              </a:lnSpc>
            </a:pPr>
            <a:r>
              <a:rPr lang="en-US" sz="2572" dirty="0">
                <a:solidFill>
                  <a:srgbClr val="241D27"/>
                </a:solidFill>
                <a:latin typeface="Montserrat Classic Bold"/>
              </a:rPr>
              <a:t>Butterfly Life Cycle</a:t>
            </a:r>
          </a:p>
        </p:txBody>
      </p:sp>
      <p:sp>
        <p:nvSpPr>
          <p:cNvPr id="28" name="TextBox 28"/>
          <p:cNvSpPr txBox="1"/>
          <p:nvPr/>
        </p:nvSpPr>
        <p:spPr>
          <a:xfrm>
            <a:off x="10857030" y="7627645"/>
            <a:ext cx="5401595" cy="351088"/>
          </a:xfrm>
          <a:prstGeom prst="rect">
            <a:avLst/>
          </a:prstGeom>
        </p:spPr>
        <p:txBody>
          <a:bodyPr lIns="0" tIns="0" rIns="0" bIns="0" rtlCol="0" anchor="t">
            <a:spAutoFit/>
          </a:bodyPr>
          <a:lstStyle/>
          <a:p>
            <a:pPr algn="ctr">
              <a:lnSpc>
                <a:spcPts val="2572"/>
              </a:lnSpc>
            </a:pPr>
            <a:r>
              <a:rPr lang="en-US" sz="2572" dirty="0">
                <a:solidFill>
                  <a:srgbClr val="241D27"/>
                </a:solidFill>
                <a:latin typeface="Montserrat Classic Bold"/>
              </a:rPr>
              <a:t>Stages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C183D7F6-B498-43B3-948B-1728B52AA6E4}">
                <adec:decorative xmlns:adec="http://schemas.microsoft.com/office/drawing/2017/decorative" val="1"/>
              </a:ext>
            </a:extLst>
          </p:cNvPr>
          <p:cNvGrpSpPr/>
          <p:nvPr/>
        </p:nvGrpSpPr>
        <p:grpSpPr>
          <a:xfrm>
            <a:off x="17555768" y="1110614"/>
            <a:ext cx="381000" cy="381000"/>
            <a:chOff x="0" y="0"/>
            <a:chExt cx="508000" cy="508000"/>
          </a:xfrm>
        </p:grpSpPr>
        <p:grpSp>
          <p:nvGrpSpPr>
            <p:cNvPr id="3" name="Group 3"/>
            <p:cNvGrpSpPr>
              <a:grpSpLocks noChangeAspect="1"/>
            </p:cNvGrpSpPr>
            <p:nvPr/>
          </p:nvGrpSpPr>
          <p:grpSpPr>
            <a:xfrm>
              <a:off x="0" y="0"/>
              <a:ext cx="508000" cy="508000"/>
              <a:chOff x="0" y="0"/>
              <a:chExt cx="6355080" cy="6355080"/>
            </a:xfrm>
          </p:grpSpPr>
          <p:sp>
            <p:nvSpPr>
              <p:cNvPr id="4" name="Freeform 4"/>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1546BA"/>
              </a:solidFill>
            </p:spPr>
            <p:txBody>
              <a:bodyPr/>
              <a:lstStyle/>
              <a:p>
                <a:endParaRPr lang="en-US"/>
              </a:p>
            </p:txBody>
          </p:sp>
        </p:grp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rot="5400000">
              <a:off x="84667" y="84667"/>
              <a:ext cx="338667" cy="338667"/>
            </a:xfrm>
            <a:prstGeom prst="rect">
              <a:avLst/>
            </a:prstGeom>
          </p:spPr>
        </p:pic>
      </p:grpSp>
      <p:grpSp>
        <p:nvGrpSpPr>
          <p:cNvPr id="6" name="Group 6">
            <a:extLst>
              <a:ext uri="{C183D7F6-B498-43B3-948B-1728B52AA6E4}">
                <adec:decorative xmlns:adec="http://schemas.microsoft.com/office/drawing/2017/decorative" val="1"/>
              </a:ext>
            </a:extLst>
          </p:cNvPr>
          <p:cNvGrpSpPr/>
          <p:nvPr/>
        </p:nvGrpSpPr>
        <p:grpSpPr>
          <a:xfrm rot="-10800000">
            <a:off x="17555768" y="565786"/>
            <a:ext cx="381000" cy="381000"/>
            <a:chOff x="0" y="0"/>
            <a:chExt cx="508000" cy="508000"/>
          </a:xfrm>
        </p:grpSpPr>
        <p:grpSp>
          <p:nvGrpSpPr>
            <p:cNvPr id="7" name="Group 7"/>
            <p:cNvGrpSpPr>
              <a:grpSpLocks noChangeAspect="1"/>
            </p:cNvGrpSpPr>
            <p:nvPr/>
          </p:nvGrpSpPr>
          <p:grpSpPr>
            <a:xfrm>
              <a:off x="0" y="0"/>
              <a:ext cx="508000" cy="508000"/>
              <a:chOff x="0" y="0"/>
              <a:chExt cx="6355080" cy="6355080"/>
            </a:xfrm>
          </p:grpSpPr>
          <p:sp>
            <p:nvSpPr>
              <p:cNvPr id="8" name="Freeform 8"/>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1546BA"/>
              </a:solidFill>
            </p:spPr>
            <p:txBody>
              <a:bodyPr/>
              <a:lstStyle/>
              <a:p>
                <a:endParaRPr lang="en-US"/>
              </a:p>
            </p:txBody>
          </p:sp>
        </p:gr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rot="5400000">
              <a:off x="84667" y="84667"/>
              <a:ext cx="338667" cy="338667"/>
            </a:xfrm>
            <a:prstGeom prst="rect">
              <a:avLst/>
            </a:prstGeom>
          </p:spPr>
        </p:pic>
      </p:grpSp>
      <p:pic>
        <p:nvPicPr>
          <p:cNvPr id="10" name="Picture 10">
            <a:extLst>
              <a:ext uri="{C183D7F6-B498-43B3-948B-1728B52AA6E4}">
                <adec:decorative xmlns:adec="http://schemas.microsoft.com/office/drawing/2017/decorative" val="1"/>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rot="-5400000">
            <a:off x="565746" y="2785442"/>
            <a:ext cx="544908" cy="381000"/>
          </a:xfrm>
          <a:prstGeom prst="rect">
            <a:avLst/>
          </a:prstGeom>
        </p:spPr>
      </p:pic>
      <p:sp>
        <p:nvSpPr>
          <p:cNvPr id="13" name="TextBox 13"/>
          <p:cNvSpPr txBox="1">
            <a:spLocks noGrp="1"/>
          </p:cNvSpPr>
          <p:nvPr>
            <p:ph type="title" idx="4294967295"/>
          </p:nvPr>
        </p:nvSpPr>
        <p:spPr>
          <a:xfrm>
            <a:off x="3099364" y="-1532891"/>
            <a:ext cx="10536153" cy="816483"/>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914400" rtl="0" eaLnBrk="1" fontAlgn="auto" latinLnBrk="0" hangingPunct="1">
              <a:lnSpc>
                <a:spcPts val="6216"/>
              </a:lnSpc>
              <a:spcBef>
                <a:spcPts val="0"/>
              </a:spcBef>
              <a:spcAft>
                <a:spcPts val="0"/>
              </a:spcAft>
              <a:buClrTx/>
              <a:buSzTx/>
              <a:buFontTx/>
              <a:buNone/>
              <a:tabLst/>
              <a:defRPr/>
            </a:pPr>
            <a:r>
              <a:rPr kumimoji="0" lang="en-US" sz="5600" b="0" i="0" u="none" strike="noStrike" kern="1200" cap="none" spc="89" normalizeH="0" baseline="0" noProof="0" dirty="0">
                <a:ln>
                  <a:noFill/>
                </a:ln>
                <a:solidFill>
                  <a:srgbClr val="011C5D"/>
                </a:solidFill>
                <a:effectLst/>
                <a:uLnTx/>
                <a:uFillTx/>
                <a:latin typeface="Montserrat Classic Bold"/>
                <a:ea typeface="+mn-ea"/>
                <a:cs typeface="+mn-cs"/>
              </a:rPr>
              <a:t>Systematic Sequencing 1</a:t>
            </a:r>
          </a:p>
        </p:txBody>
      </p:sp>
      <p:sp>
        <p:nvSpPr>
          <p:cNvPr id="11" name="TextBox 13">
            <a:extLst>
              <a:ext uri="{FF2B5EF4-FFF2-40B4-BE49-F238E27FC236}">
                <a16:creationId xmlns:a16="http://schemas.microsoft.com/office/drawing/2014/main" id="{8DEA2F43-4E09-4657-8624-D1988AD5D44E}"/>
              </a:ext>
            </a:extLst>
          </p:cNvPr>
          <p:cNvSpPr txBox="1">
            <a:spLocks/>
          </p:cNvSpPr>
          <p:nvPr/>
        </p:nvSpPr>
        <p:spPr>
          <a:xfrm>
            <a:off x="3581400" y="1424061"/>
            <a:ext cx="10536153" cy="816483"/>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ts val="6216"/>
              </a:lnSpc>
              <a:spcBef>
                <a:spcPts val="0"/>
              </a:spcBef>
              <a:defRPr/>
            </a:pPr>
            <a:r>
              <a:rPr lang="en-US" sz="5600" spc="89" dirty="0">
                <a:solidFill>
                  <a:srgbClr val="011C5D"/>
                </a:solidFill>
                <a:latin typeface="Montserrat Classic Bold"/>
                <a:ea typeface="+mn-ea"/>
                <a:cs typeface="+mn-cs"/>
              </a:rPr>
              <a:t>Systematic Sequencing</a:t>
            </a:r>
          </a:p>
        </p:txBody>
      </p:sp>
      <p:sp>
        <p:nvSpPr>
          <p:cNvPr id="12" name="TextBox 12"/>
          <p:cNvSpPr txBox="1"/>
          <p:nvPr/>
        </p:nvSpPr>
        <p:spPr>
          <a:xfrm>
            <a:off x="3304721" y="2453639"/>
            <a:ext cx="10536153" cy="346710"/>
          </a:xfrm>
          <a:prstGeom prst="rect">
            <a:avLst/>
          </a:prstGeom>
        </p:spPr>
        <p:txBody>
          <a:bodyPr lIns="0" tIns="0" rIns="0" bIns="0" rtlCol="0" anchor="t">
            <a:spAutoFit/>
          </a:bodyPr>
          <a:lstStyle/>
          <a:p>
            <a:pPr marL="0" lvl="0" indent="0" algn="ctr">
              <a:lnSpc>
                <a:spcPts val="2940"/>
              </a:lnSpc>
            </a:pPr>
            <a:r>
              <a:rPr lang="en-US" sz="2100" spc="42" dirty="0">
                <a:solidFill>
                  <a:srgbClr val="1546BA"/>
                </a:solidFill>
                <a:latin typeface="Libre Franklin Light Bold"/>
              </a:rPr>
              <a:t>Questions for Teachers to Ask</a:t>
            </a:r>
          </a:p>
        </p:txBody>
      </p:sp>
      <p:sp>
        <p:nvSpPr>
          <p:cNvPr id="16" name="TextBox 16"/>
          <p:cNvSpPr txBox="1"/>
          <p:nvPr/>
        </p:nvSpPr>
        <p:spPr>
          <a:xfrm>
            <a:off x="3078582" y="3291258"/>
            <a:ext cx="12130837" cy="347027"/>
          </a:xfrm>
          <a:prstGeom prst="rect">
            <a:avLst/>
          </a:prstGeom>
        </p:spPr>
        <p:txBody>
          <a:bodyPr lIns="0" tIns="0" rIns="0" bIns="0" rtlCol="0" anchor="t">
            <a:spAutoFit/>
          </a:bodyPr>
          <a:lstStyle/>
          <a:p>
            <a:pPr algn="ctr">
              <a:lnSpc>
                <a:spcPts val="2599"/>
              </a:lnSpc>
            </a:pPr>
            <a:r>
              <a:rPr lang="en-US" sz="2599" dirty="0">
                <a:solidFill>
                  <a:srgbClr val="241D27"/>
                </a:solidFill>
                <a:latin typeface="Montserrat Classic Bold"/>
              </a:rPr>
              <a:t>BIG IDEAS and MAIN IDEAS before DETAILS</a:t>
            </a:r>
          </a:p>
        </p:txBody>
      </p:sp>
      <p:sp>
        <p:nvSpPr>
          <p:cNvPr id="15" name="TextBox 15"/>
          <p:cNvSpPr txBox="1"/>
          <p:nvPr/>
        </p:nvSpPr>
        <p:spPr>
          <a:xfrm>
            <a:off x="3078582" y="3801310"/>
            <a:ext cx="12130837" cy="5732337"/>
          </a:xfrm>
          <a:prstGeom prst="rect">
            <a:avLst/>
          </a:prstGeom>
        </p:spPr>
        <p:txBody>
          <a:bodyPr lIns="0" tIns="0" rIns="0" bIns="0" rtlCol="0" anchor="t">
            <a:spAutoFit/>
          </a:bodyPr>
          <a:lstStyle/>
          <a:p>
            <a:pPr marL="561336" lvl="1" indent="-280668">
              <a:lnSpc>
                <a:spcPts val="4159"/>
              </a:lnSpc>
              <a:buFont typeface="Arial"/>
              <a:buChar char="•"/>
            </a:pPr>
            <a:r>
              <a:rPr lang="en-US" sz="2599" spc="51" dirty="0">
                <a:solidFill>
                  <a:srgbClr val="1546BA"/>
                </a:solidFill>
                <a:latin typeface="Libre Franklin Medium"/>
              </a:rPr>
              <a:t>Does future learning rely on acquisition of the knowledge or skill? </a:t>
            </a:r>
          </a:p>
          <a:p>
            <a:pPr marL="561336" lvl="1" indent="-280668">
              <a:lnSpc>
                <a:spcPts val="4159"/>
              </a:lnSpc>
              <a:buFont typeface="Arial"/>
              <a:buChar char="•"/>
            </a:pPr>
            <a:r>
              <a:rPr lang="en-US" sz="2599" spc="51" dirty="0">
                <a:solidFill>
                  <a:srgbClr val="1546BA"/>
                </a:solidFill>
                <a:latin typeface="Libre Franklin Medium"/>
              </a:rPr>
              <a:t>Is the skill needed for independent living? </a:t>
            </a:r>
          </a:p>
          <a:p>
            <a:pPr marL="561336" lvl="1" indent="-280668">
              <a:lnSpc>
                <a:spcPts val="4159"/>
              </a:lnSpc>
              <a:buFont typeface="Arial"/>
              <a:buChar char="•"/>
            </a:pPr>
            <a:r>
              <a:rPr lang="en-US" sz="2599" spc="51" dirty="0">
                <a:solidFill>
                  <a:srgbClr val="1546BA"/>
                </a:solidFill>
                <a:latin typeface="Libre Franklin Medium"/>
              </a:rPr>
              <a:t>Will the skill help students in other content areas or classes?</a:t>
            </a:r>
          </a:p>
          <a:p>
            <a:pPr marL="560705" lvl="1" indent="-280035">
              <a:lnSpc>
                <a:spcPts val="4159"/>
              </a:lnSpc>
              <a:buFont typeface="Arial"/>
              <a:buChar char="•"/>
            </a:pPr>
            <a:r>
              <a:rPr lang="en-US" sz="2550" spc="51" dirty="0">
                <a:solidFill>
                  <a:srgbClr val="1546BA"/>
                </a:solidFill>
                <a:latin typeface="Libre Franklin Medium"/>
              </a:rPr>
              <a:t>Is it a standard or goal on the student's Individualized Education Program (IEP)?</a:t>
            </a:r>
          </a:p>
          <a:p>
            <a:pPr marL="560705" lvl="1" indent="-280035">
              <a:lnSpc>
                <a:spcPts val="4159"/>
              </a:lnSpc>
              <a:buFont typeface="Arial"/>
              <a:buChar char="•"/>
            </a:pPr>
            <a:r>
              <a:rPr lang="en-US" sz="2550" spc="51" dirty="0">
                <a:solidFill>
                  <a:srgbClr val="1546BA"/>
                </a:solidFill>
                <a:latin typeface="Libre Franklin Medium"/>
              </a:rPr>
              <a:t>Is the skill valued by others in the community, and </a:t>
            </a:r>
            <a:r>
              <a:rPr lang="en-US" sz="2550" spc="51" dirty="0">
                <a:solidFill>
                  <a:srgbClr val="1546BA"/>
                </a:solidFill>
                <a:highlight>
                  <a:srgbClr val="FFFF00"/>
                </a:highlight>
                <a:latin typeface="Libre Franklin Medium"/>
              </a:rPr>
              <a:t>does it have </a:t>
            </a:r>
            <a:r>
              <a:rPr lang="en-US" sz="2550" spc="51" dirty="0">
                <a:solidFill>
                  <a:srgbClr val="1546BA"/>
                </a:solidFill>
                <a:latin typeface="Libre Franklin Medium"/>
              </a:rPr>
              <a:t>utility in the real world?</a:t>
            </a:r>
          </a:p>
          <a:p>
            <a:pPr marL="561336" lvl="1" indent="-280668">
              <a:lnSpc>
                <a:spcPts val="4159"/>
              </a:lnSpc>
              <a:buFont typeface="Arial"/>
              <a:buChar char="•"/>
            </a:pPr>
            <a:r>
              <a:rPr lang="en-US" sz="2599" spc="51" dirty="0">
                <a:solidFill>
                  <a:srgbClr val="1546BA"/>
                </a:solidFill>
                <a:latin typeface="Libre Franklin Medium"/>
              </a:rPr>
              <a:t>What is the cost-benefit ratio? Is the amount of time needed to teach the skill commensurate with anticipated outcomes? </a:t>
            </a:r>
          </a:p>
          <a:p>
            <a:pPr>
              <a:lnSpc>
                <a:spcPts val="4159"/>
              </a:lnSpc>
            </a:pPr>
            <a:endParaRPr lang="en-US" sz="2599" spc="51" dirty="0">
              <a:solidFill>
                <a:srgbClr val="1546BA"/>
              </a:solidFill>
              <a:latin typeface="Libre Franklin Medium"/>
            </a:endParaRPr>
          </a:p>
          <a:p>
            <a:pPr marL="0" lvl="0" indent="0" algn="ctr">
              <a:lnSpc>
                <a:spcPts val="2720"/>
              </a:lnSpc>
              <a:spcBef>
                <a:spcPct val="0"/>
              </a:spcBef>
            </a:pPr>
            <a:endParaRPr lang="en-US" sz="2599" spc="51" dirty="0">
              <a:solidFill>
                <a:srgbClr val="1546BA"/>
              </a:solidFill>
              <a:latin typeface="Libre Franklin Medium"/>
            </a:endParaRPr>
          </a:p>
        </p:txBody>
      </p:sp>
      <p:sp>
        <p:nvSpPr>
          <p:cNvPr id="17" name="TextBox 17">
            <a:extLst>
              <a:ext uri="{C183D7F6-B498-43B3-948B-1728B52AA6E4}">
                <adec:decorative xmlns:adec="http://schemas.microsoft.com/office/drawing/2017/decorative" val="1"/>
              </a:ext>
            </a:extLst>
          </p:cNvPr>
          <p:cNvSpPr txBox="1"/>
          <p:nvPr/>
        </p:nvSpPr>
        <p:spPr>
          <a:xfrm rot="-5400000">
            <a:off x="-78806" y="1446066"/>
            <a:ext cx="1804414" cy="424852"/>
          </a:xfrm>
          <a:prstGeom prst="rect">
            <a:avLst/>
          </a:prstGeom>
        </p:spPr>
        <p:txBody>
          <a:bodyPr lIns="0" tIns="0" rIns="0" bIns="0" rtlCol="0" anchor="t">
            <a:spAutoFit/>
          </a:bodyPr>
          <a:lstStyle/>
          <a:p>
            <a:pPr>
              <a:lnSpc>
                <a:spcPts val="1710"/>
              </a:lnSpc>
            </a:pPr>
            <a:r>
              <a:rPr lang="en-US" sz="1710" dirty="0">
                <a:solidFill>
                  <a:srgbClr val="1546BA"/>
                </a:solidFill>
                <a:latin typeface="Montserrat Classic"/>
              </a:rPr>
              <a:t>HLP Lesson Study Series</a:t>
            </a:r>
          </a:p>
        </p:txBody>
      </p:sp>
      <p:sp>
        <p:nvSpPr>
          <p:cNvPr id="18" name="TextBox 18">
            <a:extLst>
              <a:ext uri="{C183D7F6-B498-43B3-948B-1728B52AA6E4}">
                <adec:decorative xmlns:adec="http://schemas.microsoft.com/office/drawing/2017/decorative" val="1"/>
              </a:ext>
            </a:extLst>
          </p:cNvPr>
          <p:cNvSpPr txBox="1"/>
          <p:nvPr/>
        </p:nvSpPr>
        <p:spPr>
          <a:xfrm>
            <a:off x="647700" y="9535203"/>
            <a:ext cx="658470" cy="183084"/>
          </a:xfrm>
          <a:prstGeom prst="rect">
            <a:avLst/>
          </a:prstGeom>
        </p:spPr>
        <p:txBody>
          <a:bodyPr lIns="0" tIns="0" rIns="0" bIns="0" rtlCol="0" anchor="t">
            <a:spAutoFit/>
          </a:bodyPr>
          <a:lstStyle/>
          <a:p>
            <a:pPr>
              <a:lnSpc>
                <a:spcPts val="1399"/>
              </a:lnSpc>
            </a:pPr>
            <a:r>
              <a:rPr lang="en-US" sz="1399" dirty="0">
                <a:solidFill>
                  <a:srgbClr val="1546BA"/>
                </a:solidFill>
                <a:latin typeface="Libre Franklin Bold"/>
              </a:rPr>
              <a:t>11</a:t>
            </a:r>
          </a:p>
        </p:txBody>
      </p:sp>
      <p:sp>
        <p:nvSpPr>
          <p:cNvPr id="19" name="TextBox 19"/>
          <p:cNvSpPr txBox="1"/>
          <p:nvPr/>
        </p:nvSpPr>
        <p:spPr>
          <a:xfrm>
            <a:off x="13563601" y="9136379"/>
            <a:ext cx="3695700" cy="269304"/>
          </a:xfrm>
          <a:prstGeom prst="rect">
            <a:avLst/>
          </a:prstGeom>
        </p:spPr>
        <p:txBody>
          <a:bodyPr wrap="square" lIns="0" tIns="0" rIns="0" bIns="0" rtlCol="0" anchor="t">
            <a:spAutoFit/>
          </a:bodyPr>
          <a:lstStyle/>
          <a:p>
            <a:pPr algn="ctr">
              <a:lnSpc>
                <a:spcPts val="2100"/>
              </a:lnSpc>
              <a:spcBef>
                <a:spcPct val="0"/>
              </a:spcBef>
            </a:pPr>
            <a:r>
              <a:rPr lang="en-US" sz="2100" dirty="0">
                <a:solidFill>
                  <a:srgbClr val="1546BA"/>
                </a:solidFill>
                <a:latin typeface="Libre Franklin Light Bold"/>
              </a:rPr>
              <a:t>(Konrad et al., 2019, p. 162)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C183D7F6-B498-43B3-948B-1728B52AA6E4}">
                <adec:decorative xmlns:adec="http://schemas.microsoft.com/office/drawing/2017/decorative" val="1"/>
              </a:ext>
            </a:extLst>
          </p:cNvPr>
          <p:cNvGrpSpPr/>
          <p:nvPr/>
        </p:nvGrpSpPr>
        <p:grpSpPr>
          <a:xfrm>
            <a:off x="17555768" y="1110614"/>
            <a:ext cx="381000" cy="381000"/>
            <a:chOff x="0" y="0"/>
            <a:chExt cx="508000" cy="508000"/>
          </a:xfrm>
        </p:grpSpPr>
        <p:grpSp>
          <p:nvGrpSpPr>
            <p:cNvPr id="3" name="Group 3"/>
            <p:cNvGrpSpPr>
              <a:grpSpLocks noChangeAspect="1"/>
            </p:cNvGrpSpPr>
            <p:nvPr/>
          </p:nvGrpSpPr>
          <p:grpSpPr>
            <a:xfrm>
              <a:off x="0" y="0"/>
              <a:ext cx="508000" cy="508000"/>
              <a:chOff x="0" y="0"/>
              <a:chExt cx="6355080" cy="6355080"/>
            </a:xfrm>
          </p:grpSpPr>
          <p:sp>
            <p:nvSpPr>
              <p:cNvPr id="4" name="Freeform 4"/>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1546BA"/>
              </a:solidFill>
            </p:spPr>
            <p:txBody>
              <a:bodyPr/>
              <a:lstStyle/>
              <a:p>
                <a:endParaRPr lang="en-US"/>
              </a:p>
            </p:txBody>
          </p:sp>
        </p:grp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rot="5400000">
              <a:off x="84667" y="84667"/>
              <a:ext cx="338667" cy="338667"/>
            </a:xfrm>
            <a:prstGeom prst="rect">
              <a:avLst/>
            </a:prstGeom>
          </p:spPr>
        </p:pic>
      </p:grpSp>
      <p:grpSp>
        <p:nvGrpSpPr>
          <p:cNvPr id="6" name="Group 6">
            <a:extLst>
              <a:ext uri="{C183D7F6-B498-43B3-948B-1728B52AA6E4}">
                <adec:decorative xmlns:adec="http://schemas.microsoft.com/office/drawing/2017/decorative" val="1"/>
              </a:ext>
            </a:extLst>
          </p:cNvPr>
          <p:cNvGrpSpPr/>
          <p:nvPr/>
        </p:nvGrpSpPr>
        <p:grpSpPr>
          <a:xfrm rot="-10800000">
            <a:off x="17555768" y="565786"/>
            <a:ext cx="381000" cy="381000"/>
            <a:chOff x="0" y="0"/>
            <a:chExt cx="508000" cy="508000"/>
          </a:xfrm>
        </p:grpSpPr>
        <p:grpSp>
          <p:nvGrpSpPr>
            <p:cNvPr id="7" name="Group 7"/>
            <p:cNvGrpSpPr>
              <a:grpSpLocks noChangeAspect="1"/>
            </p:cNvGrpSpPr>
            <p:nvPr/>
          </p:nvGrpSpPr>
          <p:grpSpPr>
            <a:xfrm>
              <a:off x="0" y="0"/>
              <a:ext cx="508000" cy="508000"/>
              <a:chOff x="0" y="0"/>
              <a:chExt cx="6355080" cy="6355080"/>
            </a:xfrm>
          </p:grpSpPr>
          <p:sp>
            <p:nvSpPr>
              <p:cNvPr id="8" name="Freeform 8"/>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1546BA"/>
              </a:solidFill>
            </p:spPr>
            <p:txBody>
              <a:bodyPr/>
              <a:lstStyle/>
              <a:p>
                <a:endParaRPr lang="en-US"/>
              </a:p>
            </p:txBody>
          </p:sp>
        </p:gr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rot="5400000">
              <a:off x="84667" y="84667"/>
              <a:ext cx="338667" cy="338667"/>
            </a:xfrm>
            <a:prstGeom prst="rect">
              <a:avLst/>
            </a:prstGeom>
          </p:spPr>
        </p:pic>
      </p:grpSp>
      <p:pic>
        <p:nvPicPr>
          <p:cNvPr id="10" name="Picture 10">
            <a:extLst>
              <a:ext uri="{C183D7F6-B498-43B3-948B-1728B52AA6E4}">
                <adec:decorative xmlns:adec="http://schemas.microsoft.com/office/drawing/2017/decorative" val="1"/>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rot="-5400000">
            <a:off x="565746" y="2785442"/>
            <a:ext cx="544908" cy="381000"/>
          </a:xfrm>
          <a:prstGeom prst="rect">
            <a:avLst/>
          </a:prstGeom>
        </p:spPr>
      </p:pic>
      <p:sp>
        <p:nvSpPr>
          <p:cNvPr id="14" name="TextBox 14"/>
          <p:cNvSpPr txBox="1">
            <a:spLocks noGrp="1"/>
          </p:cNvSpPr>
          <p:nvPr>
            <p:ph type="title" idx="4294967295"/>
          </p:nvPr>
        </p:nvSpPr>
        <p:spPr>
          <a:xfrm>
            <a:off x="3304721" y="1520189"/>
            <a:ext cx="10536153" cy="816483"/>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914400" rtl="0" eaLnBrk="1" fontAlgn="auto" latinLnBrk="0" hangingPunct="1">
              <a:lnSpc>
                <a:spcPts val="6216"/>
              </a:lnSpc>
              <a:spcBef>
                <a:spcPts val="0"/>
              </a:spcBef>
              <a:spcAft>
                <a:spcPts val="0"/>
              </a:spcAft>
              <a:buClrTx/>
              <a:buSzTx/>
              <a:buFontTx/>
              <a:buNone/>
              <a:tabLst/>
              <a:defRPr/>
            </a:pPr>
            <a:r>
              <a:rPr kumimoji="0" lang="en-US" sz="5600" b="0" i="0" u="none" strike="noStrike" kern="1200" cap="none" spc="89" normalizeH="0" baseline="0" noProof="0" dirty="0">
                <a:ln>
                  <a:noFill/>
                </a:ln>
                <a:solidFill>
                  <a:srgbClr val="011C5D"/>
                </a:solidFill>
                <a:effectLst/>
                <a:uLnTx/>
                <a:uFillTx/>
                <a:latin typeface="Montserrat Classic Bold"/>
                <a:ea typeface="+mn-ea"/>
                <a:cs typeface="+mn-cs"/>
              </a:rPr>
              <a:t>Systematic Sequencing  </a:t>
            </a:r>
          </a:p>
        </p:txBody>
      </p:sp>
      <p:sp>
        <p:nvSpPr>
          <p:cNvPr id="13" name="TextBox 13"/>
          <p:cNvSpPr txBox="1"/>
          <p:nvPr/>
        </p:nvSpPr>
        <p:spPr>
          <a:xfrm>
            <a:off x="3304721" y="2453639"/>
            <a:ext cx="10536153" cy="346710"/>
          </a:xfrm>
          <a:prstGeom prst="rect">
            <a:avLst/>
          </a:prstGeom>
        </p:spPr>
        <p:txBody>
          <a:bodyPr lIns="0" tIns="0" rIns="0" bIns="0" rtlCol="0" anchor="t">
            <a:spAutoFit/>
          </a:bodyPr>
          <a:lstStyle/>
          <a:p>
            <a:pPr marL="0" lvl="0" indent="0" algn="ctr">
              <a:lnSpc>
                <a:spcPts val="2940"/>
              </a:lnSpc>
            </a:pPr>
            <a:r>
              <a:rPr lang="en-US" sz="2100" spc="42" dirty="0">
                <a:solidFill>
                  <a:srgbClr val="1546BA"/>
                </a:solidFill>
                <a:latin typeface="Libre Franklin Light Bold"/>
              </a:rPr>
              <a:t>General Principles</a:t>
            </a:r>
          </a:p>
        </p:txBody>
      </p:sp>
      <p:sp>
        <p:nvSpPr>
          <p:cNvPr id="18" name="TextBox 18"/>
          <p:cNvSpPr txBox="1"/>
          <p:nvPr/>
        </p:nvSpPr>
        <p:spPr>
          <a:xfrm>
            <a:off x="2364022" y="3801554"/>
            <a:ext cx="3998341" cy="261779"/>
          </a:xfrm>
          <a:prstGeom prst="rect">
            <a:avLst/>
          </a:prstGeom>
        </p:spPr>
        <p:txBody>
          <a:bodyPr lIns="0" tIns="0" rIns="0" bIns="0" rtlCol="0" anchor="t">
            <a:spAutoFit/>
          </a:bodyPr>
          <a:lstStyle/>
          <a:p>
            <a:pPr algn="ctr">
              <a:lnSpc>
                <a:spcPts val="2100"/>
              </a:lnSpc>
            </a:pPr>
            <a:r>
              <a:rPr lang="en-US" sz="2100" dirty="0">
                <a:solidFill>
                  <a:srgbClr val="241D27"/>
                </a:solidFill>
                <a:latin typeface="Montserrat Classic Bold"/>
              </a:rPr>
              <a:t>LESS COMPLEX SKILLS</a:t>
            </a:r>
          </a:p>
        </p:txBody>
      </p:sp>
      <p:sp>
        <p:nvSpPr>
          <p:cNvPr id="20" name="TextBox 20"/>
          <p:cNvSpPr txBox="1"/>
          <p:nvPr/>
        </p:nvSpPr>
        <p:spPr>
          <a:xfrm>
            <a:off x="2364022" y="4818962"/>
            <a:ext cx="3998341" cy="261779"/>
          </a:xfrm>
          <a:prstGeom prst="rect">
            <a:avLst/>
          </a:prstGeom>
        </p:spPr>
        <p:txBody>
          <a:bodyPr lIns="0" tIns="0" rIns="0" bIns="0" rtlCol="0" anchor="t">
            <a:spAutoFit/>
          </a:bodyPr>
          <a:lstStyle/>
          <a:p>
            <a:pPr algn="ctr">
              <a:lnSpc>
                <a:spcPts val="2100"/>
              </a:lnSpc>
            </a:pPr>
            <a:r>
              <a:rPr lang="en-US" sz="2100" dirty="0">
                <a:solidFill>
                  <a:srgbClr val="241D27"/>
                </a:solidFill>
                <a:latin typeface="Montserrat Classic Bold"/>
              </a:rPr>
              <a:t>PREREQUISITES</a:t>
            </a:r>
          </a:p>
        </p:txBody>
      </p:sp>
      <p:sp>
        <p:nvSpPr>
          <p:cNvPr id="22" name="TextBox 22"/>
          <p:cNvSpPr txBox="1"/>
          <p:nvPr/>
        </p:nvSpPr>
        <p:spPr>
          <a:xfrm>
            <a:off x="2493831" y="5833216"/>
            <a:ext cx="3998341" cy="261779"/>
          </a:xfrm>
          <a:prstGeom prst="rect">
            <a:avLst/>
          </a:prstGeom>
        </p:spPr>
        <p:txBody>
          <a:bodyPr lIns="0" tIns="0" rIns="0" bIns="0" rtlCol="0" anchor="t">
            <a:spAutoFit/>
          </a:bodyPr>
          <a:lstStyle/>
          <a:p>
            <a:pPr algn="ctr">
              <a:lnSpc>
                <a:spcPts val="2100"/>
              </a:lnSpc>
            </a:pPr>
            <a:r>
              <a:rPr lang="en-US" sz="2100" dirty="0">
                <a:solidFill>
                  <a:srgbClr val="241D27"/>
                </a:solidFill>
                <a:latin typeface="Montserrat Classic Bold"/>
              </a:rPr>
              <a:t>CONCRETE</a:t>
            </a:r>
          </a:p>
        </p:txBody>
      </p:sp>
      <p:sp>
        <p:nvSpPr>
          <p:cNvPr id="24" name="TextBox 24"/>
          <p:cNvSpPr txBox="1"/>
          <p:nvPr/>
        </p:nvSpPr>
        <p:spPr>
          <a:xfrm>
            <a:off x="2493831" y="6847470"/>
            <a:ext cx="3998341" cy="261779"/>
          </a:xfrm>
          <a:prstGeom prst="rect">
            <a:avLst/>
          </a:prstGeom>
        </p:spPr>
        <p:txBody>
          <a:bodyPr lIns="0" tIns="0" rIns="0" bIns="0" rtlCol="0" anchor="t">
            <a:spAutoFit/>
          </a:bodyPr>
          <a:lstStyle/>
          <a:p>
            <a:pPr algn="ctr">
              <a:lnSpc>
                <a:spcPts val="2100"/>
              </a:lnSpc>
            </a:pPr>
            <a:r>
              <a:rPr lang="en-US" sz="2100" dirty="0">
                <a:solidFill>
                  <a:srgbClr val="241D27"/>
                </a:solidFill>
                <a:latin typeface="Montserrat Classic Bold"/>
              </a:rPr>
              <a:t>SIMILAR SKILLS &amp; CONCEPTS</a:t>
            </a:r>
          </a:p>
        </p:txBody>
      </p:sp>
      <p:pic>
        <p:nvPicPr>
          <p:cNvPr id="11" name="Picture 11" descr="Arrows pointing right"/>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p:blipFill>
        <p:spPr>
          <a:xfrm>
            <a:off x="7051219" y="4063333"/>
            <a:ext cx="4185563" cy="2720616"/>
          </a:xfrm>
          <a:prstGeom prst="rect">
            <a:avLst/>
          </a:prstGeom>
        </p:spPr>
      </p:pic>
      <p:sp>
        <p:nvSpPr>
          <p:cNvPr id="15" name="TextBox 15">
            <a:extLst>
              <a:ext uri="{C183D7F6-B498-43B3-948B-1728B52AA6E4}">
                <adec:decorative xmlns:adec="http://schemas.microsoft.com/office/drawing/2017/decorative" val="1"/>
              </a:ext>
            </a:extLst>
          </p:cNvPr>
          <p:cNvSpPr txBox="1"/>
          <p:nvPr/>
        </p:nvSpPr>
        <p:spPr>
          <a:xfrm rot="-5400000">
            <a:off x="-78806" y="1446066"/>
            <a:ext cx="1804414" cy="424852"/>
          </a:xfrm>
          <a:prstGeom prst="rect">
            <a:avLst/>
          </a:prstGeom>
        </p:spPr>
        <p:txBody>
          <a:bodyPr lIns="0" tIns="0" rIns="0" bIns="0" rtlCol="0" anchor="t">
            <a:spAutoFit/>
          </a:bodyPr>
          <a:lstStyle/>
          <a:p>
            <a:pPr>
              <a:lnSpc>
                <a:spcPts val="1710"/>
              </a:lnSpc>
            </a:pPr>
            <a:r>
              <a:rPr lang="en-US" sz="1710" dirty="0">
                <a:solidFill>
                  <a:srgbClr val="1546BA"/>
                </a:solidFill>
                <a:latin typeface="Montserrat Classic"/>
              </a:rPr>
              <a:t>HLP Lesson Study Series</a:t>
            </a:r>
          </a:p>
        </p:txBody>
      </p:sp>
      <p:sp>
        <p:nvSpPr>
          <p:cNvPr id="16" name="TextBox 16">
            <a:extLst>
              <a:ext uri="{C183D7F6-B498-43B3-948B-1728B52AA6E4}">
                <adec:decorative xmlns:adec="http://schemas.microsoft.com/office/drawing/2017/decorative" val="1"/>
              </a:ext>
            </a:extLst>
          </p:cNvPr>
          <p:cNvSpPr txBox="1"/>
          <p:nvPr/>
        </p:nvSpPr>
        <p:spPr>
          <a:xfrm>
            <a:off x="647700" y="9535203"/>
            <a:ext cx="658470" cy="183084"/>
          </a:xfrm>
          <a:prstGeom prst="rect">
            <a:avLst/>
          </a:prstGeom>
        </p:spPr>
        <p:txBody>
          <a:bodyPr lIns="0" tIns="0" rIns="0" bIns="0" rtlCol="0" anchor="t">
            <a:spAutoFit/>
          </a:bodyPr>
          <a:lstStyle/>
          <a:p>
            <a:pPr>
              <a:lnSpc>
                <a:spcPts val="1399"/>
              </a:lnSpc>
            </a:pPr>
            <a:r>
              <a:rPr lang="en-US" sz="1399" dirty="0">
                <a:solidFill>
                  <a:srgbClr val="1546BA"/>
                </a:solidFill>
                <a:latin typeface="Libre Franklin Bold"/>
              </a:rPr>
              <a:t>12</a:t>
            </a:r>
          </a:p>
        </p:txBody>
      </p:sp>
      <p:sp>
        <p:nvSpPr>
          <p:cNvPr id="19" name="TextBox 19"/>
          <p:cNvSpPr txBox="1"/>
          <p:nvPr/>
        </p:nvSpPr>
        <p:spPr>
          <a:xfrm>
            <a:off x="11541587" y="3801554"/>
            <a:ext cx="3998341" cy="261779"/>
          </a:xfrm>
          <a:prstGeom prst="rect">
            <a:avLst/>
          </a:prstGeom>
        </p:spPr>
        <p:txBody>
          <a:bodyPr lIns="0" tIns="0" rIns="0" bIns="0" rtlCol="0" anchor="t">
            <a:spAutoFit/>
          </a:bodyPr>
          <a:lstStyle/>
          <a:p>
            <a:pPr algn="ctr">
              <a:lnSpc>
                <a:spcPts val="2100"/>
              </a:lnSpc>
            </a:pPr>
            <a:r>
              <a:rPr lang="en-US" sz="2100" dirty="0">
                <a:solidFill>
                  <a:srgbClr val="241D27"/>
                </a:solidFill>
                <a:latin typeface="Montserrat Classic Bold"/>
              </a:rPr>
              <a:t>MORE COMPLEX SKILLS</a:t>
            </a:r>
          </a:p>
        </p:txBody>
      </p:sp>
      <p:sp>
        <p:nvSpPr>
          <p:cNvPr id="21" name="TextBox 21"/>
          <p:cNvSpPr txBox="1"/>
          <p:nvPr/>
        </p:nvSpPr>
        <p:spPr>
          <a:xfrm>
            <a:off x="11841703" y="4818962"/>
            <a:ext cx="3998341" cy="261779"/>
          </a:xfrm>
          <a:prstGeom prst="rect">
            <a:avLst/>
          </a:prstGeom>
        </p:spPr>
        <p:txBody>
          <a:bodyPr lIns="0" tIns="0" rIns="0" bIns="0" rtlCol="0" anchor="t">
            <a:spAutoFit/>
          </a:bodyPr>
          <a:lstStyle/>
          <a:p>
            <a:pPr algn="ctr">
              <a:lnSpc>
                <a:spcPts val="2100"/>
              </a:lnSpc>
            </a:pPr>
            <a:r>
              <a:rPr lang="en-US" sz="2100" dirty="0">
                <a:solidFill>
                  <a:srgbClr val="241D27"/>
                </a:solidFill>
                <a:latin typeface="Montserrat Classic Bold"/>
              </a:rPr>
              <a:t>REQUISITES</a:t>
            </a:r>
          </a:p>
        </p:txBody>
      </p:sp>
      <p:sp>
        <p:nvSpPr>
          <p:cNvPr id="23" name="TextBox 23"/>
          <p:cNvSpPr txBox="1"/>
          <p:nvPr/>
        </p:nvSpPr>
        <p:spPr>
          <a:xfrm>
            <a:off x="11841703" y="5833216"/>
            <a:ext cx="3998341" cy="261779"/>
          </a:xfrm>
          <a:prstGeom prst="rect">
            <a:avLst/>
          </a:prstGeom>
        </p:spPr>
        <p:txBody>
          <a:bodyPr lIns="0" tIns="0" rIns="0" bIns="0" rtlCol="0" anchor="t">
            <a:spAutoFit/>
          </a:bodyPr>
          <a:lstStyle/>
          <a:p>
            <a:pPr algn="ctr">
              <a:lnSpc>
                <a:spcPts val="2100"/>
              </a:lnSpc>
            </a:pPr>
            <a:r>
              <a:rPr lang="en-US" sz="2100" dirty="0">
                <a:solidFill>
                  <a:srgbClr val="241D27"/>
                </a:solidFill>
                <a:latin typeface="Montserrat Classic Bold"/>
              </a:rPr>
              <a:t>ABSTRACT</a:t>
            </a:r>
          </a:p>
        </p:txBody>
      </p:sp>
      <p:sp>
        <p:nvSpPr>
          <p:cNvPr id="25" name="TextBox 25"/>
          <p:cNvSpPr txBox="1"/>
          <p:nvPr/>
        </p:nvSpPr>
        <p:spPr>
          <a:xfrm>
            <a:off x="11214570" y="6847470"/>
            <a:ext cx="5272837" cy="261779"/>
          </a:xfrm>
          <a:prstGeom prst="rect">
            <a:avLst/>
          </a:prstGeom>
        </p:spPr>
        <p:txBody>
          <a:bodyPr lIns="0" tIns="0" rIns="0" bIns="0" rtlCol="0" anchor="t">
            <a:spAutoFit/>
          </a:bodyPr>
          <a:lstStyle/>
          <a:p>
            <a:pPr algn="ctr">
              <a:lnSpc>
                <a:spcPts val="2100"/>
              </a:lnSpc>
            </a:pPr>
            <a:r>
              <a:rPr lang="en-US" sz="2100" dirty="0">
                <a:solidFill>
                  <a:srgbClr val="241D27"/>
                </a:solidFill>
                <a:latin typeface="Montserrat Classic Bold"/>
              </a:rPr>
              <a:t>SKILLS REQUIRING DISCRIMINATION</a:t>
            </a:r>
          </a:p>
        </p:txBody>
      </p:sp>
      <p:sp>
        <p:nvSpPr>
          <p:cNvPr id="17" name="TextBox 17"/>
          <p:cNvSpPr txBox="1"/>
          <p:nvPr/>
        </p:nvSpPr>
        <p:spPr>
          <a:xfrm>
            <a:off x="13639800" y="9330518"/>
            <a:ext cx="3601641" cy="269304"/>
          </a:xfrm>
          <a:prstGeom prst="rect">
            <a:avLst/>
          </a:prstGeom>
        </p:spPr>
        <p:txBody>
          <a:bodyPr wrap="square" lIns="0" tIns="0" rIns="0" bIns="0" rtlCol="0" anchor="t">
            <a:spAutoFit/>
          </a:bodyPr>
          <a:lstStyle/>
          <a:p>
            <a:pPr algn="ctr">
              <a:lnSpc>
                <a:spcPts val="2100"/>
              </a:lnSpc>
              <a:spcBef>
                <a:spcPct val="0"/>
              </a:spcBef>
            </a:pPr>
            <a:r>
              <a:rPr lang="en-US" sz="2100" dirty="0">
                <a:solidFill>
                  <a:srgbClr val="1546BA"/>
                </a:solidFill>
                <a:latin typeface="Libre Franklin Light Bold"/>
              </a:rPr>
              <a:t>(Konrad et al., 2019, p. 161)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C183D7F6-B498-43B3-948B-1728B52AA6E4}">
                <adec:decorative xmlns:adec="http://schemas.microsoft.com/office/drawing/2017/decorative" val="1"/>
              </a:ext>
            </a:extLst>
          </p:cNvPr>
          <p:cNvGrpSpPr/>
          <p:nvPr/>
        </p:nvGrpSpPr>
        <p:grpSpPr>
          <a:xfrm>
            <a:off x="17555768" y="1110614"/>
            <a:ext cx="381000" cy="381000"/>
            <a:chOff x="0" y="0"/>
            <a:chExt cx="508000" cy="508000"/>
          </a:xfrm>
        </p:grpSpPr>
        <p:grpSp>
          <p:nvGrpSpPr>
            <p:cNvPr id="3" name="Group 3"/>
            <p:cNvGrpSpPr>
              <a:grpSpLocks noChangeAspect="1"/>
            </p:cNvGrpSpPr>
            <p:nvPr/>
          </p:nvGrpSpPr>
          <p:grpSpPr>
            <a:xfrm>
              <a:off x="0" y="0"/>
              <a:ext cx="508000" cy="508000"/>
              <a:chOff x="0" y="0"/>
              <a:chExt cx="6355080" cy="6355080"/>
            </a:xfrm>
          </p:grpSpPr>
          <p:sp>
            <p:nvSpPr>
              <p:cNvPr id="4" name="Freeform 4"/>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1546BA"/>
              </a:solidFill>
            </p:spPr>
            <p:txBody>
              <a:bodyPr/>
              <a:lstStyle/>
              <a:p>
                <a:endParaRPr lang="en-US"/>
              </a:p>
            </p:txBody>
          </p:sp>
        </p:gr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5400000">
              <a:off x="84667" y="84667"/>
              <a:ext cx="338667" cy="338667"/>
            </a:xfrm>
            <a:prstGeom prst="rect">
              <a:avLst/>
            </a:prstGeom>
          </p:spPr>
        </p:pic>
      </p:grpSp>
      <p:grpSp>
        <p:nvGrpSpPr>
          <p:cNvPr id="6" name="Group 6">
            <a:extLst>
              <a:ext uri="{C183D7F6-B498-43B3-948B-1728B52AA6E4}">
                <adec:decorative xmlns:adec="http://schemas.microsoft.com/office/drawing/2017/decorative" val="1"/>
              </a:ext>
            </a:extLst>
          </p:cNvPr>
          <p:cNvGrpSpPr/>
          <p:nvPr/>
        </p:nvGrpSpPr>
        <p:grpSpPr>
          <a:xfrm rot="-10800000">
            <a:off x="17555768" y="565786"/>
            <a:ext cx="381000" cy="381000"/>
            <a:chOff x="0" y="0"/>
            <a:chExt cx="508000" cy="508000"/>
          </a:xfrm>
        </p:grpSpPr>
        <p:grpSp>
          <p:nvGrpSpPr>
            <p:cNvPr id="7" name="Group 7"/>
            <p:cNvGrpSpPr>
              <a:grpSpLocks noChangeAspect="1"/>
            </p:cNvGrpSpPr>
            <p:nvPr/>
          </p:nvGrpSpPr>
          <p:grpSpPr>
            <a:xfrm>
              <a:off x="0" y="0"/>
              <a:ext cx="508000" cy="508000"/>
              <a:chOff x="0" y="0"/>
              <a:chExt cx="6355080" cy="6355080"/>
            </a:xfrm>
          </p:grpSpPr>
          <p:sp>
            <p:nvSpPr>
              <p:cNvPr id="8" name="Freeform 8"/>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1546BA"/>
              </a:solidFill>
            </p:spPr>
            <p:txBody>
              <a:bodyPr/>
              <a:lstStyle/>
              <a:p>
                <a:endParaRPr lang="en-US"/>
              </a:p>
            </p:txBody>
          </p:sp>
        </p:grpSp>
        <p:pic>
          <p:nvPicPr>
            <p:cNvPr id="9" name="Picture 9"/>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5400000">
              <a:off x="84667" y="84667"/>
              <a:ext cx="338667" cy="338667"/>
            </a:xfrm>
            <a:prstGeom prst="rect">
              <a:avLst/>
            </a:prstGeom>
          </p:spPr>
        </p:pic>
      </p:grpSp>
      <p:sp>
        <p:nvSpPr>
          <p:cNvPr id="10" name="TextBox 10"/>
          <p:cNvSpPr txBox="1">
            <a:spLocks noGrp="1"/>
          </p:cNvSpPr>
          <p:nvPr>
            <p:ph type="title" idx="4294967295"/>
          </p:nvPr>
        </p:nvSpPr>
        <p:spPr>
          <a:xfrm>
            <a:off x="3875924" y="1524952"/>
            <a:ext cx="10536153" cy="806958"/>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914400" rtl="0" eaLnBrk="1" fontAlgn="auto" latinLnBrk="0" hangingPunct="1">
              <a:lnSpc>
                <a:spcPts val="6216"/>
              </a:lnSpc>
              <a:spcBef>
                <a:spcPts val="0"/>
              </a:spcBef>
              <a:spcAft>
                <a:spcPts val="0"/>
              </a:spcAft>
              <a:buClrTx/>
              <a:buSzTx/>
              <a:buFontTx/>
              <a:buNone/>
              <a:tabLst/>
              <a:defRPr/>
            </a:pPr>
            <a:r>
              <a:rPr kumimoji="0" lang="en-US" sz="5600" b="0" i="0" u="none" strike="noStrike" kern="1200" cap="none" spc="89" normalizeH="0" baseline="0" noProof="0" dirty="0">
                <a:ln>
                  <a:noFill/>
                </a:ln>
                <a:solidFill>
                  <a:srgbClr val="011C5D"/>
                </a:solidFill>
                <a:effectLst/>
                <a:uLnTx/>
                <a:uFillTx/>
                <a:latin typeface="Montserrat Classic Bold"/>
                <a:ea typeface="+mn-ea"/>
                <a:cs typeface="+mn-cs"/>
              </a:rPr>
              <a:t>Classroom Connection</a:t>
            </a:r>
          </a:p>
        </p:txBody>
      </p:sp>
      <p:pic>
        <p:nvPicPr>
          <p:cNvPr id="11" name="Picture 11">
            <a:extLs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rot="-5400000">
            <a:off x="565746" y="2785442"/>
            <a:ext cx="544908" cy="381000"/>
          </a:xfrm>
          <a:prstGeom prst="rect">
            <a:avLst/>
          </a:prstGeom>
        </p:spPr>
      </p:pic>
      <p:sp>
        <p:nvSpPr>
          <p:cNvPr id="12" name="TextBox 12"/>
          <p:cNvSpPr txBox="1"/>
          <p:nvPr/>
        </p:nvSpPr>
        <p:spPr>
          <a:xfrm rot="-5400000">
            <a:off x="-78806" y="1446066"/>
            <a:ext cx="1804414" cy="424852"/>
          </a:xfrm>
          <a:prstGeom prst="rect">
            <a:avLst/>
          </a:prstGeom>
        </p:spPr>
        <p:txBody>
          <a:bodyPr lIns="0" tIns="0" rIns="0" bIns="0" rtlCol="0" anchor="t">
            <a:spAutoFit/>
          </a:bodyPr>
          <a:lstStyle/>
          <a:p>
            <a:pPr>
              <a:lnSpc>
                <a:spcPts val="1710"/>
              </a:lnSpc>
            </a:pPr>
            <a:r>
              <a:rPr lang="en-US" sz="1710" dirty="0">
                <a:solidFill>
                  <a:srgbClr val="1546BA"/>
                </a:solidFill>
                <a:latin typeface="Montserrat Classic"/>
              </a:rPr>
              <a:t>HLP Lesson Study Series</a:t>
            </a:r>
          </a:p>
        </p:txBody>
      </p:sp>
      <p:sp>
        <p:nvSpPr>
          <p:cNvPr id="13" name="TextBox 13"/>
          <p:cNvSpPr txBox="1"/>
          <p:nvPr/>
        </p:nvSpPr>
        <p:spPr>
          <a:xfrm>
            <a:off x="647700" y="9535203"/>
            <a:ext cx="658470" cy="183084"/>
          </a:xfrm>
          <a:prstGeom prst="rect">
            <a:avLst/>
          </a:prstGeom>
        </p:spPr>
        <p:txBody>
          <a:bodyPr lIns="0" tIns="0" rIns="0" bIns="0" rtlCol="0" anchor="t">
            <a:spAutoFit/>
          </a:bodyPr>
          <a:lstStyle/>
          <a:p>
            <a:pPr>
              <a:lnSpc>
                <a:spcPts val="1399"/>
              </a:lnSpc>
            </a:pPr>
            <a:r>
              <a:rPr lang="en-US" sz="1399" dirty="0">
                <a:solidFill>
                  <a:srgbClr val="1546BA"/>
                </a:solidFill>
                <a:latin typeface="Libre Franklin Bold"/>
              </a:rPr>
              <a:t>13</a:t>
            </a:r>
          </a:p>
        </p:txBody>
      </p:sp>
      <p:grpSp>
        <p:nvGrpSpPr>
          <p:cNvPr id="14" name="Group 14">
            <a:extLst>
              <a:ext uri="{C183D7F6-B498-43B3-948B-1728B52AA6E4}">
                <adec:decorative xmlns:adec="http://schemas.microsoft.com/office/drawing/2017/decorative" val="1"/>
              </a:ext>
            </a:extLst>
          </p:cNvPr>
          <p:cNvGrpSpPr/>
          <p:nvPr/>
        </p:nvGrpSpPr>
        <p:grpSpPr>
          <a:xfrm>
            <a:off x="2299154" y="3204542"/>
            <a:ext cx="14440519" cy="7625343"/>
            <a:chOff x="0" y="0"/>
            <a:chExt cx="19254025" cy="10167123"/>
          </a:xfrm>
        </p:grpSpPr>
        <p:sp>
          <p:nvSpPr>
            <p:cNvPr id="15" name="TextBox 15"/>
            <p:cNvSpPr txBox="1"/>
            <p:nvPr/>
          </p:nvSpPr>
          <p:spPr>
            <a:xfrm>
              <a:off x="0" y="1361807"/>
              <a:ext cx="19188792" cy="8805316"/>
            </a:xfrm>
            <a:prstGeom prst="rect">
              <a:avLst/>
            </a:prstGeom>
          </p:spPr>
          <p:txBody>
            <a:bodyPr lIns="0" tIns="0" rIns="0" bIns="0" rtlCol="0" anchor="t">
              <a:spAutoFit/>
            </a:bodyPr>
            <a:lstStyle/>
            <a:p>
              <a:pPr marL="564477" lvl="1" indent="-282239">
                <a:lnSpc>
                  <a:spcPts val="3660"/>
                </a:lnSpc>
                <a:buFont typeface="Arial"/>
                <a:buChar char="•"/>
              </a:pPr>
              <a:r>
                <a:rPr lang="en-US" sz="2614" dirty="0">
                  <a:solidFill>
                    <a:srgbClr val="1546BA"/>
                  </a:solidFill>
                  <a:latin typeface="Libre Franklin Light"/>
                </a:rPr>
                <a:t>In your Reading Response Journal, you were to record </a:t>
              </a:r>
              <a:r>
                <a:rPr lang="en-US" sz="2614" u="sng" dirty="0">
                  <a:solidFill>
                    <a:srgbClr val="1546BA"/>
                  </a:solidFill>
                  <a:latin typeface="Libre Franklin Light"/>
                </a:rPr>
                <a:t>three</a:t>
              </a:r>
              <a:r>
                <a:rPr lang="en-US" sz="2614" dirty="0">
                  <a:solidFill>
                    <a:srgbClr val="1546BA"/>
                  </a:solidFill>
                  <a:latin typeface="Libre Franklin Light"/>
                </a:rPr>
                <a:t> learning goals or targets used in your practicum classroom this past week. </a:t>
              </a:r>
            </a:p>
            <a:p>
              <a:pPr>
                <a:lnSpc>
                  <a:spcPts val="3660"/>
                </a:lnSpc>
              </a:pPr>
              <a:endParaRPr lang="en-US" sz="2614" dirty="0">
                <a:solidFill>
                  <a:srgbClr val="1546BA"/>
                </a:solidFill>
                <a:latin typeface="Libre Franklin Light"/>
              </a:endParaRPr>
            </a:p>
            <a:p>
              <a:pPr marL="564477" lvl="1" indent="-282239">
                <a:lnSpc>
                  <a:spcPts val="3660"/>
                </a:lnSpc>
                <a:buFont typeface="Arial"/>
                <a:buChar char="•"/>
              </a:pPr>
              <a:r>
                <a:rPr lang="en-US" sz="2614" dirty="0">
                  <a:solidFill>
                    <a:srgbClr val="1546BA"/>
                  </a:solidFill>
                  <a:latin typeface="Libre Franklin Light"/>
                </a:rPr>
                <a:t>Team up with two people at your grade level or content area and analyze your learning targets together to see if they meet the ACCOMPLISH criteria.</a:t>
              </a:r>
            </a:p>
            <a:p>
              <a:pPr>
                <a:lnSpc>
                  <a:spcPts val="3660"/>
                </a:lnSpc>
              </a:pPr>
              <a:endParaRPr lang="en-US" sz="2614" dirty="0">
                <a:solidFill>
                  <a:srgbClr val="1546BA"/>
                </a:solidFill>
                <a:latin typeface="Libre Franklin Light"/>
              </a:endParaRPr>
            </a:p>
            <a:p>
              <a:pPr marL="564477" lvl="1" indent="-282239">
                <a:lnSpc>
                  <a:spcPts val="3660"/>
                </a:lnSpc>
                <a:buFont typeface="Arial"/>
                <a:buChar char="•"/>
              </a:pPr>
              <a:r>
                <a:rPr lang="en-US" sz="2614" dirty="0">
                  <a:solidFill>
                    <a:srgbClr val="1546BA"/>
                  </a:solidFill>
                  <a:latin typeface="Libre Franklin Light"/>
                </a:rPr>
                <a:t>Be prepared to share out to the whole group and summarize common characteristics between your learning goals. Consider characteristics </a:t>
              </a:r>
              <a:r>
                <a:rPr lang="en-US" sz="2614" dirty="0">
                  <a:solidFill>
                    <a:srgbClr val="1546BA"/>
                  </a:solidFill>
                  <a:highlight>
                    <a:srgbClr val="FFFF00"/>
                  </a:highlight>
                  <a:latin typeface="Libre Franklin Light"/>
                </a:rPr>
                <a:t>common to your </a:t>
              </a:r>
              <a:r>
                <a:rPr lang="en-US" sz="2614" dirty="0">
                  <a:solidFill>
                    <a:srgbClr val="1546BA"/>
                  </a:solidFill>
                  <a:latin typeface="Libre Franklin Light"/>
                </a:rPr>
                <a:t>learning goals that may be present, missing, or unclear. </a:t>
              </a:r>
            </a:p>
            <a:p>
              <a:pPr>
                <a:lnSpc>
                  <a:spcPts val="3660"/>
                </a:lnSpc>
              </a:pPr>
              <a:endParaRPr lang="en-US" sz="2614" dirty="0">
                <a:solidFill>
                  <a:srgbClr val="1546BA"/>
                </a:solidFill>
                <a:latin typeface="Libre Franklin Light"/>
              </a:endParaRPr>
            </a:p>
            <a:p>
              <a:pPr>
                <a:lnSpc>
                  <a:spcPts val="3660"/>
                </a:lnSpc>
              </a:pPr>
              <a:r>
                <a:rPr lang="en-US" sz="2614" dirty="0">
                  <a:solidFill>
                    <a:srgbClr val="212122"/>
                  </a:solidFill>
                  <a:latin typeface="Codec Pro"/>
                </a:rPr>
                <a:t> </a:t>
              </a:r>
            </a:p>
            <a:p>
              <a:pPr>
                <a:lnSpc>
                  <a:spcPts val="3660"/>
                </a:lnSpc>
              </a:pPr>
              <a:endParaRPr lang="en-US" sz="2614" dirty="0">
                <a:solidFill>
                  <a:srgbClr val="212122"/>
                </a:solidFill>
                <a:latin typeface="Codec Pro"/>
              </a:endParaRPr>
            </a:p>
            <a:p>
              <a:pPr>
                <a:lnSpc>
                  <a:spcPts val="3660"/>
                </a:lnSpc>
              </a:pPr>
              <a:endParaRPr lang="en-US" sz="2614" dirty="0">
                <a:solidFill>
                  <a:srgbClr val="212122"/>
                </a:solidFill>
                <a:latin typeface="Codec Pro"/>
              </a:endParaRPr>
            </a:p>
            <a:p>
              <a:pPr>
                <a:lnSpc>
                  <a:spcPts val="3660"/>
                </a:lnSpc>
              </a:pPr>
              <a:endParaRPr lang="en-US" sz="2614" dirty="0">
                <a:solidFill>
                  <a:srgbClr val="212122"/>
                </a:solidFill>
                <a:latin typeface="Codec Pro"/>
              </a:endParaRPr>
            </a:p>
          </p:txBody>
        </p:sp>
        <p:sp>
          <p:nvSpPr>
            <p:cNvPr id="16" name="TextBox 16"/>
            <p:cNvSpPr txBox="1"/>
            <p:nvPr/>
          </p:nvSpPr>
          <p:spPr>
            <a:xfrm>
              <a:off x="0" y="0"/>
              <a:ext cx="19254025" cy="774700"/>
            </a:xfrm>
            <a:prstGeom prst="rect">
              <a:avLst/>
            </a:prstGeom>
          </p:spPr>
          <p:txBody>
            <a:bodyPr lIns="0" tIns="0" rIns="0" bIns="0" rtlCol="0" anchor="t">
              <a:spAutoFit/>
            </a:bodyPr>
            <a:lstStyle/>
            <a:p>
              <a:pPr>
                <a:lnSpc>
                  <a:spcPts val="4575"/>
                </a:lnSpc>
              </a:pPr>
              <a:r>
                <a:rPr lang="en-US" sz="3812" dirty="0">
                  <a:solidFill>
                    <a:srgbClr val="1F6AFF"/>
                  </a:solidFill>
                  <a:latin typeface="Libre Franklin Bold Bold"/>
                </a:rPr>
                <a:t>Learning Goal Analysis = 30 minutes</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C183D7F6-B498-43B3-948B-1728B52AA6E4}">
                <adec:decorative xmlns:adec="http://schemas.microsoft.com/office/drawing/2017/decorative" val="1"/>
              </a:ext>
            </a:extLst>
          </p:cNvPr>
          <p:cNvGrpSpPr/>
          <p:nvPr/>
        </p:nvGrpSpPr>
        <p:grpSpPr>
          <a:xfrm>
            <a:off x="17555768" y="1110614"/>
            <a:ext cx="381000" cy="381000"/>
            <a:chOff x="0" y="0"/>
            <a:chExt cx="508000" cy="508000"/>
          </a:xfrm>
        </p:grpSpPr>
        <p:grpSp>
          <p:nvGrpSpPr>
            <p:cNvPr id="3" name="Group 3"/>
            <p:cNvGrpSpPr>
              <a:grpSpLocks noChangeAspect="1"/>
            </p:cNvGrpSpPr>
            <p:nvPr/>
          </p:nvGrpSpPr>
          <p:grpSpPr>
            <a:xfrm>
              <a:off x="0" y="0"/>
              <a:ext cx="508000" cy="508000"/>
              <a:chOff x="0" y="0"/>
              <a:chExt cx="6355080" cy="6355080"/>
            </a:xfrm>
          </p:grpSpPr>
          <p:sp>
            <p:nvSpPr>
              <p:cNvPr id="4" name="Freeform 4"/>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1546BA"/>
              </a:solidFill>
            </p:spPr>
            <p:txBody>
              <a:bodyPr/>
              <a:lstStyle/>
              <a:p>
                <a:endParaRPr lang="en-US"/>
              </a:p>
            </p:txBody>
          </p:sp>
        </p:gr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5400000">
              <a:off x="84667" y="84667"/>
              <a:ext cx="338667" cy="338667"/>
            </a:xfrm>
            <a:prstGeom prst="rect">
              <a:avLst/>
            </a:prstGeom>
          </p:spPr>
        </p:pic>
      </p:grpSp>
      <p:grpSp>
        <p:nvGrpSpPr>
          <p:cNvPr id="6" name="Group 6">
            <a:extLst>
              <a:ext uri="{C183D7F6-B498-43B3-948B-1728B52AA6E4}">
                <adec:decorative xmlns:adec="http://schemas.microsoft.com/office/drawing/2017/decorative" val="1"/>
              </a:ext>
            </a:extLst>
          </p:cNvPr>
          <p:cNvGrpSpPr/>
          <p:nvPr/>
        </p:nvGrpSpPr>
        <p:grpSpPr>
          <a:xfrm rot="-10800000">
            <a:off x="17555768" y="565786"/>
            <a:ext cx="381000" cy="381000"/>
            <a:chOff x="0" y="0"/>
            <a:chExt cx="508000" cy="508000"/>
          </a:xfrm>
        </p:grpSpPr>
        <p:grpSp>
          <p:nvGrpSpPr>
            <p:cNvPr id="7" name="Group 7"/>
            <p:cNvGrpSpPr>
              <a:grpSpLocks noChangeAspect="1"/>
            </p:cNvGrpSpPr>
            <p:nvPr/>
          </p:nvGrpSpPr>
          <p:grpSpPr>
            <a:xfrm>
              <a:off x="0" y="0"/>
              <a:ext cx="508000" cy="508000"/>
              <a:chOff x="0" y="0"/>
              <a:chExt cx="6355080" cy="6355080"/>
            </a:xfrm>
          </p:grpSpPr>
          <p:sp>
            <p:nvSpPr>
              <p:cNvPr id="8" name="Freeform 8"/>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1546BA"/>
              </a:solidFill>
            </p:spPr>
            <p:txBody>
              <a:bodyPr/>
              <a:lstStyle/>
              <a:p>
                <a:endParaRPr lang="en-US"/>
              </a:p>
            </p:txBody>
          </p:sp>
        </p:grpSp>
        <p:pic>
          <p:nvPicPr>
            <p:cNvPr id="9" name="Picture 9"/>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5400000">
              <a:off x="84667" y="84667"/>
              <a:ext cx="338667" cy="338667"/>
            </a:xfrm>
            <a:prstGeom prst="rect">
              <a:avLst/>
            </a:prstGeom>
          </p:spPr>
        </p:pic>
      </p:grpSp>
      <p:sp>
        <p:nvSpPr>
          <p:cNvPr id="10" name="TextBox 10"/>
          <p:cNvSpPr txBox="1">
            <a:spLocks noGrp="1"/>
          </p:cNvSpPr>
          <p:nvPr>
            <p:ph type="title" idx="4294967295"/>
          </p:nvPr>
        </p:nvSpPr>
        <p:spPr>
          <a:xfrm>
            <a:off x="2642670" y="1529714"/>
            <a:ext cx="9759780" cy="806958"/>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ts val="6216"/>
              </a:lnSpc>
              <a:spcBef>
                <a:spcPts val="0"/>
              </a:spcBef>
              <a:spcAft>
                <a:spcPts val="0"/>
              </a:spcAft>
              <a:buClrTx/>
              <a:buSzTx/>
              <a:buFontTx/>
              <a:buNone/>
              <a:tabLst/>
              <a:defRPr/>
            </a:pPr>
            <a:r>
              <a:rPr kumimoji="0" lang="en-US" sz="5600" b="0" i="0" u="none" strike="noStrike" kern="1200" cap="none" spc="89" normalizeH="0" baseline="0" noProof="0" dirty="0">
                <a:ln>
                  <a:noFill/>
                </a:ln>
                <a:solidFill>
                  <a:srgbClr val="011C5D"/>
                </a:solidFill>
                <a:effectLst/>
                <a:uLnTx/>
                <a:uFillTx/>
                <a:latin typeface="Montserrat Classic Bold"/>
                <a:ea typeface="+mn-ea"/>
                <a:cs typeface="+mn-cs"/>
              </a:rPr>
              <a:t>Recap </a:t>
            </a:r>
            <a:r>
              <a:rPr kumimoji="0" lang="en-US" sz="5600" b="0" i="0" u="none" strike="noStrike" kern="1200" cap="none" spc="89" normalizeH="0" baseline="0" noProof="0" dirty="0">
                <a:ln>
                  <a:noFill/>
                </a:ln>
                <a:solidFill>
                  <a:srgbClr val="1546BA"/>
                </a:solidFill>
                <a:effectLst/>
                <a:uLnTx/>
                <a:uFillTx/>
                <a:latin typeface="Montserrat Classic Bold"/>
                <a:ea typeface="+mn-ea"/>
                <a:cs typeface="+mn-cs"/>
              </a:rPr>
              <a:t>of today's class</a:t>
            </a:r>
          </a:p>
        </p:txBody>
      </p:sp>
      <p:grpSp>
        <p:nvGrpSpPr>
          <p:cNvPr id="11" name="Group 11">
            <a:extLst>
              <a:ext uri="{C183D7F6-B498-43B3-948B-1728B52AA6E4}">
                <adec:decorative xmlns:adec="http://schemas.microsoft.com/office/drawing/2017/decorative" val="1"/>
              </a:ext>
            </a:extLst>
          </p:cNvPr>
          <p:cNvGrpSpPr/>
          <p:nvPr/>
        </p:nvGrpSpPr>
        <p:grpSpPr>
          <a:xfrm>
            <a:off x="2642670" y="2975942"/>
            <a:ext cx="5201445" cy="2449084"/>
            <a:chOff x="0" y="0"/>
            <a:chExt cx="6935261" cy="3265445"/>
          </a:xfrm>
        </p:grpSpPr>
        <p:sp>
          <p:nvSpPr>
            <p:cNvPr id="12" name="TextBox 12"/>
            <p:cNvSpPr txBox="1"/>
            <p:nvPr/>
          </p:nvSpPr>
          <p:spPr>
            <a:xfrm>
              <a:off x="0" y="2399517"/>
              <a:ext cx="6935261" cy="865928"/>
            </a:xfrm>
            <a:prstGeom prst="rect">
              <a:avLst/>
            </a:prstGeom>
          </p:spPr>
          <p:txBody>
            <a:bodyPr lIns="0" tIns="0" rIns="0" bIns="0" rtlCol="0" anchor="t">
              <a:spAutoFit/>
            </a:bodyPr>
            <a:lstStyle/>
            <a:p>
              <a:pPr marL="0" lvl="0" indent="0">
                <a:lnSpc>
                  <a:spcPts val="2720"/>
                </a:lnSpc>
                <a:spcBef>
                  <a:spcPct val="0"/>
                </a:spcBef>
              </a:pPr>
              <a:r>
                <a:rPr lang="en-US" sz="1700" spc="34" dirty="0">
                  <a:solidFill>
                    <a:srgbClr val="241D27"/>
                  </a:solidFill>
                  <a:latin typeface="Libre Franklin Light"/>
                </a:rPr>
                <a:t>In what ways does establishing clear learning targets help all students learn more effectively?</a:t>
              </a:r>
            </a:p>
          </p:txBody>
        </p:sp>
        <p:sp>
          <p:nvSpPr>
            <p:cNvPr id="13" name="TextBox 13"/>
            <p:cNvSpPr txBox="1"/>
            <p:nvPr/>
          </p:nvSpPr>
          <p:spPr>
            <a:xfrm>
              <a:off x="0" y="1429084"/>
              <a:ext cx="3530836" cy="690456"/>
            </a:xfrm>
            <a:prstGeom prst="rect">
              <a:avLst/>
            </a:prstGeom>
          </p:spPr>
          <p:txBody>
            <a:bodyPr lIns="0" tIns="0" rIns="0" bIns="0" rtlCol="0" anchor="t">
              <a:spAutoFit/>
            </a:bodyPr>
            <a:lstStyle/>
            <a:p>
              <a:pPr>
                <a:lnSpc>
                  <a:spcPts val="2100"/>
                </a:lnSpc>
              </a:pPr>
              <a:r>
                <a:rPr lang="en-US" sz="2100" dirty="0">
                  <a:solidFill>
                    <a:srgbClr val="241D27"/>
                  </a:solidFill>
                  <a:latin typeface="Montserrat Classic Bold"/>
                </a:rPr>
                <a:t>Connection to Practice 1</a:t>
              </a:r>
            </a:p>
          </p:txBody>
        </p:sp>
        <p:pic>
          <p:nvPicPr>
            <p:cNvPr id="14" name="Picture 14"/>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0" y="0"/>
              <a:ext cx="765647" cy="1042341"/>
            </a:xfrm>
            <a:prstGeom prst="rect">
              <a:avLst/>
            </a:prstGeom>
          </p:spPr>
        </p:pic>
      </p:grpSp>
      <p:grpSp>
        <p:nvGrpSpPr>
          <p:cNvPr id="15" name="Group 15">
            <a:extLst>
              <a:ext uri="{C183D7F6-B498-43B3-948B-1728B52AA6E4}">
                <adec:decorative xmlns:adec="http://schemas.microsoft.com/office/drawing/2017/decorative" val="1"/>
              </a:ext>
            </a:extLst>
          </p:cNvPr>
          <p:cNvGrpSpPr/>
          <p:nvPr/>
        </p:nvGrpSpPr>
        <p:grpSpPr>
          <a:xfrm>
            <a:off x="2642670" y="6132318"/>
            <a:ext cx="5201445" cy="2804913"/>
            <a:chOff x="0" y="0"/>
            <a:chExt cx="6935261" cy="3739884"/>
          </a:xfrm>
        </p:grpSpPr>
        <p:sp>
          <p:nvSpPr>
            <p:cNvPr id="16" name="TextBox 16"/>
            <p:cNvSpPr txBox="1"/>
            <p:nvPr/>
          </p:nvSpPr>
          <p:spPr>
            <a:xfrm>
              <a:off x="0" y="2399517"/>
              <a:ext cx="6935261" cy="1340367"/>
            </a:xfrm>
            <a:prstGeom prst="rect">
              <a:avLst/>
            </a:prstGeom>
          </p:spPr>
          <p:txBody>
            <a:bodyPr lIns="0" tIns="0" rIns="0" bIns="0" rtlCol="0" anchor="t">
              <a:spAutoFit/>
            </a:bodyPr>
            <a:lstStyle/>
            <a:p>
              <a:pPr>
                <a:lnSpc>
                  <a:spcPts val="2720"/>
                </a:lnSpc>
                <a:spcBef>
                  <a:spcPct val="0"/>
                </a:spcBef>
              </a:pPr>
              <a:r>
                <a:rPr lang="en-US" sz="1700" spc="34" dirty="0">
                  <a:solidFill>
                    <a:srgbClr val="241D27"/>
                  </a:solidFill>
                  <a:latin typeface="Libre Franklin Light"/>
                </a:rPr>
                <a:t>How can you build on previous </a:t>
              </a:r>
              <a:r>
                <a:rPr lang="en-US" sz="1700" spc="34">
                  <a:solidFill>
                    <a:srgbClr val="241D27"/>
                  </a:solidFill>
                  <a:latin typeface="Libre Franklin Light"/>
                </a:rPr>
                <a:t>HLPs (use of assessment data and </a:t>
              </a:r>
              <a:r>
                <a:rPr lang="en-US" sz="1700" spc="34" dirty="0">
                  <a:solidFill>
                    <a:srgbClr val="241D27"/>
                  </a:solidFill>
                  <a:latin typeface="Libre Franklin Light"/>
                </a:rPr>
                <a:t>collaboration) to systematically design instruction? </a:t>
              </a:r>
            </a:p>
          </p:txBody>
        </p:sp>
        <p:sp>
          <p:nvSpPr>
            <p:cNvPr id="17" name="TextBox 17"/>
            <p:cNvSpPr txBox="1"/>
            <p:nvPr/>
          </p:nvSpPr>
          <p:spPr>
            <a:xfrm>
              <a:off x="0" y="1429084"/>
              <a:ext cx="3530836" cy="690456"/>
            </a:xfrm>
            <a:prstGeom prst="rect">
              <a:avLst/>
            </a:prstGeom>
          </p:spPr>
          <p:txBody>
            <a:bodyPr lIns="0" tIns="0" rIns="0" bIns="0" rtlCol="0" anchor="t">
              <a:spAutoFit/>
            </a:bodyPr>
            <a:lstStyle/>
            <a:p>
              <a:pPr>
                <a:lnSpc>
                  <a:spcPts val="2100"/>
                </a:lnSpc>
              </a:pPr>
              <a:r>
                <a:rPr lang="en-US" sz="2100" dirty="0">
                  <a:solidFill>
                    <a:srgbClr val="241D27"/>
                  </a:solidFill>
                  <a:latin typeface="Montserrat Classic Bold"/>
                </a:rPr>
                <a:t>Connection to Practice 2</a:t>
              </a:r>
            </a:p>
          </p:txBody>
        </p:sp>
        <p:pic>
          <p:nvPicPr>
            <p:cNvPr id="18" name="Picture 18"/>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0" y="0"/>
              <a:ext cx="765647" cy="1042341"/>
            </a:xfrm>
            <a:prstGeom prst="rect">
              <a:avLst/>
            </a:prstGeom>
          </p:spPr>
        </p:pic>
      </p:grpSp>
      <p:grpSp>
        <p:nvGrpSpPr>
          <p:cNvPr id="19" name="Group 19">
            <a:extLst>
              <a:ext uri="{C183D7F6-B498-43B3-948B-1728B52AA6E4}">
                <adec:decorative xmlns:adec="http://schemas.microsoft.com/office/drawing/2017/decorative" val="1"/>
              </a:ext>
            </a:extLst>
          </p:cNvPr>
          <p:cNvGrpSpPr/>
          <p:nvPr/>
        </p:nvGrpSpPr>
        <p:grpSpPr>
          <a:xfrm>
            <a:off x="8816006" y="2987128"/>
            <a:ext cx="5678501" cy="2437898"/>
            <a:chOff x="0" y="0"/>
            <a:chExt cx="7571334" cy="3250530"/>
          </a:xfrm>
        </p:grpSpPr>
        <p:sp>
          <p:nvSpPr>
            <p:cNvPr id="20" name="TextBox 20"/>
            <p:cNvSpPr txBox="1"/>
            <p:nvPr/>
          </p:nvSpPr>
          <p:spPr>
            <a:xfrm>
              <a:off x="25400" y="2384602"/>
              <a:ext cx="7545934" cy="865928"/>
            </a:xfrm>
            <a:prstGeom prst="rect">
              <a:avLst/>
            </a:prstGeom>
          </p:spPr>
          <p:txBody>
            <a:bodyPr lIns="0" tIns="0" rIns="0" bIns="0" rtlCol="0" anchor="t">
              <a:spAutoFit/>
            </a:bodyPr>
            <a:lstStyle/>
            <a:p>
              <a:pPr marL="0" lvl="0" indent="0">
                <a:lnSpc>
                  <a:spcPts val="2720"/>
                </a:lnSpc>
                <a:spcBef>
                  <a:spcPct val="0"/>
                </a:spcBef>
              </a:pPr>
              <a:r>
                <a:rPr lang="en-US" sz="1700" spc="34" dirty="0">
                  <a:solidFill>
                    <a:srgbClr val="241D27"/>
                  </a:solidFill>
                  <a:latin typeface="Libre Franklin Light"/>
                </a:rPr>
                <a:t>What is considered "mastery" criteria in the context of my classroom? </a:t>
              </a:r>
            </a:p>
          </p:txBody>
        </p:sp>
        <p:sp>
          <p:nvSpPr>
            <p:cNvPr id="21" name="TextBox 21"/>
            <p:cNvSpPr txBox="1"/>
            <p:nvPr/>
          </p:nvSpPr>
          <p:spPr>
            <a:xfrm>
              <a:off x="25400" y="1414169"/>
              <a:ext cx="3530836" cy="690456"/>
            </a:xfrm>
            <a:prstGeom prst="rect">
              <a:avLst/>
            </a:prstGeom>
          </p:spPr>
          <p:txBody>
            <a:bodyPr lIns="0" tIns="0" rIns="0" bIns="0" rtlCol="0" anchor="t">
              <a:spAutoFit/>
            </a:bodyPr>
            <a:lstStyle/>
            <a:p>
              <a:pPr>
                <a:lnSpc>
                  <a:spcPts val="2100"/>
                </a:lnSpc>
              </a:pPr>
              <a:r>
                <a:rPr lang="en-US" sz="2100" dirty="0">
                  <a:solidFill>
                    <a:srgbClr val="241D27"/>
                  </a:solidFill>
                  <a:latin typeface="Montserrat Classic Bold"/>
                </a:rPr>
                <a:t>Connection to Practice 3</a:t>
              </a:r>
            </a:p>
          </p:txBody>
        </p:sp>
        <p:pic>
          <p:nvPicPr>
            <p:cNvPr id="22" name="Picture 22"/>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0" y="0"/>
              <a:ext cx="765647" cy="1042341"/>
            </a:xfrm>
            <a:prstGeom prst="rect">
              <a:avLst/>
            </a:prstGeom>
          </p:spPr>
        </p:pic>
      </p:grpSp>
      <p:grpSp>
        <p:nvGrpSpPr>
          <p:cNvPr id="23" name="Group 23">
            <a:extLst>
              <a:ext uri="{C183D7F6-B498-43B3-948B-1728B52AA6E4}">
                <adec:decorative xmlns:adec="http://schemas.microsoft.com/office/drawing/2017/decorative" val="1"/>
              </a:ext>
            </a:extLst>
          </p:cNvPr>
          <p:cNvGrpSpPr/>
          <p:nvPr/>
        </p:nvGrpSpPr>
        <p:grpSpPr>
          <a:xfrm>
            <a:off x="8816006" y="6132318"/>
            <a:ext cx="5678501" cy="2449084"/>
            <a:chOff x="0" y="0"/>
            <a:chExt cx="7571334" cy="3265445"/>
          </a:xfrm>
        </p:grpSpPr>
        <p:sp>
          <p:nvSpPr>
            <p:cNvPr id="24" name="TextBox 24"/>
            <p:cNvSpPr txBox="1"/>
            <p:nvPr/>
          </p:nvSpPr>
          <p:spPr>
            <a:xfrm>
              <a:off x="25400" y="2399517"/>
              <a:ext cx="7545934" cy="865928"/>
            </a:xfrm>
            <a:prstGeom prst="rect">
              <a:avLst/>
            </a:prstGeom>
          </p:spPr>
          <p:txBody>
            <a:bodyPr lIns="0" tIns="0" rIns="0" bIns="0" rtlCol="0" anchor="t">
              <a:spAutoFit/>
            </a:bodyPr>
            <a:lstStyle/>
            <a:p>
              <a:pPr marL="0" lvl="0" indent="0">
                <a:lnSpc>
                  <a:spcPts val="2720"/>
                </a:lnSpc>
                <a:spcBef>
                  <a:spcPct val="0"/>
                </a:spcBef>
              </a:pPr>
              <a:r>
                <a:rPr lang="en-US" sz="1700" spc="34" dirty="0">
                  <a:solidFill>
                    <a:srgbClr val="241D27"/>
                  </a:solidFill>
                  <a:latin typeface="Libre Franklin Light"/>
                </a:rPr>
                <a:t>How can I embed the ACCOMPLISH planning framework in my weekly lesson planning sessions?</a:t>
              </a:r>
            </a:p>
          </p:txBody>
        </p:sp>
        <p:sp>
          <p:nvSpPr>
            <p:cNvPr id="25" name="TextBox 25"/>
            <p:cNvSpPr txBox="1"/>
            <p:nvPr/>
          </p:nvSpPr>
          <p:spPr>
            <a:xfrm>
              <a:off x="25400" y="1429084"/>
              <a:ext cx="3530836" cy="690456"/>
            </a:xfrm>
            <a:prstGeom prst="rect">
              <a:avLst/>
            </a:prstGeom>
          </p:spPr>
          <p:txBody>
            <a:bodyPr lIns="0" tIns="0" rIns="0" bIns="0" rtlCol="0" anchor="t">
              <a:spAutoFit/>
            </a:bodyPr>
            <a:lstStyle/>
            <a:p>
              <a:pPr>
                <a:lnSpc>
                  <a:spcPts val="2100"/>
                </a:lnSpc>
              </a:pPr>
              <a:r>
                <a:rPr lang="en-US" sz="2100" dirty="0">
                  <a:solidFill>
                    <a:srgbClr val="241D27"/>
                  </a:solidFill>
                  <a:latin typeface="Montserrat Classic Bold"/>
                </a:rPr>
                <a:t>Connection to Practice 4</a:t>
              </a:r>
            </a:p>
          </p:txBody>
        </p:sp>
        <p:pic>
          <p:nvPicPr>
            <p:cNvPr id="26" name="Picture 26"/>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0" y="0"/>
              <a:ext cx="765647" cy="1042341"/>
            </a:xfrm>
            <a:prstGeom prst="rect">
              <a:avLst/>
            </a:prstGeom>
          </p:spPr>
        </p:pic>
      </p:grpSp>
      <p:pic>
        <p:nvPicPr>
          <p:cNvPr id="27" name="Picture 27">
            <a:extLst>
              <a:ext uri="{C183D7F6-B498-43B3-948B-1728B52AA6E4}">
                <adec:decorative xmlns:adec="http://schemas.microsoft.com/office/drawing/2017/decorative" val="1"/>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rot="-5400000">
            <a:off x="565746" y="2785442"/>
            <a:ext cx="544908" cy="381000"/>
          </a:xfrm>
          <a:prstGeom prst="rect">
            <a:avLst/>
          </a:prstGeom>
        </p:spPr>
      </p:pic>
      <p:sp>
        <p:nvSpPr>
          <p:cNvPr id="28" name="TextBox 28"/>
          <p:cNvSpPr txBox="1"/>
          <p:nvPr/>
        </p:nvSpPr>
        <p:spPr>
          <a:xfrm rot="-5400000">
            <a:off x="-78806" y="1446066"/>
            <a:ext cx="1804414" cy="424852"/>
          </a:xfrm>
          <a:prstGeom prst="rect">
            <a:avLst/>
          </a:prstGeom>
        </p:spPr>
        <p:txBody>
          <a:bodyPr lIns="0" tIns="0" rIns="0" bIns="0" rtlCol="0" anchor="t">
            <a:spAutoFit/>
          </a:bodyPr>
          <a:lstStyle/>
          <a:p>
            <a:pPr>
              <a:lnSpc>
                <a:spcPts val="1710"/>
              </a:lnSpc>
            </a:pPr>
            <a:r>
              <a:rPr lang="en-US" sz="1710" dirty="0">
                <a:solidFill>
                  <a:srgbClr val="1546BA"/>
                </a:solidFill>
                <a:latin typeface="Montserrat Classic"/>
              </a:rPr>
              <a:t>HLP Lesson Study Series</a:t>
            </a:r>
          </a:p>
        </p:txBody>
      </p:sp>
      <p:sp>
        <p:nvSpPr>
          <p:cNvPr id="29" name="TextBox 29"/>
          <p:cNvSpPr txBox="1"/>
          <p:nvPr/>
        </p:nvSpPr>
        <p:spPr>
          <a:xfrm>
            <a:off x="647700" y="9535203"/>
            <a:ext cx="658470" cy="183084"/>
          </a:xfrm>
          <a:prstGeom prst="rect">
            <a:avLst/>
          </a:prstGeom>
        </p:spPr>
        <p:txBody>
          <a:bodyPr lIns="0" tIns="0" rIns="0" bIns="0" rtlCol="0" anchor="t">
            <a:spAutoFit/>
          </a:bodyPr>
          <a:lstStyle/>
          <a:p>
            <a:pPr>
              <a:lnSpc>
                <a:spcPts val="1399"/>
              </a:lnSpc>
            </a:pPr>
            <a:r>
              <a:rPr lang="en-US" sz="1399" dirty="0">
                <a:solidFill>
                  <a:srgbClr val="1546BA"/>
                </a:solidFill>
                <a:latin typeface="Libre Franklin Bold"/>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C183D7F6-B498-43B3-948B-1728B52AA6E4}">
                <adec:decorative xmlns:adec="http://schemas.microsoft.com/office/drawing/2017/decorative" val="1"/>
              </a:ext>
            </a:extLst>
          </p:cNvPr>
          <p:cNvGrpSpPr/>
          <p:nvPr/>
        </p:nvGrpSpPr>
        <p:grpSpPr>
          <a:xfrm>
            <a:off x="17555768" y="1110614"/>
            <a:ext cx="381000" cy="381000"/>
            <a:chOff x="0" y="0"/>
            <a:chExt cx="508000" cy="508000"/>
          </a:xfrm>
        </p:grpSpPr>
        <p:grpSp>
          <p:nvGrpSpPr>
            <p:cNvPr id="3" name="Group 3"/>
            <p:cNvGrpSpPr>
              <a:grpSpLocks noChangeAspect="1"/>
            </p:cNvGrpSpPr>
            <p:nvPr/>
          </p:nvGrpSpPr>
          <p:grpSpPr>
            <a:xfrm>
              <a:off x="0" y="0"/>
              <a:ext cx="508000" cy="508000"/>
              <a:chOff x="0" y="0"/>
              <a:chExt cx="6355080" cy="6355080"/>
            </a:xfrm>
          </p:grpSpPr>
          <p:sp>
            <p:nvSpPr>
              <p:cNvPr id="4" name="Freeform 4"/>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1546BA"/>
              </a:solidFill>
            </p:spPr>
            <p:txBody>
              <a:bodyPr/>
              <a:lstStyle/>
              <a:p>
                <a:endParaRPr lang="en-US"/>
              </a:p>
            </p:txBody>
          </p:sp>
        </p:gr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5400000">
              <a:off x="84667" y="84667"/>
              <a:ext cx="338667" cy="338667"/>
            </a:xfrm>
            <a:prstGeom prst="rect">
              <a:avLst/>
            </a:prstGeom>
          </p:spPr>
        </p:pic>
      </p:grpSp>
      <p:grpSp>
        <p:nvGrpSpPr>
          <p:cNvPr id="6" name="Group 6">
            <a:extLst>
              <a:ext uri="{C183D7F6-B498-43B3-948B-1728B52AA6E4}">
                <adec:decorative xmlns:adec="http://schemas.microsoft.com/office/drawing/2017/decorative" val="1"/>
              </a:ext>
            </a:extLst>
          </p:cNvPr>
          <p:cNvGrpSpPr/>
          <p:nvPr/>
        </p:nvGrpSpPr>
        <p:grpSpPr>
          <a:xfrm rot="-10800000">
            <a:off x="17555768" y="565786"/>
            <a:ext cx="381000" cy="381000"/>
            <a:chOff x="0" y="0"/>
            <a:chExt cx="508000" cy="508000"/>
          </a:xfrm>
        </p:grpSpPr>
        <p:grpSp>
          <p:nvGrpSpPr>
            <p:cNvPr id="7" name="Group 7"/>
            <p:cNvGrpSpPr>
              <a:grpSpLocks noChangeAspect="1"/>
            </p:cNvGrpSpPr>
            <p:nvPr/>
          </p:nvGrpSpPr>
          <p:grpSpPr>
            <a:xfrm>
              <a:off x="0" y="0"/>
              <a:ext cx="508000" cy="508000"/>
              <a:chOff x="0" y="0"/>
              <a:chExt cx="6355080" cy="6355080"/>
            </a:xfrm>
          </p:grpSpPr>
          <p:sp>
            <p:nvSpPr>
              <p:cNvPr id="8" name="Freeform 8"/>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1546BA"/>
              </a:solidFill>
            </p:spPr>
            <p:txBody>
              <a:bodyPr/>
              <a:lstStyle/>
              <a:p>
                <a:endParaRPr lang="en-US"/>
              </a:p>
            </p:txBody>
          </p:sp>
        </p:grpSp>
        <p:pic>
          <p:nvPicPr>
            <p:cNvPr id="9" name="Picture 9"/>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5400000">
              <a:off x="84667" y="84667"/>
              <a:ext cx="338667" cy="338667"/>
            </a:xfrm>
            <a:prstGeom prst="rect">
              <a:avLst/>
            </a:prstGeom>
          </p:spPr>
        </p:pic>
      </p:grpSp>
      <p:sp>
        <p:nvSpPr>
          <p:cNvPr id="12" name="TextBox 12"/>
          <p:cNvSpPr txBox="1">
            <a:spLocks noGrp="1"/>
          </p:cNvSpPr>
          <p:nvPr>
            <p:ph type="title" idx="4294967295"/>
          </p:nvPr>
        </p:nvSpPr>
        <p:spPr>
          <a:xfrm>
            <a:off x="2064416" y="1235249"/>
            <a:ext cx="5670723" cy="271303"/>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ts val="21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1546BA"/>
                </a:solidFill>
                <a:effectLst/>
                <a:uLnTx/>
                <a:uFillTx/>
                <a:latin typeface="Montserrat Classic Bold"/>
                <a:ea typeface="+mn-ea"/>
                <a:cs typeface="+mn-cs"/>
              </a:rPr>
              <a:t>References</a:t>
            </a:r>
          </a:p>
        </p:txBody>
      </p:sp>
      <p:sp>
        <p:nvSpPr>
          <p:cNvPr id="11" name="TextBox 11"/>
          <p:cNvSpPr txBox="1"/>
          <p:nvPr/>
        </p:nvSpPr>
        <p:spPr>
          <a:xfrm>
            <a:off x="2064416" y="1657893"/>
            <a:ext cx="13585713" cy="3775264"/>
          </a:xfrm>
          <a:prstGeom prst="rect">
            <a:avLst/>
          </a:prstGeom>
        </p:spPr>
        <p:txBody>
          <a:bodyPr lIns="0" tIns="0" rIns="0" bIns="0" rtlCol="0" anchor="t">
            <a:spAutoFit/>
          </a:bodyPr>
          <a:lstStyle/>
          <a:p>
            <a:pPr>
              <a:lnSpc>
                <a:spcPts val="2720"/>
              </a:lnSpc>
            </a:pPr>
            <a:r>
              <a:rPr lang="en-US" sz="1700" spc="34" dirty="0" err="1">
                <a:solidFill>
                  <a:srgbClr val="241D27"/>
                </a:solidFill>
                <a:latin typeface="Libre Franklin Light"/>
              </a:rPr>
              <a:t>Causton</a:t>
            </a:r>
            <a:r>
              <a:rPr lang="en-US" sz="1700" spc="34" dirty="0">
                <a:solidFill>
                  <a:srgbClr val="241D27"/>
                </a:solidFill>
                <a:latin typeface="Libre Franklin Light"/>
              </a:rPr>
              <a:t>-Theoharis, J., &amp; Tracy-Bronson, C. P. (2015). </a:t>
            </a:r>
            <a:r>
              <a:rPr lang="en-US" sz="1700" i="1" spc="34" dirty="0">
                <a:solidFill>
                  <a:srgbClr val="241D27"/>
                </a:solidFill>
                <a:latin typeface="Libre Franklin Light Italics"/>
              </a:rPr>
              <a:t>The educator's handbook for inclusive school practices</a:t>
            </a:r>
            <a:r>
              <a:rPr lang="en-US" sz="1700" spc="34" dirty="0">
                <a:solidFill>
                  <a:srgbClr val="241D27"/>
                </a:solidFill>
                <a:latin typeface="Libre Franklin Light Italics"/>
              </a:rPr>
              <a:t>.</a:t>
            </a:r>
            <a:r>
              <a:rPr lang="en-US" sz="1700" spc="34" dirty="0">
                <a:solidFill>
                  <a:srgbClr val="241D27"/>
                </a:solidFill>
                <a:latin typeface="Libre Franklin Light"/>
              </a:rPr>
              <a:t> Paul H. Brookes.</a:t>
            </a:r>
          </a:p>
          <a:p>
            <a:pPr>
              <a:lnSpc>
                <a:spcPts val="2720"/>
              </a:lnSpc>
            </a:pPr>
            <a:endParaRPr lang="en-US" sz="1700" spc="34" dirty="0">
              <a:solidFill>
                <a:srgbClr val="241D27"/>
              </a:solidFill>
              <a:latin typeface="Libre Franklin Light"/>
            </a:endParaRPr>
          </a:p>
          <a:p>
            <a:pPr>
              <a:lnSpc>
                <a:spcPts val="2720"/>
              </a:lnSpc>
            </a:pPr>
            <a:r>
              <a:rPr lang="en-US" sz="1700" spc="34" dirty="0">
                <a:solidFill>
                  <a:srgbClr val="241D27"/>
                </a:solidFill>
                <a:latin typeface="Libre Franklin Light"/>
              </a:rPr>
              <a:t>Konrad, M., Hessler, T., Alber-Morgan, S. R., Davenport, C. A., &amp; Helton, M. R. (2019). Systematically design instruction toward a specific learning goal. In </a:t>
            </a:r>
            <a:r>
              <a:rPr lang="en-US" sz="1700" spc="34" dirty="0">
                <a:solidFill>
                  <a:srgbClr val="241D27"/>
                </a:solidFill>
                <a:latin typeface="Libre Franklin Light"/>
                <a:ea typeface="+mn-lt"/>
                <a:cs typeface="+mn-lt"/>
              </a:rPr>
              <a:t>J. McLeskey, L. </a:t>
            </a:r>
            <a:r>
              <a:rPr lang="en-US" sz="1700" spc="34" err="1">
                <a:solidFill>
                  <a:srgbClr val="241D27"/>
                </a:solidFill>
                <a:latin typeface="Libre Franklin Light"/>
                <a:ea typeface="+mn-lt"/>
                <a:cs typeface="+mn-lt"/>
              </a:rPr>
              <a:t>Maheady</a:t>
            </a:r>
            <a:r>
              <a:rPr lang="en-US" sz="1700" spc="34">
                <a:solidFill>
                  <a:srgbClr val="241D27"/>
                </a:solidFill>
                <a:latin typeface="Libre Franklin Light"/>
                <a:ea typeface="+mn-lt"/>
                <a:cs typeface="+mn-lt"/>
              </a:rPr>
              <a:t>, B. Billingsley, M. T. Brownell, &amp; T. J. Lewis (</a:t>
            </a:r>
            <a:r>
              <a:rPr lang="en-US" sz="1700" spc="34">
                <a:solidFill>
                  <a:srgbClr val="241D27"/>
                </a:solidFill>
                <a:latin typeface="Libre Franklin Light"/>
                <a:cs typeface="Calibri"/>
              </a:rPr>
              <a:t>Eds.), </a:t>
            </a:r>
            <a:r>
              <a:rPr lang="en-US" sz="1700" i="1" spc="34">
                <a:solidFill>
                  <a:srgbClr val="241D27"/>
                </a:solidFill>
                <a:latin typeface="Libre Franklin Light"/>
                <a:cs typeface="Calibri"/>
              </a:rPr>
              <a:t>High-leverage</a:t>
            </a:r>
            <a:r>
              <a:rPr lang="en-US" sz="1700" i="1" spc="34" dirty="0">
                <a:solidFill>
                  <a:srgbClr val="241D27"/>
                </a:solidFill>
                <a:latin typeface="Libre Franklin Light"/>
              </a:rPr>
              <a:t> practices for inclusive classrooms</a:t>
            </a:r>
            <a:r>
              <a:rPr lang="en-US" sz="1700" spc="34" dirty="0">
                <a:solidFill>
                  <a:srgbClr val="241D27"/>
                </a:solidFill>
                <a:latin typeface="Libre Franklin Light"/>
              </a:rPr>
              <a:t>. Council for Exceptional Children &amp; CEEDAR. </a:t>
            </a:r>
          </a:p>
          <a:p>
            <a:pPr>
              <a:lnSpc>
                <a:spcPts val="2720"/>
              </a:lnSpc>
            </a:pPr>
            <a:endParaRPr lang="en-US" sz="1700" spc="34" dirty="0">
              <a:solidFill>
                <a:srgbClr val="241D27"/>
              </a:solidFill>
              <a:latin typeface="Libre Franklin Light"/>
            </a:endParaRPr>
          </a:p>
          <a:p>
            <a:pPr>
              <a:lnSpc>
                <a:spcPts val="2720"/>
              </a:lnSpc>
            </a:pPr>
            <a:r>
              <a:rPr lang="en-US" sz="1700" spc="34" dirty="0">
                <a:solidFill>
                  <a:srgbClr val="241D27"/>
                </a:solidFill>
                <a:latin typeface="Libre Franklin Light"/>
              </a:rPr>
              <a:t>McLeskey, J., Barringer, M-D., Billingsley, B., Brownell, M., Jackson, D., Kennedy, M., Lewis, T., Maheady, L., Rodriguez, J., Scheeler, M. C., Winn, J., &amp; Ziegler, D. (2017, January). </a:t>
            </a:r>
            <a:r>
              <a:rPr lang="en-US" sz="1700" i="1" spc="34" dirty="0">
                <a:solidFill>
                  <a:srgbClr val="241D27"/>
                </a:solidFill>
                <a:latin typeface="Libre Franklin Light Italics"/>
              </a:rPr>
              <a:t>High-leverage practices in special education</a:t>
            </a:r>
            <a:r>
              <a:rPr lang="en-US" sz="1700" spc="34" dirty="0">
                <a:solidFill>
                  <a:srgbClr val="241D27"/>
                </a:solidFill>
                <a:latin typeface="Libre Franklin Light"/>
              </a:rPr>
              <a:t>. Council for Exceptional Children &amp; CEEDAR Center. </a:t>
            </a:r>
          </a:p>
          <a:p>
            <a:pPr>
              <a:lnSpc>
                <a:spcPts val="2720"/>
              </a:lnSpc>
            </a:pPr>
            <a:endParaRPr lang="en-US" sz="1700" spc="34" dirty="0">
              <a:solidFill>
                <a:srgbClr val="241D27"/>
              </a:solidFill>
              <a:latin typeface="Libre Franklin Light"/>
            </a:endParaRPr>
          </a:p>
          <a:p>
            <a:pPr algn="l">
              <a:lnSpc>
                <a:spcPts val="2720"/>
              </a:lnSpc>
            </a:pPr>
            <a:endParaRPr lang="en-US" sz="1700" spc="34" dirty="0">
              <a:solidFill>
                <a:srgbClr val="241D27"/>
              </a:solidFill>
              <a:latin typeface="Libre Franklin Light"/>
            </a:endParaRPr>
          </a:p>
        </p:txBody>
      </p:sp>
      <p:pic>
        <p:nvPicPr>
          <p:cNvPr id="13" name="Picture 13">
            <a:extLs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rot="-5400000">
            <a:off x="565746" y="2785442"/>
            <a:ext cx="544908" cy="381000"/>
          </a:xfrm>
          <a:prstGeom prst="rect">
            <a:avLst/>
          </a:prstGeom>
        </p:spPr>
      </p:pic>
      <p:sp>
        <p:nvSpPr>
          <p:cNvPr id="14" name="TextBox 14">
            <a:extLst>
              <a:ext uri="{C183D7F6-B498-43B3-948B-1728B52AA6E4}">
                <adec:decorative xmlns:adec="http://schemas.microsoft.com/office/drawing/2017/decorative" val="1"/>
              </a:ext>
            </a:extLst>
          </p:cNvPr>
          <p:cNvSpPr txBox="1"/>
          <p:nvPr/>
        </p:nvSpPr>
        <p:spPr>
          <a:xfrm rot="-5400000">
            <a:off x="-78806" y="1446066"/>
            <a:ext cx="1804414" cy="424852"/>
          </a:xfrm>
          <a:prstGeom prst="rect">
            <a:avLst/>
          </a:prstGeom>
        </p:spPr>
        <p:txBody>
          <a:bodyPr lIns="0" tIns="0" rIns="0" bIns="0" rtlCol="0" anchor="t">
            <a:spAutoFit/>
          </a:bodyPr>
          <a:lstStyle/>
          <a:p>
            <a:pPr>
              <a:lnSpc>
                <a:spcPts val="1710"/>
              </a:lnSpc>
            </a:pPr>
            <a:r>
              <a:rPr lang="en-US" sz="1710" dirty="0">
                <a:solidFill>
                  <a:srgbClr val="1546BA"/>
                </a:solidFill>
                <a:latin typeface="Montserrat Classic"/>
              </a:rPr>
              <a:t>HLP Lesson Study Series</a:t>
            </a:r>
          </a:p>
        </p:txBody>
      </p:sp>
      <p:sp>
        <p:nvSpPr>
          <p:cNvPr id="15" name="TextBox 15">
            <a:extLst>
              <a:ext uri="{C183D7F6-B498-43B3-948B-1728B52AA6E4}">
                <adec:decorative xmlns:adec="http://schemas.microsoft.com/office/drawing/2017/decorative" val="1"/>
              </a:ext>
            </a:extLst>
          </p:cNvPr>
          <p:cNvSpPr txBox="1"/>
          <p:nvPr/>
        </p:nvSpPr>
        <p:spPr>
          <a:xfrm>
            <a:off x="647700" y="9535203"/>
            <a:ext cx="658470" cy="183084"/>
          </a:xfrm>
          <a:prstGeom prst="rect">
            <a:avLst/>
          </a:prstGeom>
        </p:spPr>
        <p:txBody>
          <a:bodyPr lIns="0" tIns="0" rIns="0" bIns="0" rtlCol="0" anchor="t">
            <a:spAutoFit/>
          </a:bodyPr>
          <a:lstStyle/>
          <a:p>
            <a:pPr>
              <a:lnSpc>
                <a:spcPts val="1399"/>
              </a:lnSpc>
            </a:pPr>
            <a:r>
              <a:rPr lang="en-US" sz="1399" dirty="0">
                <a:solidFill>
                  <a:srgbClr val="1546BA"/>
                </a:solidFill>
                <a:latin typeface="Libre Franklin Bold"/>
              </a:rPr>
              <a:t>15</a:t>
            </a:r>
          </a:p>
        </p:txBody>
      </p:sp>
      <p:sp>
        <p:nvSpPr>
          <p:cNvPr id="16" name="TextBox 16"/>
          <p:cNvSpPr txBox="1"/>
          <p:nvPr/>
        </p:nvSpPr>
        <p:spPr>
          <a:xfrm>
            <a:off x="2012755" y="5802204"/>
            <a:ext cx="15386050" cy="1231106"/>
          </a:xfrm>
          <a:prstGeom prst="rect">
            <a:avLst/>
          </a:prstGeom>
        </p:spPr>
        <p:txBody>
          <a:bodyPr lIns="0" tIns="0" rIns="0" bIns="0" rtlCol="0" anchor="t">
            <a:spAutoFit/>
          </a:bodyPr>
          <a:lstStyle/>
          <a:p>
            <a:pPr>
              <a:lnSpc>
                <a:spcPts val="2413"/>
              </a:lnSpc>
            </a:pPr>
            <a:r>
              <a:rPr lang="en-US" sz="2173" spc="34" dirty="0">
                <a:solidFill>
                  <a:srgbClr val="000000"/>
                </a:solidFill>
                <a:latin typeface="Codec Pro"/>
              </a:rPr>
              <a:t>Please use the following citation when referencing this presentation: </a:t>
            </a:r>
          </a:p>
          <a:p>
            <a:pPr>
              <a:lnSpc>
                <a:spcPts val="2413"/>
              </a:lnSpc>
              <a:spcBef>
                <a:spcPct val="0"/>
              </a:spcBef>
            </a:pPr>
            <a:r>
              <a:rPr lang="en-US" sz="2173" spc="34" dirty="0">
                <a:solidFill>
                  <a:srgbClr val="000000"/>
                </a:solidFill>
                <a:latin typeface="Codec Pro"/>
              </a:rPr>
              <a:t>Arnold, K. (2022). Interactive lecture on systematically designed instruction. CEEDAR Center. </a:t>
            </a:r>
          </a:p>
          <a:p>
            <a:pPr>
              <a:lnSpc>
                <a:spcPts val="2413"/>
              </a:lnSpc>
              <a:spcBef>
                <a:spcPct val="0"/>
              </a:spcBef>
            </a:pPr>
            <a:endParaRPr lang="en-US" sz="2150" spc="34" dirty="0">
              <a:solidFill>
                <a:srgbClr val="000000"/>
              </a:solidFill>
              <a:latin typeface="Codec Pro"/>
            </a:endParaRPr>
          </a:p>
          <a:p>
            <a:pPr>
              <a:lnSpc>
                <a:spcPts val="2413"/>
              </a:lnSpc>
              <a:spcBef>
                <a:spcPct val="0"/>
              </a:spcBef>
            </a:pPr>
            <a:r>
              <a:rPr lang="en-US" sz="2150" spc="34">
                <a:solidFill>
                  <a:srgbClr val="000000"/>
                </a:solidFill>
                <a:latin typeface="Codec Pro"/>
              </a:rPr>
              <a:t>Please do not adapt the materials or use them commercially without permission of the author: kaarnol4@asu.edu</a:t>
            </a:r>
            <a:endParaRPr lang="en-US" sz="215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TotalTime>
  <Words>1461</Words>
  <Application>Microsoft Macintosh PowerPoint</Application>
  <PresentationFormat>Custom</PresentationFormat>
  <Paragraphs>175</Paragraphs>
  <Slides>15</Slides>
  <Notes>4</Notes>
  <HiddenSlides>0</HiddenSlides>
  <MMClips>1</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15</vt:i4>
      </vt:variant>
    </vt:vector>
  </HeadingPairs>
  <TitlesOfParts>
    <vt:vector size="27" baseType="lpstr">
      <vt:lpstr>Libre Franklin Bold Bold</vt:lpstr>
      <vt:lpstr>Calibri</vt:lpstr>
      <vt:lpstr>Libre Franklin Light Bold</vt:lpstr>
      <vt:lpstr>Libre Franklin Light</vt:lpstr>
      <vt:lpstr>Libre Franklin Medium</vt:lpstr>
      <vt:lpstr>Libre Franklin Light Italics</vt:lpstr>
      <vt:lpstr>Montserrat Classic Bold</vt:lpstr>
      <vt:lpstr>Codec Pro</vt:lpstr>
      <vt:lpstr>Montserrat Classic</vt:lpstr>
      <vt:lpstr>Libre Franklin Bold</vt:lpstr>
      <vt:lpstr>Arial</vt:lpstr>
      <vt:lpstr>Office Theme</vt:lpstr>
      <vt:lpstr>SYSTEMATICALLY  DESIGN INSTRUCTION </vt:lpstr>
      <vt:lpstr>Welcome to today's class!</vt:lpstr>
      <vt:lpstr>Learning Objectives</vt:lpstr>
      <vt:lpstr>Today's topic</vt:lpstr>
      <vt:lpstr>Let's Discuss and Analyze Together</vt:lpstr>
      <vt:lpstr>Clear Learning Goals</vt:lpstr>
      <vt:lpstr>HLP12 Video Review = 25 minutes </vt:lpstr>
      <vt:lpstr>ACCOMPLISH</vt:lpstr>
      <vt:lpstr>Clear/Unclear Learning Goal Analysis Activity = 15 minutes </vt:lpstr>
      <vt:lpstr>Systematic Sequencing</vt:lpstr>
      <vt:lpstr>Systematic Sequencing 1</vt:lpstr>
      <vt:lpstr>Systematic Sequencing  </vt:lpstr>
      <vt:lpstr>Classroom Connection</vt:lpstr>
      <vt:lpstr>Recap of today's class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HLP #12: SYSTEMATICALLY DESIGN INSTRUCTION</dc:title>
  <cp:lastModifiedBy>Emma R Ostovar</cp:lastModifiedBy>
  <cp:revision>75</cp:revision>
  <dcterms:created xsi:type="dcterms:W3CDTF">2006-08-16T00:00:00Z</dcterms:created>
  <dcterms:modified xsi:type="dcterms:W3CDTF">2026-03-06T18:29:46Z</dcterms:modified>
  <dc:identifier>DAFD7G-B8eM</dc:identifier>
</cp:coreProperties>
</file>